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3"/>
    <p:sldId id="257" r:id="rId4"/>
    <p:sldId id="258" r:id="rId6"/>
    <p:sldId id="259" r:id="rId7"/>
    <p:sldId id="260" r:id="rId8"/>
    <p:sldId id="261" r:id="rId9"/>
    <p:sldId id="262" r:id="rId10"/>
    <p:sldId id="263" r:id="rId11"/>
    <p:sldId id="264" r:id="rId12"/>
    <p:sldId id="265" r:id="rId13"/>
    <p:sldId id="266" r:id="rId14"/>
    <p:sldId id="268" r:id="rId15"/>
    <p:sldId id="270" r:id="rId16"/>
    <p:sldId id="269" r:id="rId17"/>
    <p:sldId id="273" r:id="rId18"/>
    <p:sldId id="267"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点出系统要实现的， 最重要的功能性需求， 和非功能性需求。</a:t>
            </a:r>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the present implementation supports all the delopyment arhitecture just by adjusting configuration.</a:t>
            </a:r>
            <a:endParaRPr lang="en-US" altLang="zh-CN"/>
          </a:p>
          <a:p>
            <a:r>
              <a:rPr lang="en-US" altLang="zh-CN"/>
              <a:t>Current implement support 4 different shema of delopyment architecture just by changing configuration files. they are </a:t>
            </a:r>
            <a:endParaRPr lang="en-US" altLang="zh-CN"/>
          </a:p>
          <a:p>
            <a:r>
              <a:rPr lang="en-US" altLang="zh-CN"/>
              <a:t>1. Single node mode, for testing and validating functions</a:t>
            </a:r>
            <a:endParaRPr lang="en-US" altLang="zh-CN"/>
          </a:p>
          <a:p>
            <a:r>
              <a:rPr lang="en-US" altLang="zh-CN"/>
              <a:t>2. Self combined cluster mode. </a:t>
            </a:r>
            <a:endParaRPr lang="en-US" altLang="zh-CN"/>
          </a:p>
          <a:p>
            <a:r>
              <a:rPr lang="en-US" altLang="zh-CN"/>
              <a:t>3. redis-only cluster mode. </a:t>
            </a:r>
            <a:endParaRPr lang="en-US" altLang="zh-CN"/>
          </a:p>
          <a:p>
            <a:r>
              <a:rPr lang="en-US" altLang="zh-CN"/>
              <a:t>4. powered by kafka cluster mode on top of redis cluster.</a:t>
            </a:r>
            <a:endParaRPr lang="en-US" altLang="zh-CN"/>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1. In order to support more client connections and requests, the server is allowed to be clusterized.</a:t>
            </a:r>
            <a:endParaRPr lang="en-US" altLang="zh-CN"/>
          </a:p>
          <a:p>
            <a:r>
              <a:rPr lang="en-US" altLang="zh-CN"/>
              <a:t>2. If one client broker server could handle 1000 concurrent client connections at the most, the cluster can handle thoudans of client connections</a:t>
            </a:r>
            <a:endParaRPr lang="en-US" altLang="zh-CN"/>
          </a:p>
          <a:p>
            <a:r>
              <a:rPr lang="en-US" altLang="zh-CN"/>
              <a:t>3. In the cluster a server acts as the master server to make up a cluster to serve thousands of clients.</a:t>
            </a:r>
            <a:endParaRPr lang="en-US" altLang="zh-CN"/>
          </a:p>
          <a:p>
            <a:r>
              <a:rPr lang="en-US" altLang="zh-CN"/>
              <a:t>4. the most of instant messages and notifications are transmitted through the subscribe&amp; publish channels, so there would be few lookup request for key-value store. the looking up operation is just for client punch-in.  </a:t>
            </a:r>
            <a:endParaRPr lang="en-US" altLang="zh-CN"/>
          </a:p>
          <a:p>
            <a:r>
              <a:rPr lang="en-US" altLang="zh-CN"/>
              <a:t>5. There are only two socket connection between every single client broker server and the master broker server</a:t>
            </a:r>
            <a:endParaRPr lang="en-US" altLang="zh-CN"/>
          </a:p>
          <a:p>
            <a:endParaRPr lang="en-US" altLang="zh-CN"/>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1. Connect IBM IM &amp; notification server's subcribe &amp; publish channels with redis's sub&amp;pub channel, so that we can make use of the robustness and scalability of redis.  </a:t>
            </a:r>
            <a:endParaRPr lang="en-US" altLang="zh-CN"/>
          </a:p>
          <a:p>
            <a:r>
              <a:rPr lang="en-US" altLang="zh-CN"/>
              <a:t>2. Every client broker server set up 2 socket connections to redis cluster for sub &amp; pub respectivly.</a:t>
            </a:r>
            <a:endParaRPr lang="en-US" altLang="zh-CN"/>
          </a:p>
          <a:p>
            <a:endParaRPr lang="en-US" altLang="zh-CN"/>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In the IM &amp;  notification server cluster , the redis cluster serves as the center message channels replacing the master broker server in the second architecture diagram.</a:t>
            </a:r>
            <a:endParaRPr lang="en-US" altLang="zh-CN"/>
          </a:p>
          <a:p>
            <a:r>
              <a:rPr lang="en-US" altLang="zh-CN"/>
              <a:t>It's obvious that employment of redis's subscription and publication service can improve robustness of entire IM &amp; notification server. </a:t>
            </a:r>
            <a:endParaRPr lang="en-US" altLang="zh-CN"/>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Kafka decouples the bussiness process and acts as a load balancer here and protect backend server from the requests torrent during rush hours.</a:t>
            </a:r>
            <a:endParaRPr lang="en-US" altLang="zh-CN"/>
          </a:p>
          <a:p>
            <a:r>
              <a:rPr lang="en-US" altLang="zh-CN"/>
              <a:t>The client broker/kafka producer in this map doesn't actually handle the client requests, it just pre-handle requests from client and relay response messages from redis to client. </a:t>
            </a:r>
            <a:endParaRPr lang="en-US" altLang="zh-CN"/>
          </a:p>
          <a:p>
            <a:r>
              <a:rPr lang="en-US" altLang="zh-CN"/>
              <a:t>Since the client broker doesn't really handle the request. so it is able to handle more client connections</a:t>
            </a:r>
            <a:endParaRPr lang="en-US" altLang="zh-CN"/>
          </a:p>
          <a:p>
            <a:r>
              <a:rPr lang="en-US" altLang="zh-CN"/>
              <a:t>The client broker just converts  client requests into RPC messages and sends them to kafka. </a:t>
            </a:r>
            <a:endParaRPr lang="en-US" altLang="zh-CN"/>
          </a:p>
          <a:p>
            <a:r>
              <a:rPr lang="en-US" altLang="zh-CN"/>
              <a:t>The kafka consumers pull RPC messages from kafka and actually handle the client requests without caring about where the request is coming from.</a:t>
            </a:r>
            <a:endParaRPr lang="en-US" altLang="zh-CN"/>
          </a:p>
          <a:p>
            <a:r>
              <a:rPr lang="en-US" altLang="zh-CN"/>
              <a:t>If there is message response being sent back to client, the IM &amp; notification server just sends it to redis without caring about how the messaage will arrive in client side.  </a:t>
            </a:r>
            <a:endParaRPr lang="en-US" altLang="zh-CN"/>
          </a:p>
          <a:p>
            <a:r>
              <a:rPr lang="en-US" altLang="zh-CN"/>
              <a:t>All messages, notification or mail are belong to a channel(or a topic ID) , so there is a logic channel for every single message, node in cluster just needs to care about the topic ID or the logic channel.</a:t>
            </a:r>
            <a:endParaRPr lang="en-US" altLang="zh-CN"/>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Kafka decouples the bussiness process and acts as a load balancer here and protect backend server from the requests torrent during rush hours.</a:t>
            </a:r>
            <a:endParaRPr lang="en-US" altLang="zh-CN"/>
          </a:p>
          <a:p>
            <a:r>
              <a:rPr lang="en-US" altLang="zh-CN">
                <a:sym typeface="+mn-ea"/>
              </a:rPr>
              <a:t>The client broker/kafka producer in this map doesn't actually handle the client requests, it just pre-handle requests from client and relay response messages from redis to client. </a:t>
            </a:r>
            <a:endParaRPr lang="en-US" altLang="zh-CN"/>
          </a:p>
          <a:p>
            <a:r>
              <a:rPr lang="en-US" altLang="zh-CN">
                <a:sym typeface="+mn-ea"/>
              </a:rPr>
              <a:t>Since the client broker doesn't really handle the request. so it is able to handle more client connections</a:t>
            </a:r>
            <a:endParaRPr lang="en-US" altLang="zh-CN"/>
          </a:p>
          <a:p>
            <a:r>
              <a:rPr lang="en-US" altLang="zh-CN">
                <a:sym typeface="+mn-ea"/>
              </a:rPr>
              <a:t>The client broker just converts  client requests into RPC messages and sends them to kafka. </a:t>
            </a:r>
            <a:endParaRPr lang="en-US" altLang="zh-CN"/>
          </a:p>
          <a:p>
            <a:r>
              <a:rPr lang="en-US" altLang="zh-CN">
                <a:sym typeface="+mn-ea"/>
              </a:rPr>
              <a:t>The kafka consumers pull RPC messages from kafka and actually handle the client requests without caring about where the request is coming from.</a:t>
            </a:r>
            <a:endParaRPr lang="en-US" altLang="zh-CN"/>
          </a:p>
          <a:p>
            <a:r>
              <a:rPr lang="en-US" altLang="zh-CN">
                <a:sym typeface="+mn-ea"/>
              </a:rPr>
              <a:t>If there is message response being sent back to client, the IM &amp; notification server just sends it to redis without caring about how the messaage will arrive in client side.  </a:t>
            </a:r>
            <a:endParaRPr lang="en-US" altLang="zh-CN"/>
          </a:p>
          <a:p>
            <a:r>
              <a:rPr lang="en-US" altLang="zh-CN">
                <a:sym typeface="+mn-ea"/>
              </a:rPr>
              <a:t>All messages, notification or mail are belong to a channel(or a topic ID) , so there is a logic channel for every single message, every node in cluster just needs to care about the topic ID or the logic channel.</a:t>
            </a:r>
            <a:endParaRPr lang="en-US" altLang="zh-CN"/>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1. In order to acquire best effect of kafka, we should plan topics according to data models.  Each kafka consumer is corresponding to one partition. </a:t>
            </a:r>
            <a:endParaRPr lang="en-US" altLang="zh-CN"/>
          </a:p>
          <a:p>
            <a:r>
              <a:rPr lang="en-US" altLang="zh-CN"/>
              <a:t>2. IM &amp; notification server's data model can be devided into Message and Mail according to bussiness model. </a:t>
            </a:r>
            <a:endParaRPr lang="en-US" altLang="zh-CN"/>
          </a:p>
          <a:p>
            <a:r>
              <a:rPr lang="en-US" altLang="zh-CN"/>
              <a:t>3. The notification can go with either message or mail according to requirements, but most message and notification do not require user's confirmation and can be shared among users. only few messages need user's confirmation.  So as the result, messaging topic is much more heavy than other bussiness topics. so we plan more IM topic partitions and consumers for messaging service.  and plan one Mail topic partition and one lucene topic partition for mail service and  full text search service respectivly.</a:t>
            </a:r>
            <a:br>
              <a:rPr lang="en-US" altLang="zh-CN"/>
            </a:br>
            <a:r>
              <a:rPr lang="en-US" altLang="zh-CN"/>
              <a:t>4. Again. </a:t>
            </a:r>
            <a:r>
              <a:rPr lang="en-US" altLang="zh-CN">
                <a:sym typeface="+mn-ea"/>
              </a:rPr>
              <a:t>Kafka here acts as a IM server's load balancer and protects the backend servers from the requests torrent during rush hours. instead of push, kafka is using pull mode, so that all messages can be leisurely handled by backend server during rush time, not a message would be lost due to the busy servers. </a:t>
            </a:r>
            <a:endParaRPr lang="en-US" altLang="zh-CN"/>
          </a:p>
          <a:p>
            <a:endParaRPr lang="en-US" altLang="zh-CN"/>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Kafka would be the center part in the final solution that connects all different business parts. </a:t>
            </a:r>
            <a:endParaRPr lang="en-US" altLang="zh-CN"/>
          </a:p>
          <a:p>
            <a:r>
              <a:rPr lang="en-US" altLang="zh-CN"/>
              <a:t>With support of kafka, runtime log analysis is able to </a:t>
            </a:r>
            <a:r>
              <a:rPr lang="en-US" altLang="zh-CN">
                <a:sym typeface="+mn-ea"/>
              </a:rPr>
              <a:t>instantly </a:t>
            </a:r>
            <a:r>
              <a:rPr lang="en-US" altLang="zh-CN"/>
              <a:t>detect malicious user behaviors and cut off the bad guys right away by simply sending a notification message to redis server.</a:t>
            </a:r>
            <a:endParaRPr lang="en-US" altLang="zh-CN"/>
          </a:p>
          <a:p>
            <a:endParaRPr lang="en-US" altLang="zh-CN"/>
          </a:p>
          <a:p>
            <a:r>
              <a:rPr lang="en-US" altLang="zh-CN"/>
              <a:t>There are a channel management mechanism and the client session management system in IM &amp; notify servers cluster, so that the IM&amp;notify servers are able to cut off any online user. </a:t>
            </a:r>
            <a:endParaRPr lang="en-US" altLang="zh-CN"/>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1. With Kafka, IM&amp; notification server is decoupled into two parts, “Client Broker”and “Request worker”, request work is a kafka consumer, client broker is a kafka producer.</a:t>
            </a:r>
            <a:endParaRPr lang="en-US" altLang="zh-CN"/>
          </a:p>
          <a:p>
            <a:r>
              <a:rPr lang="en-US" altLang="zh-CN"/>
              <a:t>2. As to those two questions on the page.  you know what?  they all depends on how you plan the kafka topic and how you configure which topics the IM server is configured to be going to handle with.   It depends on what kind of messages that the IM server can pull from the kafka. So with the support of kafka, the backend servers become decoupled and salable,  so easy!.  </a:t>
            </a:r>
            <a:br>
              <a:rPr lang="en-US" altLang="zh-CN"/>
            </a:br>
            <a:r>
              <a:rPr lang="en-US" altLang="zh-CN">
                <a:sym typeface="+mn-ea"/>
              </a:rPr>
              <a:t>3. Each data collection can be deployed on independent key value store cluster, so that we can get best sharding effect.  of course, we can combine those collections that have the same key into one cluster since the sharding key is same too.   Now the IM&amp;notify server is implemented as allowing connection configuration for all kinds of data collections. so that key value store cluster is supported very well in IBM IM &amp; notification server.</a:t>
            </a:r>
            <a:br>
              <a:rPr lang="en-US" altLang="zh-CN">
                <a:sym typeface="+mn-ea"/>
              </a:rPr>
            </a:br>
            <a:r>
              <a:rPr lang="en-US" altLang="zh-CN">
                <a:sym typeface="+mn-ea"/>
              </a:rPr>
              <a:t>4. Since the message is pulled by worker server so everything is under control,  the requests recieved by worker server will never be in excess of its ability.  during rush hour, the excess message from clients will be cached in kafka and will be handled by back end sever leisurely, not a message would be lost and all user requests will be handled sooner or later. </a:t>
            </a:r>
            <a:endParaRPr lang="en-US" altLang="zh-CN"/>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1. Each user can only set up one connection with the system, any second sucessful logon will make the first alive connection cut off.</a:t>
            </a:r>
            <a:endParaRPr lang="en-US" altLang="zh-CN"/>
          </a:p>
          <a:p>
            <a:r>
              <a:rPr lang="en-US" altLang="zh-CN"/>
              <a:t>2. A portlet server cn act as the load balancer of the client brokers.</a:t>
            </a:r>
            <a:endParaRPr lang="en-US" altLang="zh-CN"/>
          </a:p>
          <a:p>
            <a:r>
              <a:rPr lang="en-US" altLang="zh-CN"/>
              <a:t>3. Both long polling and websocket protocol are allowed to connect the IM &amp; notify servers.</a:t>
            </a:r>
            <a:endParaRPr lang="en-US" altLang="zh-CN"/>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a:t>IBM IM&amp;Notify Server Architecture</a:t>
            </a:r>
            <a:endParaRPr lang="en-US" altLang="zh-CN"/>
          </a:p>
        </p:txBody>
      </p:sp>
      <p:sp>
        <p:nvSpPr>
          <p:cNvPr id="3" name="副标题 2"/>
          <p:cNvSpPr>
            <a:spLocks noGrp="1"/>
          </p:cNvSpPr>
          <p:nvPr>
            <p:ph type="subTitle" idx="1"/>
          </p:nvPr>
        </p:nvSpPr>
        <p:spPr/>
        <p:txBody>
          <a:bodyPr/>
          <a:p>
            <a:r>
              <a:rPr lang="en-US" altLang="zh-CN"/>
              <a:t>zhnag jian xin</a:t>
            </a:r>
            <a:endParaRPr lang="en-US" altLang="zh-CN"/>
          </a:p>
          <a:p>
            <a:r>
              <a:rPr lang="en-US" altLang="zh-CN"/>
              <a:t>2016.3.26</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Present situation &amp; Requirements &amp; Pain Points</a:t>
            </a:r>
            <a:endParaRPr lang="en-US" altLang="zh-CN"/>
          </a:p>
        </p:txBody>
      </p:sp>
      <p:sp>
        <p:nvSpPr>
          <p:cNvPr id="3" name="内容占位符 2"/>
          <p:cNvSpPr>
            <a:spLocks noGrp="1"/>
          </p:cNvSpPr>
          <p:nvPr>
            <p:ph idx="1"/>
          </p:nvPr>
        </p:nvSpPr>
        <p:spPr>
          <a:xfrm>
            <a:off x="838200" y="1353820"/>
            <a:ext cx="10515600" cy="5085715"/>
          </a:xfrm>
        </p:spPr>
        <p:txBody>
          <a:bodyPr>
            <a:normAutofit fontScale="90000"/>
          </a:bodyPr>
          <a:p>
            <a:r>
              <a:rPr lang="en-US" altLang="zh-CN"/>
              <a:t>Present situation: ICM doesn't support instant messaging for work dicussion and doesn't allow user to subscribe the instant changes of Case, File and other bussiness things.</a:t>
            </a:r>
            <a:endParaRPr lang="en-US" altLang="zh-CN"/>
          </a:p>
          <a:p>
            <a:r>
              <a:rPr lang="en-US" altLang="zh-CN"/>
              <a:t>Customer have to heavily rely on the social IM tools such as QQ to collaborate in work, however, these free social IM tools have no way to integrate with our commercial softwares. Customers are eager to collaberate in a platform where all work things are integerated perfectly and instantly.  </a:t>
            </a:r>
            <a:endParaRPr lang="en-US" altLang="zh-CN"/>
          </a:p>
          <a:p>
            <a:r>
              <a:rPr lang="en-US" altLang="zh-CN" b="1" i="1">
                <a:sym typeface="+mn-ea"/>
              </a:rPr>
              <a:t>“Instantly notifying of business data changes” </a:t>
            </a:r>
            <a:r>
              <a:rPr lang="en-US" altLang="zh-CN">
                <a:sym typeface="+mn-ea"/>
              </a:rPr>
              <a:t>and </a:t>
            </a:r>
            <a:r>
              <a:rPr lang="en-US" altLang="zh-CN" b="1" i="1">
                <a:sym typeface="+mn-ea"/>
              </a:rPr>
              <a:t>“instantly messaging of bussiness discussions”</a:t>
            </a:r>
            <a:r>
              <a:rPr lang="en-US" altLang="zh-CN">
                <a:sym typeface="+mn-ea"/>
              </a:rPr>
              <a:t> are  long desperately awaited features.</a:t>
            </a:r>
            <a:endParaRPr lang="en-US" altLang="zh-CN"/>
          </a:p>
          <a:p>
            <a:r>
              <a:rPr lang="en-US" altLang="zh-CN"/>
              <a:t>Since the collaboration is also required by the Industry cloud, </a:t>
            </a:r>
            <a:r>
              <a:rPr lang="en-US" altLang="zh-CN" b="1" i="1"/>
              <a:t>the support for high scalability and big data</a:t>
            </a:r>
            <a:r>
              <a:rPr lang="en-US" altLang="zh-CN"/>
              <a:t> becomes a very strong demand too.</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0515600" cy="749300"/>
          </a:xfrm>
        </p:spPr>
        <p:txBody>
          <a:bodyPr>
            <a:normAutofit fontScale="90000"/>
          </a:bodyPr>
          <a:p>
            <a:r>
              <a:rPr lang="en-US" altLang="zh-CN">
                <a:sym typeface="+mn-ea"/>
              </a:rPr>
              <a:t>IBM IM notification broker -</a:t>
            </a:r>
            <a:r>
              <a:rPr lang="en-US" altLang="zh-CN"/>
              <a:t> Single node mode</a:t>
            </a:r>
            <a:endParaRPr lang="en-US" altLang="zh-CN"/>
          </a:p>
        </p:txBody>
      </p:sp>
      <p:grpSp>
        <p:nvGrpSpPr>
          <p:cNvPr id="34" name="组合 33"/>
          <p:cNvGrpSpPr/>
          <p:nvPr/>
        </p:nvGrpSpPr>
        <p:grpSpPr>
          <a:xfrm>
            <a:off x="2271395" y="1635125"/>
            <a:ext cx="6530340" cy="2239010"/>
            <a:chOff x="1475" y="2737"/>
            <a:chExt cx="10284" cy="3526"/>
          </a:xfrm>
        </p:grpSpPr>
        <p:sp>
          <p:nvSpPr>
            <p:cNvPr id="8" name="文本框 7"/>
            <p:cNvSpPr txBox="1"/>
            <p:nvPr/>
          </p:nvSpPr>
          <p:spPr>
            <a:xfrm>
              <a:off x="1495" y="2737"/>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sp>
          <p:nvSpPr>
            <p:cNvPr id="11" name="文本框 10"/>
            <p:cNvSpPr txBox="1"/>
            <p:nvPr/>
          </p:nvSpPr>
          <p:spPr>
            <a:xfrm>
              <a:off x="5395" y="3889"/>
              <a:ext cx="2687" cy="1444"/>
            </a:xfrm>
            <a:prstGeom prst="rect">
              <a:avLst/>
            </a:prstGeom>
            <a:solidFill>
              <a:schemeClr val="accent1">
                <a:lumMod val="60000"/>
                <a:lumOff val="40000"/>
              </a:schemeClr>
            </a:solidFill>
          </p:spPr>
          <p:txBody>
            <a:bodyPr wrap="square" rtlCol="0">
              <a:spAutoFit/>
            </a:bodyPr>
            <a:p>
              <a:pPr algn="ctr"/>
              <a:r>
                <a:rPr lang="en-US" altLang="zh-CN"/>
                <a:t>IBM IM &amp; notification broker server</a:t>
              </a:r>
              <a:endParaRPr lang="en-US" altLang="zh-CN"/>
            </a:p>
          </p:txBody>
        </p:sp>
        <p:sp>
          <p:nvSpPr>
            <p:cNvPr id="12" name="文本框 11"/>
            <p:cNvSpPr txBox="1"/>
            <p:nvPr/>
          </p:nvSpPr>
          <p:spPr>
            <a:xfrm>
              <a:off x="9721" y="4105"/>
              <a:ext cx="2038" cy="1012"/>
            </a:xfrm>
            <a:prstGeom prst="rect">
              <a:avLst/>
            </a:prstGeom>
            <a:solidFill>
              <a:schemeClr val="accent1">
                <a:lumMod val="50000"/>
              </a:schemeClr>
            </a:solidFill>
          </p:spPr>
          <p:txBody>
            <a:bodyPr wrap="square" rtlCol="0">
              <a:spAutoFit/>
            </a:bodyPr>
            <a:p>
              <a:pPr algn="ctr"/>
              <a:r>
                <a:rPr lang="en-US" altLang="zh-CN">
                  <a:solidFill>
                    <a:schemeClr val="bg1"/>
                  </a:solidFill>
                </a:rPr>
                <a:t>key-value</a:t>
              </a:r>
              <a:endParaRPr lang="en-US" altLang="zh-CN">
                <a:solidFill>
                  <a:schemeClr val="bg1"/>
                </a:solidFill>
              </a:endParaRPr>
            </a:p>
            <a:p>
              <a:pPr algn="ctr"/>
              <a:r>
                <a:rPr lang="en-US" altLang="zh-CN">
                  <a:solidFill>
                    <a:schemeClr val="bg1"/>
                  </a:solidFill>
                </a:rPr>
                <a:t>store</a:t>
              </a:r>
              <a:endParaRPr lang="en-US" altLang="zh-CN">
                <a:solidFill>
                  <a:schemeClr val="bg1"/>
                </a:solidFill>
              </a:endParaRPr>
            </a:p>
          </p:txBody>
        </p:sp>
        <p:cxnSp>
          <p:nvCxnSpPr>
            <p:cNvPr id="14" name="直接箭头连接符 13"/>
            <p:cNvCxnSpPr/>
            <p:nvPr/>
          </p:nvCxnSpPr>
          <p:spPr>
            <a:xfrm>
              <a:off x="3010" y="2832"/>
              <a:ext cx="2324" cy="12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2929" y="5136"/>
              <a:ext cx="2466" cy="10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1475" y="4819"/>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cxnSp>
          <p:nvCxnSpPr>
            <p:cNvPr id="22" name="直接箭头连接符 21"/>
            <p:cNvCxnSpPr>
              <a:stCxn id="11" idx="1"/>
              <a:endCxn id="8" idx="3"/>
            </p:cNvCxnSpPr>
            <p:nvPr/>
          </p:nvCxnSpPr>
          <p:spPr>
            <a:xfrm flipH="1" flipV="1">
              <a:off x="2970" y="3459"/>
              <a:ext cx="2425" cy="11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21" idx="3"/>
              <a:endCxn id="11" idx="1"/>
            </p:cNvCxnSpPr>
            <p:nvPr/>
          </p:nvCxnSpPr>
          <p:spPr>
            <a:xfrm flipV="1">
              <a:off x="2950" y="4611"/>
              <a:ext cx="2445" cy="9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rot="20400000">
              <a:off x="2687" y="4570"/>
              <a:ext cx="2506" cy="580"/>
            </a:xfrm>
            <a:prstGeom prst="rect">
              <a:avLst/>
            </a:prstGeom>
            <a:noFill/>
          </p:spPr>
          <p:txBody>
            <a:bodyPr wrap="square" rtlCol="0">
              <a:spAutoFit/>
            </a:bodyPr>
            <a:p>
              <a:pPr algn="ctr"/>
              <a:r>
                <a:rPr lang="en-US" altLang="zh-CN"/>
                <a:t>subscribe topic</a:t>
              </a:r>
              <a:endParaRPr lang="en-US" altLang="zh-CN"/>
            </a:p>
          </p:txBody>
        </p:sp>
        <p:sp>
          <p:nvSpPr>
            <p:cNvPr id="25" name="文本框 24"/>
            <p:cNvSpPr txBox="1"/>
            <p:nvPr/>
          </p:nvSpPr>
          <p:spPr>
            <a:xfrm rot="1560000">
              <a:off x="2909" y="2853"/>
              <a:ext cx="2889" cy="580"/>
            </a:xfrm>
            <a:prstGeom prst="rect">
              <a:avLst/>
            </a:prstGeom>
            <a:noFill/>
          </p:spPr>
          <p:txBody>
            <a:bodyPr wrap="square" rtlCol="0">
              <a:spAutoFit/>
            </a:bodyPr>
            <a:p>
              <a:pPr algn="ctr"/>
              <a:r>
                <a:rPr lang="en-US" altLang="zh-CN"/>
                <a:t>publish msg</a:t>
              </a:r>
              <a:endParaRPr lang="en-US" altLang="zh-CN"/>
            </a:p>
          </p:txBody>
        </p:sp>
        <p:sp>
          <p:nvSpPr>
            <p:cNvPr id="26" name="文本框 25"/>
            <p:cNvSpPr txBox="1"/>
            <p:nvPr/>
          </p:nvSpPr>
          <p:spPr>
            <a:xfrm rot="20220000">
              <a:off x="2677" y="5151"/>
              <a:ext cx="2752" cy="580"/>
            </a:xfrm>
            <a:prstGeom prst="rect">
              <a:avLst/>
            </a:prstGeom>
            <a:noFill/>
          </p:spPr>
          <p:txBody>
            <a:bodyPr wrap="square" rtlCol="0">
              <a:spAutoFit/>
            </a:bodyPr>
            <a:p>
              <a:pPr algn="ctr"/>
              <a:r>
                <a:rPr lang="en-US" altLang="zh-CN"/>
                <a:t>msg &amp; notify</a:t>
              </a:r>
              <a:endParaRPr lang="en-US" altLang="zh-CN"/>
            </a:p>
          </p:txBody>
        </p:sp>
        <p:sp>
          <p:nvSpPr>
            <p:cNvPr id="28" name="文本框 27"/>
            <p:cNvSpPr txBox="1"/>
            <p:nvPr/>
          </p:nvSpPr>
          <p:spPr>
            <a:xfrm rot="1560000">
              <a:off x="2727" y="3502"/>
              <a:ext cx="2889" cy="580"/>
            </a:xfrm>
            <a:prstGeom prst="rect">
              <a:avLst/>
            </a:prstGeom>
            <a:noFill/>
          </p:spPr>
          <p:txBody>
            <a:bodyPr wrap="square" rtlCol="0">
              <a:spAutoFit/>
            </a:bodyPr>
            <a:p>
              <a:pPr algn="ctr"/>
              <a:r>
                <a:rPr lang="en-US" altLang="zh-CN"/>
                <a:t>msg &amp; notify</a:t>
              </a:r>
              <a:endParaRPr lang="en-US" altLang="zh-CN"/>
            </a:p>
          </p:txBody>
        </p:sp>
        <p:cxnSp>
          <p:nvCxnSpPr>
            <p:cNvPr id="29" name="直接箭头连接符 28"/>
            <p:cNvCxnSpPr/>
            <p:nvPr/>
          </p:nvCxnSpPr>
          <p:spPr>
            <a:xfrm>
              <a:off x="8164" y="4247"/>
              <a:ext cx="149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H="1">
              <a:off x="8083" y="4934"/>
              <a:ext cx="151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8022" y="3559"/>
              <a:ext cx="2647" cy="580"/>
            </a:xfrm>
            <a:prstGeom prst="rect">
              <a:avLst/>
            </a:prstGeom>
            <a:noFill/>
          </p:spPr>
          <p:txBody>
            <a:bodyPr wrap="square" rtlCol="0">
              <a:spAutoFit/>
            </a:bodyPr>
            <a:p>
              <a:r>
                <a:rPr lang="en-US" altLang="zh-CN"/>
                <a:t>save &amp; lookup</a:t>
              </a:r>
              <a:endParaRPr lang="en-US" altLang="zh-CN"/>
            </a:p>
          </p:txBody>
        </p:sp>
      </p:grpSp>
      <p:sp>
        <p:nvSpPr>
          <p:cNvPr id="33" name="内容占位符 32"/>
          <p:cNvSpPr>
            <a:spLocks noGrp="1"/>
          </p:cNvSpPr>
          <p:nvPr>
            <p:ph idx="1"/>
          </p:nvPr>
        </p:nvSpPr>
        <p:spPr>
          <a:xfrm>
            <a:off x="838200" y="4495165"/>
            <a:ext cx="9629775" cy="1682115"/>
          </a:xfrm>
        </p:spPr>
        <p:txBody>
          <a:bodyPr>
            <a:normAutofit/>
          </a:bodyPr>
          <a:p>
            <a:r>
              <a:rPr lang="en-US" altLang="zh-CN"/>
              <a:t>The broker server provide the services of subscribe &amp; publish</a:t>
            </a:r>
            <a:endParaRPr lang="en-US" altLang="zh-CN"/>
          </a:p>
          <a:p>
            <a:r>
              <a:rPr lang="en-US" altLang="zh-CN"/>
              <a:t>key-value store is used for persistant messages.</a:t>
            </a:r>
            <a:endParaRPr lang="en-US" altLang="zh-CN"/>
          </a:p>
          <a:p>
            <a:endParaRPr lang="en-US" altLang="zh-CN"/>
          </a:p>
        </p:txBody>
      </p:sp>
      <p:sp>
        <p:nvSpPr>
          <p:cNvPr id="67" name="文本框 66"/>
          <p:cNvSpPr txBox="1"/>
          <p:nvPr/>
        </p:nvSpPr>
        <p:spPr>
          <a:xfrm>
            <a:off x="6492875" y="1073785"/>
            <a:ext cx="2322830" cy="1191260"/>
          </a:xfrm>
          <a:prstGeom prst="rect">
            <a:avLst/>
          </a:prstGeom>
          <a:noFill/>
        </p:spPr>
        <p:txBody>
          <a:bodyPr wrap="square" rtlCol="0">
            <a:spAutoFit/>
          </a:bodyPr>
          <a:p>
            <a:pPr algn="ctr"/>
            <a:r>
              <a:rPr lang="en-US" altLang="zh-CN"/>
              <a:t>the DB access traits for IM &amp; notification: </a:t>
            </a:r>
            <a:endParaRPr lang="en-US" altLang="zh-CN"/>
          </a:p>
          <a:p>
            <a:pPr algn="ctr"/>
            <a:r>
              <a:rPr lang="en-US" altLang="zh-CN" b="1"/>
              <a:t>heavy write</a:t>
            </a:r>
            <a:endParaRPr lang="en-US" altLang="zh-CN" b="1"/>
          </a:p>
          <a:p>
            <a:pPr algn="ctr"/>
            <a:r>
              <a:rPr lang="en-US" altLang="zh-CN" b="1"/>
              <a:t>light lookup</a:t>
            </a:r>
            <a:endParaRPr lang="en-US" altLang="zh-CN"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0515600" cy="736600"/>
          </a:xfrm>
        </p:spPr>
        <p:txBody>
          <a:bodyPr>
            <a:normAutofit fontScale="90000"/>
          </a:bodyPr>
          <a:p>
            <a:r>
              <a:rPr lang="en-US" altLang="zh-CN"/>
              <a:t>IBM IM notification broker - cluster mode</a:t>
            </a:r>
            <a:endParaRPr lang="en-US" altLang="zh-CN"/>
          </a:p>
        </p:txBody>
      </p:sp>
      <p:grpSp>
        <p:nvGrpSpPr>
          <p:cNvPr id="71" name="组合 70"/>
          <p:cNvGrpSpPr/>
          <p:nvPr/>
        </p:nvGrpSpPr>
        <p:grpSpPr>
          <a:xfrm>
            <a:off x="563880" y="1224915"/>
            <a:ext cx="10587355" cy="5151755"/>
            <a:chOff x="888" y="1929"/>
            <a:chExt cx="16673" cy="8113"/>
          </a:xfrm>
        </p:grpSpPr>
        <p:sp>
          <p:nvSpPr>
            <p:cNvPr id="25" name="文本框 24"/>
            <p:cNvSpPr txBox="1"/>
            <p:nvPr/>
          </p:nvSpPr>
          <p:spPr>
            <a:xfrm rot="1560000">
              <a:off x="2323" y="2045"/>
              <a:ext cx="2889" cy="580"/>
            </a:xfrm>
            <a:prstGeom prst="rect">
              <a:avLst/>
            </a:prstGeom>
            <a:noFill/>
          </p:spPr>
          <p:txBody>
            <a:bodyPr wrap="square" rtlCol="0">
              <a:spAutoFit/>
            </a:bodyPr>
            <a:p>
              <a:pPr algn="ctr"/>
              <a:r>
                <a:rPr lang="en-US" altLang="zh-CN"/>
                <a:t>publish msg</a:t>
              </a:r>
              <a:endParaRPr lang="en-US" altLang="zh-CN"/>
            </a:p>
          </p:txBody>
        </p:sp>
        <p:grpSp>
          <p:nvGrpSpPr>
            <p:cNvPr id="66" name="组合 65"/>
            <p:cNvGrpSpPr/>
            <p:nvPr/>
          </p:nvGrpSpPr>
          <p:grpSpPr>
            <a:xfrm>
              <a:off x="888" y="1929"/>
              <a:ext cx="16604" cy="8113"/>
              <a:chOff x="888" y="1929"/>
              <a:chExt cx="16604" cy="8113"/>
            </a:xfrm>
          </p:grpSpPr>
          <p:sp>
            <p:nvSpPr>
              <p:cNvPr id="12" name="文本框 11"/>
              <p:cNvSpPr txBox="1"/>
              <p:nvPr/>
            </p:nvSpPr>
            <p:spPr>
              <a:xfrm>
                <a:off x="15454" y="5455"/>
                <a:ext cx="2038" cy="1012"/>
              </a:xfrm>
              <a:prstGeom prst="rect">
                <a:avLst/>
              </a:prstGeom>
              <a:solidFill>
                <a:schemeClr val="accent1">
                  <a:lumMod val="50000"/>
                </a:schemeClr>
              </a:solidFill>
            </p:spPr>
            <p:txBody>
              <a:bodyPr wrap="square" rtlCol="0">
                <a:spAutoFit/>
              </a:bodyPr>
              <a:p>
                <a:pPr algn="ctr"/>
                <a:r>
                  <a:rPr lang="en-US" altLang="zh-CN">
                    <a:solidFill>
                      <a:schemeClr val="bg1"/>
                    </a:solidFill>
                  </a:rPr>
                  <a:t>key-value</a:t>
                </a:r>
                <a:endParaRPr lang="en-US" altLang="zh-CN">
                  <a:solidFill>
                    <a:schemeClr val="bg1"/>
                  </a:solidFill>
                </a:endParaRPr>
              </a:p>
              <a:p>
                <a:pPr algn="ctr"/>
                <a:r>
                  <a:rPr lang="en-US" altLang="zh-CN">
                    <a:solidFill>
                      <a:schemeClr val="bg1"/>
                    </a:solidFill>
                  </a:rPr>
                  <a:t>store</a:t>
                </a:r>
                <a:endParaRPr lang="en-US" altLang="zh-CN">
                  <a:solidFill>
                    <a:schemeClr val="bg1"/>
                  </a:solidFill>
                </a:endParaRPr>
              </a:p>
            </p:txBody>
          </p:sp>
          <p:sp>
            <p:nvSpPr>
              <p:cNvPr id="9" name="文本框 8"/>
              <p:cNvSpPr txBox="1"/>
              <p:nvPr/>
            </p:nvSpPr>
            <p:spPr>
              <a:xfrm>
                <a:off x="909" y="1929"/>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sp>
            <p:nvSpPr>
              <p:cNvPr id="11" name="文本框 10"/>
              <p:cNvSpPr txBox="1"/>
              <p:nvPr/>
            </p:nvSpPr>
            <p:spPr>
              <a:xfrm>
                <a:off x="4809" y="3081"/>
                <a:ext cx="2687" cy="1444"/>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cxnSp>
            <p:nvCxnSpPr>
              <p:cNvPr id="14" name="直接箭头连接符 13"/>
              <p:cNvCxnSpPr/>
              <p:nvPr/>
            </p:nvCxnSpPr>
            <p:spPr>
              <a:xfrm>
                <a:off x="2424" y="2024"/>
                <a:ext cx="2324" cy="12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2343" y="4328"/>
                <a:ext cx="2466" cy="10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889" y="4011"/>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cxnSp>
            <p:nvCxnSpPr>
              <p:cNvPr id="22" name="直接箭头连接符 21"/>
              <p:cNvCxnSpPr>
                <a:endCxn id="9" idx="3"/>
              </p:cNvCxnSpPr>
              <p:nvPr/>
            </p:nvCxnSpPr>
            <p:spPr>
              <a:xfrm flipH="1" flipV="1">
                <a:off x="2384" y="2651"/>
                <a:ext cx="2425" cy="11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21" idx="3"/>
              </p:cNvCxnSpPr>
              <p:nvPr/>
            </p:nvCxnSpPr>
            <p:spPr>
              <a:xfrm flipV="1">
                <a:off x="2364" y="3813"/>
                <a:ext cx="2364" cy="9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rot="20400000">
                <a:off x="2101" y="3762"/>
                <a:ext cx="2506" cy="580"/>
              </a:xfrm>
              <a:prstGeom prst="rect">
                <a:avLst/>
              </a:prstGeom>
              <a:noFill/>
            </p:spPr>
            <p:txBody>
              <a:bodyPr wrap="square" rtlCol="0">
                <a:spAutoFit/>
              </a:bodyPr>
              <a:p>
                <a:pPr algn="ctr"/>
                <a:r>
                  <a:rPr lang="en-US" altLang="zh-CN"/>
                  <a:t>subscribe topic</a:t>
                </a:r>
                <a:endParaRPr lang="en-US" altLang="zh-CN"/>
              </a:p>
            </p:txBody>
          </p:sp>
          <p:sp>
            <p:nvSpPr>
              <p:cNvPr id="26" name="文本框 25"/>
              <p:cNvSpPr txBox="1"/>
              <p:nvPr/>
            </p:nvSpPr>
            <p:spPr>
              <a:xfrm rot="20220000">
                <a:off x="2091" y="4343"/>
                <a:ext cx="2752" cy="580"/>
              </a:xfrm>
              <a:prstGeom prst="rect">
                <a:avLst/>
              </a:prstGeom>
              <a:noFill/>
            </p:spPr>
            <p:txBody>
              <a:bodyPr wrap="square" rtlCol="0">
                <a:spAutoFit/>
              </a:bodyPr>
              <a:p>
                <a:pPr algn="ctr"/>
                <a:r>
                  <a:rPr lang="en-US" altLang="zh-CN"/>
                  <a:t>msg &amp; notify</a:t>
                </a:r>
                <a:endParaRPr lang="en-US" altLang="zh-CN"/>
              </a:p>
            </p:txBody>
          </p:sp>
          <p:sp>
            <p:nvSpPr>
              <p:cNvPr id="28" name="文本框 27"/>
              <p:cNvSpPr txBox="1"/>
              <p:nvPr/>
            </p:nvSpPr>
            <p:spPr>
              <a:xfrm rot="1560000">
                <a:off x="2141" y="2694"/>
                <a:ext cx="2889" cy="580"/>
              </a:xfrm>
              <a:prstGeom prst="rect">
                <a:avLst/>
              </a:prstGeom>
              <a:noFill/>
            </p:spPr>
            <p:txBody>
              <a:bodyPr wrap="square" rtlCol="0">
                <a:spAutoFit/>
              </a:bodyPr>
              <a:p>
                <a:pPr algn="ctr"/>
                <a:r>
                  <a:rPr lang="en-US" altLang="zh-CN"/>
                  <a:t>msg &amp; notify</a:t>
                </a:r>
                <a:endParaRPr lang="en-US" altLang="zh-CN"/>
              </a:p>
            </p:txBody>
          </p:sp>
          <p:cxnSp>
            <p:nvCxnSpPr>
              <p:cNvPr id="29" name="直接箭头连接符 28"/>
              <p:cNvCxnSpPr/>
              <p:nvPr/>
            </p:nvCxnSpPr>
            <p:spPr>
              <a:xfrm>
                <a:off x="13897" y="5597"/>
                <a:ext cx="149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H="1">
                <a:off x="13816" y="6284"/>
                <a:ext cx="151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3755" y="4909"/>
                <a:ext cx="2647" cy="580"/>
              </a:xfrm>
              <a:prstGeom prst="rect">
                <a:avLst/>
              </a:prstGeom>
              <a:noFill/>
            </p:spPr>
            <p:txBody>
              <a:bodyPr wrap="square" rtlCol="0">
                <a:spAutoFit/>
              </a:bodyPr>
              <a:p>
                <a:r>
                  <a:rPr lang="en-US" altLang="zh-CN"/>
                  <a:t>save &amp; lookup</a:t>
                </a:r>
                <a:endParaRPr lang="en-US" altLang="zh-CN"/>
              </a:p>
            </p:txBody>
          </p:sp>
          <p:sp>
            <p:nvSpPr>
              <p:cNvPr id="27" name="文本框 26"/>
              <p:cNvSpPr txBox="1"/>
              <p:nvPr/>
            </p:nvSpPr>
            <p:spPr>
              <a:xfrm>
                <a:off x="928" y="6516"/>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sp>
            <p:nvSpPr>
              <p:cNvPr id="32" name="文本框 31"/>
              <p:cNvSpPr txBox="1"/>
              <p:nvPr/>
            </p:nvSpPr>
            <p:spPr>
              <a:xfrm>
                <a:off x="4828" y="7668"/>
                <a:ext cx="2687" cy="1444"/>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cxnSp>
            <p:nvCxnSpPr>
              <p:cNvPr id="33" name="直接箭头连接符 32"/>
              <p:cNvCxnSpPr/>
              <p:nvPr/>
            </p:nvCxnSpPr>
            <p:spPr>
              <a:xfrm>
                <a:off x="2443" y="6611"/>
                <a:ext cx="2324" cy="12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H="1">
                <a:off x="2362" y="8915"/>
                <a:ext cx="2466" cy="10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908" y="8598"/>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cxnSp>
            <p:nvCxnSpPr>
              <p:cNvPr id="37" name="直接箭头连接符 36"/>
              <p:cNvCxnSpPr>
                <a:endCxn id="27" idx="3"/>
              </p:cNvCxnSpPr>
              <p:nvPr/>
            </p:nvCxnSpPr>
            <p:spPr>
              <a:xfrm flipH="1" flipV="1">
                <a:off x="2403" y="7238"/>
                <a:ext cx="2406" cy="11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36" idx="3"/>
              </p:cNvCxnSpPr>
              <p:nvPr/>
            </p:nvCxnSpPr>
            <p:spPr>
              <a:xfrm flipV="1">
                <a:off x="2383" y="8421"/>
                <a:ext cx="2446" cy="8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rot="20400000">
                <a:off x="2120" y="8349"/>
                <a:ext cx="2506" cy="580"/>
              </a:xfrm>
              <a:prstGeom prst="rect">
                <a:avLst/>
              </a:prstGeom>
              <a:noFill/>
            </p:spPr>
            <p:txBody>
              <a:bodyPr wrap="square" rtlCol="0">
                <a:spAutoFit/>
              </a:bodyPr>
              <a:p>
                <a:pPr algn="ctr"/>
                <a:r>
                  <a:rPr lang="en-US" altLang="zh-CN"/>
                  <a:t>subscribe topic</a:t>
                </a:r>
                <a:endParaRPr lang="en-US" altLang="zh-CN"/>
              </a:p>
            </p:txBody>
          </p:sp>
          <p:sp>
            <p:nvSpPr>
              <p:cNvPr id="40" name="文本框 39"/>
              <p:cNvSpPr txBox="1"/>
              <p:nvPr/>
            </p:nvSpPr>
            <p:spPr>
              <a:xfrm rot="1560000">
                <a:off x="2342" y="6632"/>
                <a:ext cx="2889" cy="580"/>
              </a:xfrm>
              <a:prstGeom prst="rect">
                <a:avLst/>
              </a:prstGeom>
              <a:noFill/>
            </p:spPr>
            <p:txBody>
              <a:bodyPr wrap="square" rtlCol="0">
                <a:spAutoFit/>
              </a:bodyPr>
              <a:p>
                <a:pPr algn="ctr"/>
                <a:r>
                  <a:rPr lang="en-US" altLang="zh-CN"/>
                  <a:t>publish msg</a:t>
                </a:r>
                <a:endParaRPr lang="en-US" altLang="zh-CN"/>
              </a:p>
            </p:txBody>
          </p:sp>
          <p:sp>
            <p:nvSpPr>
              <p:cNvPr id="41" name="文本框 40"/>
              <p:cNvSpPr txBox="1"/>
              <p:nvPr/>
            </p:nvSpPr>
            <p:spPr>
              <a:xfrm rot="20220000">
                <a:off x="2110" y="8930"/>
                <a:ext cx="2752" cy="580"/>
              </a:xfrm>
              <a:prstGeom prst="rect">
                <a:avLst/>
              </a:prstGeom>
              <a:noFill/>
            </p:spPr>
            <p:txBody>
              <a:bodyPr wrap="square" rtlCol="0">
                <a:spAutoFit/>
              </a:bodyPr>
              <a:p>
                <a:pPr algn="ctr"/>
                <a:r>
                  <a:rPr lang="en-US" altLang="zh-CN"/>
                  <a:t>msg &amp; notify</a:t>
                </a:r>
                <a:endParaRPr lang="en-US" altLang="zh-CN"/>
              </a:p>
            </p:txBody>
          </p:sp>
          <p:sp>
            <p:nvSpPr>
              <p:cNvPr id="42" name="文本框 41"/>
              <p:cNvSpPr txBox="1"/>
              <p:nvPr/>
            </p:nvSpPr>
            <p:spPr>
              <a:xfrm rot="1560000">
                <a:off x="2160" y="7281"/>
                <a:ext cx="2889" cy="580"/>
              </a:xfrm>
              <a:prstGeom prst="rect">
                <a:avLst/>
              </a:prstGeom>
              <a:noFill/>
            </p:spPr>
            <p:txBody>
              <a:bodyPr wrap="square" rtlCol="0">
                <a:spAutoFit/>
              </a:bodyPr>
              <a:p>
                <a:pPr algn="ctr"/>
                <a:r>
                  <a:rPr lang="en-US" altLang="zh-CN"/>
                  <a:t>msg &amp; notify</a:t>
                </a:r>
                <a:endParaRPr lang="en-US" altLang="zh-CN"/>
              </a:p>
            </p:txBody>
          </p:sp>
          <p:sp>
            <p:nvSpPr>
              <p:cNvPr id="43" name="文本框 42"/>
              <p:cNvSpPr txBox="1"/>
              <p:nvPr/>
            </p:nvSpPr>
            <p:spPr>
              <a:xfrm>
                <a:off x="888" y="5318"/>
                <a:ext cx="1556" cy="919"/>
              </a:xfrm>
              <a:prstGeom prst="rect">
                <a:avLst/>
              </a:prstGeom>
              <a:noFill/>
            </p:spPr>
            <p:txBody>
              <a:bodyPr wrap="square" rtlCol="0">
                <a:spAutoFit/>
              </a:bodyPr>
              <a:p>
                <a:pPr algn="ctr"/>
                <a:r>
                  <a:rPr lang="en-US" altLang="zh-CN" sz="3200"/>
                  <a:t>... ...</a:t>
                </a:r>
                <a:endParaRPr lang="en-US" altLang="zh-CN" sz="3200"/>
              </a:p>
            </p:txBody>
          </p:sp>
          <p:sp>
            <p:nvSpPr>
              <p:cNvPr id="45" name="文本框 44"/>
              <p:cNvSpPr txBox="1"/>
              <p:nvPr/>
            </p:nvSpPr>
            <p:spPr>
              <a:xfrm>
                <a:off x="5294" y="5419"/>
                <a:ext cx="1556" cy="919"/>
              </a:xfrm>
              <a:prstGeom prst="rect">
                <a:avLst/>
              </a:prstGeom>
              <a:noFill/>
            </p:spPr>
            <p:txBody>
              <a:bodyPr wrap="square" rtlCol="0">
                <a:spAutoFit/>
              </a:bodyPr>
              <a:p>
                <a:pPr algn="ctr"/>
                <a:r>
                  <a:rPr lang="en-US" altLang="zh-CN" sz="3200"/>
                  <a:t>... ...</a:t>
                </a:r>
                <a:endParaRPr lang="en-US" altLang="zh-CN" sz="3200"/>
              </a:p>
            </p:txBody>
          </p:sp>
          <p:sp>
            <p:nvSpPr>
              <p:cNvPr id="46" name="文本框 45"/>
              <p:cNvSpPr txBox="1"/>
              <p:nvPr/>
            </p:nvSpPr>
            <p:spPr>
              <a:xfrm>
                <a:off x="9193" y="5263"/>
                <a:ext cx="2687" cy="1444"/>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cxnSp>
            <p:nvCxnSpPr>
              <p:cNvPr id="47" name="直接箭头连接符 46"/>
              <p:cNvCxnSpPr>
                <a:endCxn id="46" idx="1"/>
              </p:cNvCxnSpPr>
              <p:nvPr/>
            </p:nvCxnSpPr>
            <p:spPr>
              <a:xfrm flipV="1">
                <a:off x="7517" y="5985"/>
                <a:ext cx="1676" cy="16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13099" y="2103"/>
                <a:ext cx="724" cy="7721"/>
              </a:xfrm>
              <a:prstGeom prst="rect">
                <a:avLst/>
              </a:prstGeom>
              <a:solidFill>
                <a:schemeClr val="bg1">
                  <a:lumMod val="95000"/>
                </a:schemeClr>
              </a:solidFill>
            </p:spPr>
            <p:txBody>
              <a:bodyPr vert="eaVert" wrap="square" rtlCol="0">
                <a:spAutoFit/>
              </a:bodyPr>
              <a:p>
                <a:pPr algn="ctr"/>
                <a:r>
                  <a:rPr lang="en-US" altLang="zh-CN"/>
                  <a:t>network</a:t>
                </a:r>
                <a:endParaRPr lang="en-US" altLang="zh-CN"/>
              </a:p>
            </p:txBody>
          </p:sp>
          <p:cxnSp>
            <p:nvCxnSpPr>
              <p:cNvPr id="49" name="直接箭头连接符 48"/>
              <p:cNvCxnSpPr/>
              <p:nvPr/>
            </p:nvCxnSpPr>
            <p:spPr>
              <a:xfrm flipH="1">
                <a:off x="7517" y="6712"/>
                <a:ext cx="2062" cy="196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rot="18900000">
                <a:off x="7032" y="6429"/>
                <a:ext cx="1939" cy="580"/>
              </a:xfrm>
              <a:prstGeom prst="rect">
                <a:avLst/>
              </a:prstGeom>
              <a:noFill/>
            </p:spPr>
            <p:txBody>
              <a:bodyPr wrap="square" rtlCol="0">
                <a:spAutoFit/>
              </a:bodyPr>
              <a:p>
                <a:pPr algn="ctr"/>
                <a:r>
                  <a:rPr lang="en-US" altLang="zh-CN"/>
                  <a:t>sub &amp; pub</a:t>
                </a:r>
                <a:endParaRPr lang="en-US" altLang="zh-CN"/>
              </a:p>
            </p:txBody>
          </p:sp>
          <p:sp>
            <p:nvSpPr>
              <p:cNvPr id="51" name="文本框 50"/>
              <p:cNvSpPr txBox="1"/>
              <p:nvPr/>
            </p:nvSpPr>
            <p:spPr>
              <a:xfrm rot="18900000">
                <a:off x="7456" y="7077"/>
                <a:ext cx="1939" cy="580"/>
              </a:xfrm>
              <a:prstGeom prst="rect">
                <a:avLst/>
              </a:prstGeom>
              <a:noFill/>
            </p:spPr>
            <p:txBody>
              <a:bodyPr wrap="square" rtlCol="0">
                <a:spAutoFit/>
              </a:bodyPr>
              <a:p>
                <a:pPr algn="ctr"/>
                <a:r>
                  <a:rPr lang="en-US" altLang="zh-CN"/>
                  <a:t>messages</a:t>
                </a:r>
                <a:endParaRPr lang="en-US" altLang="zh-CN"/>
              </a:p>
            </p:txBody>
          </p:sp>
          <p:cxnSp>
            <p:nvCxnSpPr>
              <p:cNvPr id="52" name="直接箭头连接符 51"/>
              <p:cNvCxnSpPr>
                <a:stCxn id="46" idx="0"/>
              </p:cNvCxnSpPr>
              <p:nvPr/>
            </p:nvCxnSpPr>
            <p:spPr>
              <a:xfrm flipH="1" flipV="1">
                <a:off x="7477" y="3398"/>
                <a:ext cx="3060" cy="18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7416" y="4187"/>
                <a:ext cx="1779" cy="10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rot="1920000">
                <a:off x="7476" y="4166"/>
                <a:ext cx="1939" cy="580"/>
              </a:xfrm>
              <a:prstGeom prst="rect">
                <a:avLst/>
              </a:prstGeom>
              <a:noFill/>
            </p:spPr>
            <p:txBody>
              <a:bodyPr wrap="square" rtlCol="0">
                <a:spAutoFit/>
              </a:bodyPr>
              <a:p>
                <a:pPr algn="ctr"/>
                <a:r>
                  <a:rPr lang="en-US" altLang="zh-CN"/>
                  <a:t>sub &amp; pub</a:t>
                </a:r>
                <a:endParaRPr lang="en-US" altLang="zh-CN"/>
              </a:p>
            </p:txBody>
          </p:sp>
          <p:sp>
            <p:nvSpPr>
              <p:cNvPr id="55" name="文本框 54"/>
              <p:cNvSpPr txBox="1"/>
              <p:nvPr/>
            </p:nvSpPr>
            <p:spPr>
              <a:xfrm rot="1800000">
                <a:off x="7921" y="3621"/>
                <a:ext cx="1939" cy="580"/>
              </a:xfrm>
              <a:prstGeom prst="rect">
                <a:avLst/>
              </a:prstGeom>
              <a:noFill/>
            </p:spPr>
            <p:txBody>
              <a:bodyPr wrap="square" rtlCol="0">
                <a:spAutoFit/>
              </a:bodyPr>
              <a:p>
                <a:pPr algn="ctr"/>
                <a:r>
                  <a:rPr lang="en-US" altLang="zh-CN"/>
                  <a:t>messages</a:t>
                </a:r>
                <a:endParaRPr lang="en-US" altLang="zh-CN"/>
              </a:p>
            </p:txBody>
          </p:sp>
          <p:cxnSp>
            <p:nvCxnSpPr>
              <p:cNvPr id="56" name="直接箭头连接符 55"/>
              <p:cNvCxnSpPr/>
              <p:nvPr/>
            </p:nvCxnSpPr>
            <p:spPr>
              <a:xfrm flipV="1">
                <a:off x="7497" y="8571"/>
                <a:ext cx="5740" cy="1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7578" y="3095"/>
                <a:ext cx="5416" cy="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H="1" flipV="1">
                <a:off x="7436" y="3418"/>
                <a:ext cx="5639" cy="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flipH="1">
                <a:off x="7535" y="8876"/>
                <a:ext cx="5702" cy="1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8419" y="2464"/>
                <a:ext cx="2647" cy="580"/>
              </a:xfrm>
              <a:prstGeom prst="rect">
                <a:avLst/>
              </a:prstGeom>
              <a:noFill/>
            </p:spPr>
            <p:txBody>
              <a:bodyPr wrap="square" rtlCol="0">
                <a:spAutoFit/>
              </a:bodyPr>
              <a:p>
                <a:r>
                  <a:rPr lang="en-US" altLang="zh-CN"/>
                  <a:t>save &amp; lookup</a:t>
                </a:r>
                <a:endParaRPr lang="en-US" altLang="zh-CN"/>
              </a:p>
            </p:txBody>
          </p:sp>
          <p:sp>
            <p:nvSpPr>
              <p:cNvPr id="61" name="文本框 60"/>
              <p:cNvSpPr txBox="1"/>
              <p:nvPr/>
            </p:nvSpPr>
            <p:spPr>
              <a:xfrm>
                <a:off x="9288" y="8022"/>
                <a:ext cx="2647" cy="580"/>
              </a:xfrm>
              <a:prstGeom prst="rect">
                <a:avLst/>
              </a:prstGeom>
              <a:noFill/>
            </p:spPr>
            <p:txBody>
              <a:bodyPr wrap="square" rtlCol="0">
                <a:spAutoFit/>
              </a:bodyPr>
              <a:p>
                <a:r>
                  <a:rPr lang="en-US" altLang="zh-CN"/>
                  <a:t>save &amp; lookup</a:t>
                </a:r>
                <a:endParaRPr lang="en-US" altLang="zh-CN"/>
              </a:p>
            </p:txBody>
          </p:sp>
          <p:sp>
            <p:nvSpPr>
              <p:cNvPr id="62" name="文本框 61"/>
              <p:cNvSpPr txBox="1"/>
              <p:nvPr/>
            </p:nvSpPr>
            <p:spPr>
              <a:xfrm>
                <a:off x="14119" y="6344"/>
                <a:ext cx="1030" cy="580"/>
              </a:xfrm>
              <a:prstGeom prst="rect">
                <a:avLst/>
              </a:prstGeom>
              <a:noFill/>
            </p:spPr>
            <p:txBody>
              <a:bodyPr wrap="square" rtlCol="0">
                <a:spAutoFit/>
              </a:bodyPr>
              <a:p>
                <a:r>
                  <a:rPr lang="en-US" altLang="zh-CN"/>
                  <a:t>msgs</a:t>
                </a:r>
                <a:endParaRPr lang="en-US" altLang="zh-CN"/>
              </a:p>
            </p:txBody>
          </p:sp>
          <p:sp>
            <p:nvSpPr>
              <p:cNvPr id="63" name="文本框 62"/>
              <p:cNvSpPr txBox="1"/>
              <p:nvPr/>
            </p:nvSpPr>
            <p:spPr>
              <a:xfrm>
                <a:off x="9814" y="8951"/>
                <a:ext cx="1030" cy="580"/>
              </a:xfrm>
              <a:prstGeom prst="rect">
                <a:avLst/>
              </a:prstGeom>
              <a:noFill/>
            </p:spPr>
            <p:txBody>
              <a:bodyPr wrap="square" rtlCol="0">
                <a:spAutoFit/>
              </a:bodyPr>
              <a:p>
                <a:r>
                  <a:rPr lang="en-US" altLang="zh-CN"/>
                  <a:t>msgs</a:t>
                </a:r>
                <a:endParaRPr lang="en-US" altLang="zh-CN"/>
              </a:p>
            </p:txBody>
          </p:sp>
          <p:sp>
            <p:nvSpPr>
              <p:cNvPr id="64" name="文本框 63"/>
              <p:cNvSpPr txBox="1"/>
              <p:nvPr/>
            </p:nvSpPr>
            <p:spPr>
              <a:xfrm>
                <a:off x="10784" y="3252"/>
                <a:ext cx="1030" cy="580"/>
              </a:xfrm>
              <a:prstGeom prst="rect">
                <a:avLst/>
              </a:prstGeom>
              <a:noFill/>
            </p:spPr>
            <p:txBody>
              <a:bodyPr wrap="square" rtlCol="0">
                <a:spAutoFit/>
              </a:bodyPr>
              <a:p>
                <a:r>
                  <a:rPr lang="en-US" altLang="zh-CN"/>
                  <a:t>msgs</a:t>
                </a:r>
                <a:endParaRPr lang="en-US" altLang="zh-CN"/>
              </a:p>
            </p:txBody>
          </p:sp>
        </p:grpSp>
        <p:sp>
          <p:nvSpPr>
            <p:cNvPr id="67" name="文本框 66"/>
            <p:cNvSpPr txBox="1"/>
            <p:nvPr/>
          </p:nvSpPr>
          <p:spPr>
            <a:xfrm>
              <a:off x="13903" y="2722"/>
              <a:ext cx="3658" cy="1876"/>
            </a:xfrm>
            <a:prstGeom prst="rect">
              <a:avLst/>
            </a:prstGeom>
            <a:noFill/>
          </p:spPr>
          <p:txBody>
            <a:bodyPr wrap="square" rtlCol="0">
              <a:spAutoFit/>
            </a:bodyPr>
            <a:p>
              <a:r>
                <a:rPr lang="en-US" altLang="zh-CN"/>
                <a:t>the DB access traits for IM &amp; notification: </a:t>
              </a:r>
              <a:endParaRPr lang="en-US" altLang="zh-CN"/>
            </a:p>
            <a:p>
              <a:r>
                <a:rPr lang="en-US" altLang="zh-CN" b="1"/>
                <a:t>heavy write</a:t>
              </a:r>
              <a:endParaRPr lang="en-US" altLang="zh-CN" b="1"/>
            </a:p>
            <a:p>
              <a:r>
                <a:rPr lang="en-US" altLang="zh-CN" b="1"/>
                <a:t>light lookup</a:t>
              </a:r>
              <a:endParaRPr lang="en-US" altLang="zh-CN" b="1"/>
            </a:p>
          </p:txBody>
        </p:sp>
        <p:sp>
          <p:nvSpPr>
            <p:cNvPr id="68" name="文本框 67"/>
            <p:cNvSpPr txBox="1"/>
            <p:nvPr/>
          </p:nvSpPr>
          <p:spPr>
            <a:xfrm>
              <a:off x="9982" y="6900"/>
              <a:ext cx="1491" cy="580"/>
            </a:xfrm>
            <a:prstGeom prst="rect">
              <a:avLst/>
            </a:prstGeom>
            <a:noFill/>
          </p:spPr>
          <p:txBody>
            <a:bodyPr wrap="square" rtlCol="0">
              <a:spAutoFit/>
            </a:bodyPr>
            <a:p>
              <a:r>
                <a:rPr lang="en-US" altLang="zh-CN"/>
                <a:t>master</a:t>
              </a:r>
              <a:endParaRPr lang="en-US" altLang="zh-CN"/>
            </a:p>
          </p:txBody>
        </p:sp>
        <p:sp>
          <p:nvSpPr>
            <p:cNvPr id="69" name="文本框 68"/>
            <p:cNvSpPr txBox="1"/>
            <p:nvPr/>
          </p:nvSpPr>
          <p:spPr>
            <a:xfrm>
              <a:off x="4825" y="7003"/>
              <a:ext cx="2650" cy="580"/>
            </a:xfrm>
            <a:prstGeom prst="rect">
              <a:avLst/>
            </a:prstGeom>
            <a:noFill/>
          </p:spPr>
          <p:txBody>
            <a:bodyPr wrap="square" rtlCol="0">
              <a:spAutoFit/>
            </a:bodyPr>
            <a:p>
              <a:r>
                <a:rPr lang="en-US" altLang="zh-CN"/>
                <a:t>client broker</a:t>
              </a:r>
              <a:endParaRPr lang="en-US" altLang="zh-CN"/>
            </a:p>
          </p:txBody>
        </p:sp>
        <p:sp>
          <p:nvSpPr>
            <p:cNvPr id="70" name="文本框 69"/>
            <p:cNvSpPr txBox="1"/>
            <p:nvPr/>
          </p:nvSpPr>
          <p:spPr>
            <a:xfrm>
              <a:off x="4845" y="2446"/>
              <a:ext cx="2568" cy="580"/>
            </a:xfrm>
            <a:prstGeom prst="rect">
              <a:avLst/>
            </a:prstGeom>
            <a:noFill/>
          </p:spPr>
          <p:txBody>
            <a:bodyPr wrap="square" rtlCol="0">
              <a:spAutoFit/>
            </a:bodyPr>
            <a:p>
              <a:r>
                <a:rPr lang="en-US" altLang="zh-CN"/>
                <a:t>client broker</a:t>
              </a:r>
              <a:endParaRPr lang="en-US" altLang="zh-CN"/>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84530" y="172720"/>
            <a:ext cx="10515600" cy="1325563"/>
          </a:xfrm>
        </p:spPr>
        <p:txBody>
          <a:bodyPr>
            <a:normAutofit fontScale="90000"/>
          </a:bodyPr>
          <a:p>
            <a:r>
              <a:rPr lang="en-US" altLang="zh-CN">
                <a:sym typeface="+mn-ea"/>
              </a:rPr>
              <a:t>IBM IM notification broker</a:t>
            </a:r>
            <a:r>
              <a:rPr lang="en-US" altLang="zh-CN"/>
              <a:t> - redis cluster mode</a:t>
            </a:r>
            <a:endParaRPr lang="en-US" altLang="zh-CN"/>
          </a:p>
        </p:txBody>
      </p:sp>
      <p:grpSp>
        <p:nvGrpSpPr>
          <p:cNvPr id="7" name="组合 6"/>
          <p:cNvGrpSpPr/>
          <p:nvPr/>
        </p:nvGrpSpPr>
        <p:grpSpPr>
          <a:xfrm>
            <a:off x="563880" y="1224915"/>
            <a:ext cx="10586720" cy="5151120"/>
            <a:chOff x="888" y="1929"/>
            <a:chExt cx="16672" cy="8112"/>
          </a:xfrm>
        </p:grpSpPr>
        <p:sp>
          <p:nvSpPr>
            <p:cNvPr id="25" name="文本框 24"/>
            <p:cNvSpPr txBox="1"/>
            <p:nvPr/>
          </p:nvSpPr>
          <p:spPr>
            <a:xfrm rot="1560000">
              <a:off x="2323" y="2045"/>
              <a:ext cx="2889" cy="580"/>
            </a:xfrm>
            <a:prstGeom prst="rect">
              <a:avLst/>
            </a:prstGeom>
            <a:noFill/>
          </p:spPr>
          <p:txBody>
            <a:bodyPr wrap="square" rtlCol="0">
              <a:spAutoFit/>
            </a:bodyPr>
            <a:p>
              <a:pPr algn="ctr"/>
              <a:r>
                <a:rPr lang="en-US" altLang="zh-CN"/>
                <a:t>publish msg</a:t>
              </a:r>
              <a:endParaRPr lang="en-US" altLang="zh-CN"/>
            </a:p>
          </p:txBody>
        </p:sp>
        <p:grpSp>
          <p:nvGrpSpPr>
            <p:cNvPr id="4" name="组合 3"/>
            <p:cNvGrpSpPr/>
            <p:nvPr/>
          </p:nvGrpSpPr>
          <p:grpSpPr>
            <a:xfrm rot="0">
              <a:off x="888" y="1929"/>
              <a:ext cx="16673" cy="8113"/>
              <a:chOff x="888" y="1929"/>
              <a:chExt cx="16673" cy="8113"/>
            </a:xfrm>
          </p:grpSpPr>
          <p:sp>
            <p:nvSpPr>
              <p:cNvPr id="12" name="文本框 11"/>
              <p:cNvSpPr txBox="1"/>
              <p:nvPr/>
            </p:nvSpPr>
            <p:spPr>
              <a:xfrm>
                <a:off x="15454" y="5455"/>
                <a:ext cx="2038" cy="1012"/>
              </a:xfrm>
              <a:prstGeom prst="rect">
                <a:avLst/>
              </a:prstGeom>
              <a:solidFill>
                <a:schemeClr val="accent1">
                  <a:lumMod val="50000"/>
                </a:schemeClr>
              </a:solidFill>
            </p:spPr>
            <p:txBody>
              <a:bodyPr wrap="square" rtlCol="0">
                <a:spAutoFit/>
              </a:bodyPr>
              <a:p>
                <a:pPr algn="ctr"/>
                <a:r>
                  <a:rPr lang="en-US" altLang="zh-CN">
                    <a:solidFill>
                      <a:schemeClr val="bg1"/>
                    </a:solidFill>
                  </a:rPr>
                  <a:t>key-value</a:t>
                </a:r>
                <a:endParaRPr lang="en-US" altLang="zh-CN">
                  <a:solidFill>
                    <a:schemeClr val="bg1"/>
                  </a:solidFill>
                </a:endParaRPr>
              </a:p>
              <a:p>
                <a:pPr algn="ctr"/>
                <a:r>
                  <a:rPr lang="en-US" altLang="zh-CN">
                    <a:solidFill>
                      <a:schemeClr val="bg1"/>
                    </a:solidFill>
                  </a:rPr>
                  <a:t>store</a:t>
                </a:r>
                <a:endParaRPr lang="en-US" altLang="zh-CN">
                  <a:solidFill>
                    <a:schemeClr val="bg1"/>
                  </a:solidFill>
                </a:endParaRPr>
              </a:p>
            </p:txBody>
          </p:sp>
          <p:sp>
            <p:nvSpPr>
              <p:cNvPr id="9" name="文本框 8"/>
              <p:cNvSpPr txBox="1"/>
              <p:nvPr/>
            </p:nvSpPr>
            <p:spPr>
              <a:xfrm>
                <a:off x="909" y="1929"/>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sp>
            <p:nvSpPr>
              <p:cNvPr id="11" name="文本框 10"/>
              <p:cNvSpPr txBox="1"/>
              <p:nvPr/>
            </p:nvSpPr>
            <p:spPr>
              <a:xfrm>
                <a:off x="4809" y="3081"/>
                <a:ext cx="2687" cy="1444"/>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cxnSp>
            <p:nvCxnSpPr>
              <p:cNvPr id="14" name="直接箭头连接符 13"/>
              <p:cNvCxnSpPr/>
              <p:nvPr/>
            </p:nvCxnSpPr>
            <p:spPr>
              <a:xfrm>
                <a:off x="2424" y="2024"/>
                <a:ext cx="2324" cy="12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2343" y="4328"/>
                <a:ext cx="2466" cy="10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889" y="4011"/>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cxnSp>
            <p:nvCxnSpPr>
              <p:cNvPr id="22" name="直接箭头连接符 21"/>
              <p:cNvCxnSpPr>
                <a:endCxn id="9" idx="3"/>
              </p:cNvCxnSpPr>
              <p:nvPr/>
            </p:nvCxnSpPr>
            <p:spPr>
              <a:xfrm flipH="1" flipV="1">
                <a:off x="2384" y="2651"/>
                <a:ext cx="2425" cy="11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21" idx="3"/>
              </p:cNvCxnSpPr>
              <p:nvPr/>
            </p:nvCxnSpPr>
            <p:spPr>
              <a:xfrm flipV="1">
                <a:off x="2364" y="3813"/>
                <a:ext cx="2364" cy="9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rot="20400000">
                <a:off x="2101" y="3762"/>
                <a:ext cx="2506" cy="580"/>
              </a:xfrm>
              <a:prstGeom prst="rect">
                <a:avLst/>
              </a:prstGeom>
              <a:noFill/>
            </p:spPr>
            <p:txBody>
              <a:bodyPr wrap="square" rtlCol="0">
                <a:spAutoFit/>
              </a:bodyPr>
              <a:p>
                <a:pPr algn="ctr"/>
                <a:r>
                  <a:rPr lang="en-US" altLang="zh-CN"/>
                  <a:t>subscribe topic</a:t>
                </a:r>
                <a:endParaRPr lang="en-US" altLang="zh-CN"/>
              </a:p>
            </p:txBody>
          </p:sp>
          <p:sp>
            <p:nvSpPr>
              <p:cNvPr id="26" name="文本框 25"/>
              <p:cNvSpPr txBox="1"/>
              <p:nvPr/>
            </p:nvSpPr>
            <p:spPr>
              <a:xfrm rot="20220000">
                <a:off x="2091" y="4343"/>
                <a:ext cx="2752" cy="580"/>
              </a:xfrm>
              <a:prstGeom prst="rect">
                <a:avLst/>
              </a:prstGeom>
              <a:noFill/>
            </p:spPr>
            <p:txBody>
              <a:bodyPr wrap="square" rtlCol="0">
                <a:spAutoFit/>
              </a:bodyPr>
              <a:p>
                <a:pPr algn="ctr"/>
                <a:r>
                  <a:rPr lang="en-US" altLang="zh-CN"/>
                  <a:t>msg &amp; notify</a:t>
                </a:r>
                <a:endParaRPr lang="en-US" altLang="zh-CN"/>
              </a:p>
            </p:txBody>
          </p:sp>
          <p:sp>
            <p:nvSpPr>
              <p:cNvPr id="28" name="文本框 27"/>
              <p:cNvSpPr txBox="1"/>
              <p:nvPr/>
            </p:nvSpPr>
            <p:spPr>
              <a:xfrm rot="1560000">
                <a:off x="2141" y="2694"/>
                <a:ext cx="2889" cy="580"/>
              </a:xfrm>
              <a:prstGeom prst="rect">
                <a:avLst/>
              </a:prstGeom>
              <a:noFill/>
            </p:spPr>
            <p:txBody>
              <a:bodyPr wrap="square" rtlCol="0">
                <a:spAutoFit/>
              </a:bodyPr>
              <a:p>
                <a:pPr algn="ctr"/>
                <a:r>
                  <a:rPr lang="en-US" altLang="zh-CN"/>
                  <a:t>msg &amp; notify</a:t>
                </a:r>
                <a:endParaRPr lang="en-US" altLang="zh-CN"/>
              </a:p>
            </p:txBody>
          </p:sp>
          <p:cxnSp>
            <p:nvCxnSpPr>
              <p:cNvPr id="29" name="直接箭头连接符 28"/>
              <p:cNvCxnSpPr/>
              <p:nvPr/>
            </p:nvCxnSpPr>
            <p:spPr>
              <a:xfrm>
                <a:off x="13897" y="5597"/>
                <a:ext cx="149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H="1">
                <a:off x="13816" y="6284"/>
                <a:ext cx="151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3755" y="4909"/>
                <a:ext cx="2647" cy="580"/>
              </a:xfrm>
              <a:prstGeom prst="rect">
                <a:avLst/>
              </a:prstGeom>
              <a:noFill/>
            </p:spPr>
            <p:txBody>
              <a:bodyPr wrap="square" rtlCol="0">
                <a:spAutoFit/>
              </a:bodyPr>
              <a:p>
                <a:r>
                  <a:rPr lang="en-US" altLang="zh-CN"/>
                  <a:t>save &amp; lookup</a:t>
                </a:r>
                <a:endParaRPr lang="en-US" altLang="zh-CN"/>
              </a:p>
            </p:txBody>
          </p:sp>
          <p:sp>
            <p:nvSpPr>
              <p:cNvPr id="27" name="文本框 26"/>
              <p:cNvSpPr txBox="1"/>
              <p:nvPr/>
            </p:nvSpPr>
            <p:spPr>
              <a:xfrm>
                <a:off x="928" y="6516"/>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sp>
            <p:nvSpPr>
              <p:cNvPr id="32" name="文本框 31"/>
              <p:cNvSpPr txBox="1"/>
              <p:nvPr/>
            </p:nvSpPr>
            <p:spPr>
              <a:xfrm>
                <a:off x="4828" y="7668"/>
                <a:ext cx="2687" cy="1444"/>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cxnSp>
            <p:nvCxnSpPr>
              <p:cNvPr id="33" name="直接箭头连接符 32"/>
              <p:cNvCxnSpPr/>
              <p:nvPr/>
            </p:nvCxnSpPr>
            <p:spPr>
              <a:xfrm>
                <a:off x="2443" y="6611"/>
                <a:ext cx="2324" cy="12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H="1">
                <a:off x="2362" y="8915"/>
                <a:ext cx="2466" cy="10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908" y="8598"/>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cxnSp>
            <p:nvCxnSpPr>
              <p:cNvPr id="37" name="直接箭头连接符 36"/>
              <p:cNvCxnSpPr>
                <a:endCxn id="27" idx="3"/>
              </p:cNvCxnSpPr>
              <p:nvPr/>
            </p:nvCxnSpPr>
            <p:spPr>
              <a:xfrm flipH="1" flipV="1">
                <a:off x="2403" y="7238"/>
                <a:ext cx="2406" cy="11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36" idx="3"/>
              </p:cNvCxnSpPr>
              <p:nvPr/>
            </p:nvCxnSpPr>
            <p:spPr>
              <a:xfrm flipV="1">
                <a:off x="2383" y="8421"/>
                <a:ext cx="2446" cy="8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rot="20400000">
                <a:off x="2120" y="8349"/>
                <a:ext cx="2506" cy="580"/>
              </a:xfrm>
              <a:prstGeom prst="rect">
                <a:avLst/>
              </a:prstGeom>
              <a:noFill/>
            </p:spPr>
            <p:txBody>
              <a:bodyPr wrap="square" rtlCol="0">
                <a:spAutoFit/>
              </a:bodyPr>
              <a:p>
                <a:pPr algn="ctr"/>
                <a:r>
                  <a:rPr lang="en-US" altLang="zh-CN"/>
                  <a:t>subscribe topic</a:t>
                </a:r>
                <a:endParaRPr lang="en-US" altLang="zh-CN"/>
              </a:p>
            </p:txBody>
          </p:sp>
          <p:sp>
            <p:nvSpPr>
              <p:cNvPr id="40" name="文本框 39"/>
              <p:cNvSpPr txBox="1"/>
              <p:nvPr/>
            </p:nvSpPr>
            <p:spPr>
              <a:xfrm rot="1560000">
                <a:off x="2342" y="6632"/>
                <a:ext cx="2889" cy="580"/>
              </a:xfrm>
              <a:prstGeom prst="rect">
                <a:avLst/>
              </a:prstGeom>
              <a:noFill/>
            </p:spPr>
            <p:txBody>
              <a:bodyPr wrap="square" rtlCol="0">
                <a:spAutoFit/>
              </a:bodyPr>
              <a:p>
                <a:pPr algn="ctr"/>
                <a:r>
                  <a:rPr lang="en-US" altLang="zh-CN"/>
                  <a:t>publish msg</a:t>
                </a:r>
                <a:endParaRPr lang="en-US" altLang="zh-CN"/>
              </a:p>
            </p:txBody>
          </p:sp>
          <p:sp>
            <p:nvSpPr>
              <p:cNvPr id="41" name="文本框 40"/>
              <p:cNvSpPr txBox="1"/>
              <p:nvPr/>
            </p:nvSpPr>
            <p:spPr>
              <a:xfrm rot="20220000">
                <a:off x="2110" y="8930"/>
                <a:ext cx="2752" cy="580"/>
              </a:xfrm>
              <a:prstGeom prst="rect">
                <a:avLst/>
              </a:prstGeom>
              <a:noFill/>
            </p:spPr>
            <p:txBody>
              <a:bodyPr wrap="square" rtlCol="0">
                <a:spAutoFit/>
              </a:bodyPr>
              <a:p>
                <a:pPr algn="ctr"/>
                <a:r>
                  <a:rPr lang="en-US" altLang="zh-CN"/>
                  <a:t>msg &amp; notify</a:t>
                </a:r>
                <a:endParaRPr lang="en-US" altLang="zh-CN"/>
              </a:p>
            </p:txBody>
          </p:sp>
          <p:sp>
            <p:nvSpPr>
              <p:cNvPr id="42" name="文本框 41"/>
              <p:cNvSpPr txBox="1"/>
              <p:nvPr/>
            </p:nvSpPr>
            <p:spPr>
              <a:xfrm rot="1560000">
                <a:off x="2160" y="7281"/>
                <a:ext cx="2889" cy="580"/>
              </a:xfrm>
              <a:prstGeom prst="rect">
                <a:avLst/>
              </a:prstGeom>
              <a:noFill/>
            </p:spPr>
            <p:txBody>
              <a:bodyPr wrap="square" rtlCol="0">
                <a:spAutoFit/>
              </a:bodyPr>
              <a:p>
                <a:pPr algn="ctr"/>
                <a:r>
                  <a:rPr lang="en-US" altLang="zh-CN"/>
                  <a:t>msg &amp; notify</a:t>
                </a:r>
                <a:endParaRPr lang="en-US" altLang="zh-CN"/>
              </a:p>
            </p:txBody>
          </p:sp>
          <p:sp>
            <p:nvSpPr>
              <p:cNvPr id="43" name="文本框 42"/>
              <p:cNvSpPr txBox="1"/>
              <p:nvPr/>
            </p:nvSpPr>
            <p:spPr>
              <a:xfrm>
                <a:off x="888" y="5318"/>
                <a:ext cx="1556" cy="919"/>
              </a:xfrm>
              <a:prstGeom prst="rect">
                <a:avLst/>
              </a:prstGeom>
              <a:noFill/>
            </p:spPr>
            <p:txBody>
              <a:bodyPr wrap="square" rtlCol="0">
                <a:spAutoFit/>
              </a:bodyPr>
              <a:p>
                <a:pPr algn="ctr"/>
                <a:r>
                  <a:rPr lang="en-US" altLang="zh-CN" sz="3200"/>
                  <a:t>... ...</a:t>
                </a:r>
                <a:endParaRPr lang="en-US" altLang="zh-CN" sz="3200"/>
              </a:p>
            </p:txBody>
          </p:sp>
          <p:sp>
            <p:nvSpPr>
              <p:cNvPr id="45" name="文本框 44"/>
              <p:cNvSpPr txBox="1"/>
              <p:nvPr/>
            </p:nvSpPr>
            <p:spPr>
              <a:xfrm>
                <a:off x="5294" y="5419"/>
                <a:ext cx="1556" cy="919"/>
              </a:xfrm>
              <a:prstGeom prst="rect">
                <a:avLst/>
              </a:prstGeom>
              <a:noFill/>
            </p:spPr>
            <p:txBody>
              <a:bodyPr wrap="square" rtlCol="0">
                <a:spAutoFit/>
              </a:bodyPr>
              <a:p>
                <a:pPr algn="ctr"/>
                <a:r>
                  <a:rPr lang="en-US" altLang="zh-CN" sz="3200"/>
                  <a:t>... ...</a:t>
                </a:r>
                <a:endParaRPr lang="en-US" altLang="zh-CN" sz="3200"/>
              </a:p>
            </p:txBody>
          </p:sp>
          <p:sp>
            <p:nvSpPr>
              <p:cNvPr id="46" name="文本框 45"/>
              <p:cNvSpPr txBox="1"/>
              <p:nvPr/>
            </p:nvSpPr>
            <p:spPr>
              <a:xfrm>
                <a:off x="9193" y="5263"/>
                <a:ext cx="2687" cy="1012"/>
              </a:xfrm>
              <a:prstGeom prst="rect">
                <a:avLst/>
              </a:prstGeom>
              <a:solidFill>
                <a:schemeClr val="accent6">
                  <a:lumMod val="60000"/>
                  <a:lumOff val="40000"/>
                </a:schemeClr>
              </a:solidFill>
            </p:spPr>
            <p:txBody>
              <a:bodyPr wrap="square" rtlCol="0">
                <a:spAutoFit/>
              </a:bodyPr>
              <a:p>
                <a:pPr algn="ctr"/>
                <a:r>
                  <a:rPr lang="en-US" altLang="zh-CN"/>
                  <a:t>redis</a:t>
                </a:r>
                <a:br>
                  <a:rPr lang="en-US" altLang="zh-CN"/>
                </a:br>
                <a:r>
                  <a:rPr lang="en-US" altLang="zh-CN"/>
                  <a:t>cluster </a:t>
                </a:r>
                <a:endParaRPr lang="en-US" altLang="zh-CN"/>
              </a:p>
            </p:txBody>
          </p:sp>
          <p:cxnSp>
            <p:nvCxnSpPr>
              <p:cNvPr id="47" name="直接箭头连接符 46"/>
              <p:cNvCxnSpPr/>
              <p:nvPr/>
            </p:nvCxnSpPr>
            <p:spPr>
              <a:xfrm flipV="1">
                <a:off x="7537" y="6279"/>
                <a:ext cx="1557" cy="16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13099" y="2103"/>
                <a:ext cx="724" cy="7721"/>
              </a:xfrm>
              <a:prstGeom prst="rect">
                <a:avLst/>
              </a:prstGeom>
              <a:solidFill>
                <a:schemeClr val="bg1">
                  <a:lumMod val="95000"/>
                </a:schemeClr>
              </a:solidFill>
            </p:spPr>
            <p:txBody>
              <a:bodyPr vert="eaVert" wrap="square" rtlCol="0">
                <a:spAutoFit/>
              </a:bodyPr>
              <a:p>
                <a:pPr algn="ctr"/>
                <a:r>
                  <a:rPr lang="en-US" altLang="zh-CN"/>
                  <a:t>network</a:t>
                </a:r>
                <a:endParaRPr lang="en-US" altLang="zh-CN"/>
              </a:p>
            </p:txBody>
          </p:sp>
          <p:cxnSp>
            <p:nvCxnSpPr>
              <p:cNvPr id="49" name="直接箭头连接符 48"/>
              <p:cNvCxnSpPr/>
              <p:nvPr/>
            </p:nvCxnSpPr>
            <p:spPr>
              <a:xfrm flipH="1">
                <a:off x="7517" y="6712"/>
                <a:ext cx="2062" cy="196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rot="18900000">
                <a:off x="7032" y="6429"/>
                <a:ext cx="1939" cy="580"/>
              </a:xfrm>
              <a:prstGeom prst="rect">
                <a:avLst/>
              </a:prstGeom>
              <a:noFill/>
            </p:spPr>
            <p:txBody>
              <a:bodyPr wrap="square" rtlCol="0">
                <a:spAutoFit/>
              </a:bodyPr>
              <a:p>
                <a:pPr algn="ctr"/>
                <a:r>
                  <a:rPr lang="en-US" altLang="zh-CN"/>
                  <a:t>sub &amp; pub</a:t>
                </a:r>
                <a:endParaRPr lang="en-US" altLang="zh-CN"/>
              </a:p>
            </p:txBody>
          </p:sp>
          <p:sp>
            <p:nvSpPr>
              <p:cNvPr id="51" name="文本框 50"/>
              <p:cNvSpPr txBox="1"/>
              <p:nvPr/>
            </p:nvSpPr>
            <p:spPr>
              <a:xfrm rot="18900000">
                <a:off x="7456" y="7077"/>
                <a:ext cx="1939" cy="580"/>
              </a:xfrm>
              <a:prstGeom prst="rect">
                <a:avLst/>
              </a:prstGeom>
              <a:noFill/>
            </p:spPr>
            <p:txBody>
              <a:bodyPr wrap="square" rtlCol="0">
                <a:spAutoFit/>
              </a:bodyPr>
              <a:p>
                <a:pPr algn="ctr"/>
                <a:r>
                  <a:rPr lang="en-US" altLang="zh-CN"/>
                  <a:t>messages</a:t>
                </a:r>
                <a:endParaRPr lang="en-US" altLang="zh-CN"/>
              </a:p>
            </p:txBody>
          </p:sp>
          <p:cxnSp>
            <p:nvCxnSpPr>
              <p:cNvPr id="52" name="直接箭头连接符 51"/>
              <p:cNvCxnSpPr/>
              <p:nvPr/>
            </p:nvCxnSpPr>
            <p:spPr>
              <a:xfrm flipH="1" flipV="1">
                <a:off x="7477" y="3398"/>
                <a:ext cx="3011" cy="176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7416" y="4187"/>
                <a:ext cx="1779" cy="10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rot="1920000">
                <a:off x="7476" y="4166"/>
                <a:ext cx="1939" cy="580"/>
              </a:xfrm>
              <a:prstGeom prst="rect">
                <a:avLst/>
              </a:prstGeom>
              <a:noFill/>
            </p:spPr>
            <p:txBody>
              <a:bodyPr wrap="square" rtlCol="0">
                <a:spAutoFit/>
              </a:bodyPr>
              <a:p>
                <a:pPr algn="ctr"/>
                <a:r>
                  <a:rPr lang="en-US" altLang="zh-CN"/>
                  <a:t>sub &amp; pub</a:t>
                </a:r>
                <a:endParaRPr lang="en-US" altLang="zh-CN"/>
              </a:p>
            </p:txBody>
          </p:sp>
          <p:sp>
            <p:nvSpPr>
              <p:cNvPr id="55" name="文本框 54"/>
              <p:cNvSpPr txBox="1"/>
              <p:nvPr/>
            </p:nvSpPr>
            <p:spPr>
              <a:xfrm rot="1800000">
                <a:off x="7921" y="3621"/>
                <a:ext cx="1939" cy="580"/>
              </a:xfrm>
              <a:prstGeom prst="rect">
                <a:avLst/>
              </a:prstGeom>
              <a:noFill/>
            </p:spPr>
            <p:txBody>
              <a:bodyPr wrap="square" rtlCol="0">
                <a:spAutoFit/>
              </a:bodyPr>
              <a:p>
                <a:pPr algn="ctr"/>
                <a:r>
                  <a:rPr lang="en-US" altLang="zh-CN"/>
                  <a:t>messages</a:t>
                </a:r>
                <a:endParaRPr lang="en-US" altLang="zh-CN"/>
              </a:p>
            </p:txBody>
          </p:sp>
          <p:cxnSp>
            <p:nvCxnSpPr>
              <p:cNvPr id="56" name="直接箭头连接符 55"/>
              <p:cNvCxnSpPr/>
              <p:nvPr/>
            </p:nvCxnSpPr>
            <p:spPr>
              <a:xfrm flipV="1">
                <a:off x="7497" y="8571"/>
                <a:ext cx="5740" cy="1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7578" y="3095"/>
                <a:ext cx="5416" cy="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H="1" flipV="1">
                <a:off x="7436" y="3418"/>
                <a:ext cx="5639" cy="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flipH="1">
                <a:off x="7535" y="8876"/>
                <a:ext cx="5702" cy="1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8419" y="2464"/>
                <a:ext cx="2647" cy="580"/>
              </a:xfrm>
              <a:prstGeom prst="rect">
                <a:avLst/>
              </a:prstGeom>
              <a:noFill/>
            </p:spPr>
            <p:txBody>
              <a:bodyPr wrap="square" rtlCol="0">
                <a:spAutoFit/>
              </a:bodyPr>
              <a:p>
                <a:r>
                  <a:rPr lang="en-US" altLang="zh-CN"/>
                  <a:t>save &amp; lookup</a:t>
                </a:r>
                <a:endParaRPr lang="en-US" altLang="zh-CN"/>
              </a:p>
            </p:txBody>
          </p:sp>
          <p:sp>
            <p:nvSpPr>
              <p:cNvPr id="61" name="文本框 60"/>
              <p:cNvSpPr txBox="1"/>
              <p:nvPr/>
            </p:nvSpPr>
            <p:spPr>
              <a:xfrm>
                <a:off x="9288" y="8022"/>
                <a:ext cx="2647" cy="580"/>
              </a:xfrm>
              <a:prstGeom prst="rect">
                <a:avLst/>
              </a:prstGeom>
              <a:noFill/>
            </p:spPr>
            <p:txBody>
              <a:bodyPr wrap="square" rtlCol="0">
                <a:spAutoFit/>
              </a:bodyPr>
              <a:p>
                <a:r>
                  <a:rPr lang="en-US" altLang="zh-CN"/>
                  <a:t>save &amp; lookup</a:t>
                </a:r>
                <a:endParaRPr lang="en-US" altLang="zh-CN"/>
              </a:p>
            </p:txBody>
          </p:sp>
          <p:sp>
            <p:nvSpPr>
              <p:cNvPr id="62" name="文本框 61"/>
              <p:cNvSpPr txBox="1"/>
              <p:nvPr/>
            </p:nvSpPr>
            <p:spPr>
              <a:xfrm>
                <a:off x="14119" y="6344"/>
                <a:ext cx="1030" cy="580"/>
              </a:xfrm>
              <a:prstGeom prst="rect">
                <a:avLst/>
              </a:prstGeom>
              <a:noFill/>
            </p:spPr>
            <p:txBody>
              <a:bodyPr wrap="square" rtlCol="0">
                <a:spAutoFit/>
              </a:bodyPr>
              <a:p>
                <a:r>
                  <a:rPr lang="en-US" altLang="zh-CN"/>
                  <a:t>msgs</a:t>
                </a:r>
                <a:endParaRPr lang="en-US" altLang="zh-CN"/>
              </a:p>
            </p:txBody>
          </p:sp>
          <p:sp>
            <p:nvSpPr>
              <p:cNvPr id="63" name="文本框 62"/>
              <p:cNvSpPr txBox="1"/>
              <p:nvPr/>
            </p:nvSpPr>
            <p:spPr>
              <a:xfrm>
                <a:off x="9814" y="8951"/>
                <a:ext cx="1030" cy="580"/>
              </a:xfrm>
              <a:prstGeom prst="rect">
                <a:avLst/>
              </a:prstGeom>
              <a:noFill/>
            </p:spPr>
            <p:txBody>
              <a:bodyPr wrap="square" rtlCol="0">
                <a:spAutoFit/>
              </a:bodyPr>
              <a:p>
                <a:r>
                  <a:rPr lang="en-US" altLang="zh-CN"/>
                  <a:t>msgs</a:t>
                </a:r>
                <a:endParaRPr lang="en-US" altLang="zh-CN"/>
              </a:p>
            </p:txBody>
          </p:sp>
          <p:sp>
            <p:nvSpPr>
              <p:cNvPr id="64" name="文本框 63"/>
              <p:cNvSpPr txBox="1"/>
              <p:nvPr/>
            </p:nvSpPr>
            <p:spPr>
              <a:xfrm>
                <a:off x="10784" y="3252"/>
                <a:ext cx="1030" cy="580"/>
              </a:xfrm>
              <a:prstGeom prst="rect">
                <a:avLst/>
              </a:prstGeom>
              <a:noFill/>
            </p:spPr>
            <p:txBody>
              <a:bodyPr wrap="square" rtlCol="0">
                <a:spAutoFit/>
              </a:bodyPr>
              <a:p>
                <a:r>
                  <a:rPr lang="en-US" altLang="zh-CN"/>
                  <a:t>msgs</a:t>
                </a:r>
                <a:endParaRPr lang="en-US" altLang="zh-CN"/>
              </a:p>
            </p:txBody>
          </p:sp>
          <p:sp>
            <p:nvSpPr>
              <p:cNvPr id="67" name="文本框 66"/>
              <p:cNvSpPr txBox="1"/>
              <p:nvPr/>
            </p:nvSpPr>
            <p:spPr>
              <a:xfrm>
                <a:off x="13903" y="2722"/>
                <a:ext cx="3658" cy="1876"/>
              </a:xfrm>
              <a:prstGeom prst="rect">
                <a:avLst/>
              </a:prstGeom>
              <a:noFill/>
            </p:spPr>
            <p:txBody>
              <a:bodyPr wrap="square" rtlCol="0">
                <a:spAutoFit/>
              </a:bodyPr>
              <a:p>
                <a:r>
                  <a:rPr lang="en-US" altLang="zh-CN"/>
                  <a:t>the DB access traits for IM &amp; notification: </a:t>
                </a:r>
                <a:endParaRPr lang="en-US" altLang="zh-CN"/>
              </a:p>
              <a:p>
                <a:r>
                  <a:rPr lang="en-US" altLang="zh-CN" b="1"/>
                  <a:t>heavy write</a:t>
                </a:r>
                <a:endParaRPr lang="en-US" altLang="zh-CN" b="1"/>
              </a:p>
              <a:p>
                <a:r>
                  <a:rPr lang="en-US" altLang="zh-CN" b="1"/>
                  <a:t>light lookup</a:t>
                </a:r>
                <a:endParaRPr lang="en-US" altLang="zh-CN" b="1"/>
              </a:p>
            </p:txBody>
          </p:sp>
        </p:grpSp>
        <p:sp>
          <p:nvSpPr>
            <p:cNvPr id="70" name="文本框 69"/>
            <p:cNvSpPr txBox="1"/>
            <p:nvPr/>
          </p:nvSpPr>
          <p:spPr>
            <a:xfrm>
              <a:off x="4846" y="2446"/>
              <a:ext cx="2671" cy="580"/>
            </a:xfrm>
            <a:prstGeom prst="rect">
              <a:avLst/>
            </a:prstGeom>
            <a:noFill/>
          </p:spPr>
          <p:txBody>
            <a:bodyPr wrap="square" rtlCol="0">
              <a:spAutoFit/>
            </a:bodyPr>
            <a:p>
              <a:r>
                <a:rPr lang="en-US" altLang="zh-CN"/>
                <a:t>client broker</a:t>
              </a:r>
              <a:endParaRPr lang="en-US" altLang="zh-CN"/>
            </a:p>
          </p:txBody>
        </p:sp>
        <p:sp>
          <p:nvSpPr>
            <p:cNvPr id="5" name="文本框 4"/>
            <p:cNvSpPr txBox="1"/>
            <p:nvPr/>
          </p:nvSpPr>
          <p:spPr>
            <a:xfrm>
              <a:off x="5024" y="7079"/>
              <a:ext cx="2194" cy="580"/>
            </a:xfrm>
            <a:prstGeom prst="rect">
              <a:avLst/>
            </a:prstGeom>
            <a:noFill/>
          </p:spPr>
          <p:txBody>
            <a:bodyPr wrap="square" rtlCol="0">
              <a:spAutoFit/>
            </a:bodyPr>
            <a:p>
              <a:r>
                <a:rPr lang="en-US" altLang="zh-CN"/>
                <a:t>client broker</a:t>
              </a:r>
              <a:endParaRPr lang="en-US" altLang="zh-CN"/>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Redis Cluster inroduction</a:t>
            </a:r>
            <a:endParaRPr lang="en-US" altLang="zh-CN"/>
          </a:p>
        </p:txBody>
      </p:sp>
      <p:grpSp>
        <p:nvGrpSpPr>
          <p:cNvPr id="42" name="组合 41"/>
          <p:cNvGrpSpPr/>
          <p:nvPr/>
        </p:nvGrpSpPr>
        <p:grpSpPr>
          <a:xfrm>
            <a:off x="1024890" y="1408430"/>
            <a:ext cx="3749040" cy="4433570"/>
            <a:chOff x="2049" y="2964"/>
            <a:chExt cx="5904" cy="6982"/>
          </a:xfrm>
        </p:grpSpPr>
        <p:sp>
          <p:nvSpPr>
            <p:cNvPr id="4" name="椭圆 3"/>
            <p:cNvSpPr/>
            <p:nvPr/>
          </p:nvSpPr>
          <p:spPr>
            <a:xfrm>
              <a:off x="3085" y="2964"/>
              <a:ext cx="1408" cy="1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椭圆 4"/>
            <p:cNvSpPr/>
            <p:nvPr/>
          </p:nvSpPr>
          <p:spPr>
            <a:xfrm>
              <a:off x="5654" y="3048"/>
              <a:ext cx="1408" cy="1409"/>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en-US" altLang="zh-CN" sz="2400">
                  <a:solidFill>
                    <a:schemeClr val="tx1"/>
                  </a:solidFill>
                </a:rPr>
                <a:t>Fail?</a:t>
              </a:r>
              <a:endParaRPr lang="en-US" altLang="zh-CN" sz="2400">
                <a:solidFill>
                  <a:schemeClr val="tx1"/>
                </a:solidFill>
              </a:endParaRPr>
            </a:p>
          </p:txBody>
        </p:sp>
        <p:sp>
          <p:nvSpPr>
            <p:cNvPr id="6" name="椭圆 5"/>
            <p:cNvSpPr/>
            <p:nvPr/>
          </p:nvSpPr>
          <p:spPr>
            <a:xfrm>
              <a:off x="6545" y="5202"/>
              <a:ext cx="1408" cy="140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a:solidFill>
                    <a:schemeClr val="tx1"/>
                  </a:solidFill>
                </a:rPr>
                <a:t>Fail!</a:t>
              </a:r>
              <a:endParaRPr lang="en-US" altLang="zh-CN" sz="2400">
                <a:solidFill>
                  <a:schemeClr val="tx1"/>
                </a:solidFill>
              </a:endParaRPr>
            </a:p>
          </p:txBody>
        </p:sp>
        <p:sp>
          <p:nvSpPr>
            <p:cNvPr id="7" name="椭圆 6"/>
            <p:cNvSpPr/>
            <p:nvPr/>
          </p:nvSpPr>
          <p:spPr>
            <a:xfrm>
              <a:off x="2279" y="5202"/>
              <a:ext cx="1408" cy="1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nvSpPr>
          <p:spPr>
            <a:xfrm>
              <a:off x="4288" y="6797"/>
              <a:ext cx="1408" cy="1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9" name="直接箭头连接符 8"/>
            <p:cNvCxnSpPr>
              <a:stCxn id="7" idx="0"/>
              <a:endCxn id="4" idx="3"/>
            </p:cNvCxnSpPr>
            <p:nvPr/>
          </p:nvCxnSpPr>
          <p:spPr>
            <a:xfrm flipV="1">
              <a:off x="2983" y="4167"/>
              <a:ext cx="308" cy="10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4" idx="4"/>
              <a:endCxn id="7" idx="7"/>
            </p:cNvCxnSpPr>
            <p:nvPr/>
          </p:nvCxnSpPr>
          <p:spPr>
            <a:xfrm flipH="1">
              <a:off x="3481" y="4373"/>
              <a:ext cx="308" cy="10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endCxn id="5" idx="2"/>
            </p:cNvCxnSpPr>
            <p:nvPr/>
          </p:nvCxnSpPr>
          <p:spPr>
            <a:xfrm flipV="1">
              <a:off x="3520" y="3753"/>
              <a:ext cx="2134" cy="1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5" idx="3"/>
              <a:endCxn id="7" idx="6"/>
            </p:cNvCxnSpPr>
            <p:nvPr/>
          </p:nvCxnSpPr>
          <p:spPr>
            <a:xfrm flipH="1">
              <a:off x="3687" y="4251"/>
              <a:ext cx="2173" cy="16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7" idx="6"/>
              <a:endCxn id="8" idx="0"/>
            </p:cNvCxnSpPr>
            <p:nvPr/>
          </p:nvCxnSpPr>
          <p:spPr>
            <a:xfrm>
              <a:off x="3687" y="5907"/>
              <a:ext cx="1305" cy="8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8" idx="1"/>
              <a:endCxn id="7" idx="5"/>
            </p:cNvCxnSpPr>
            <p:nvPr/>
          </p:nvCxnSpPr>
          <p:spPr>
            <a:xfrm flipH="1" flipV="1">
              <a:off x="3481" y="6405"/>
              <a:ext cx="1013" cy="5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5" idx="5"/>
              <a:endCxn id="6" idx="0"/>
            </p:cNvCxnSpPr>
            <p:nvPr/>
          </p:nvCxnSpPr>
          <p:spPr>
            <a:xfrm>
              <a:off x="6856" y="4251"/>
              <a:ext cx="393" cy="9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6" idx="1"/>
              <a:endCxn id="5" idx="4"/>
            </p:cNvCxnSpPr>
            <p:nvPr/>
          </p:nvCxnSpPr>
          <p:spPr>
            <a:xfrm flipH="1" flipV="1">
              <a:off x="6358" y="4457"/>
              <a:ext cx="393" cy="9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4" idx="5"/>
              <a:endCxn id="6" idx="1"/>
            </p:cNvCxnSpPr>
            <p:nvPr/>
          </p:nvCxnSpPr>
          <p:spPr>
            <a:xfrm>
              <a:off x="4287" y="4167"/>
              <a:ext cx="2464" cy="1241"/>
            </a:xfrm>
            <a:prstGeom prst="straightConnector1">
              <a:avLst/>
            </a:prstGeom>
            <a:ln>
              <a:tailEnd type="arrow" w="med" len="med"/>
            </a:ln>
          </p:spPr>
          <p:style>
            <a:lnRef idx="3">
              <a:schemeClr val="accent4"/>
            </a:lnRef>
            <a:fillRef idx="0">
              <a:schemeClr val="accent4"/>
            </a:fillRef>
            <a:effectRef idx="2">
              <a:schemeClr val="accent4"/>
            </a:effectRef>
            <a:fontRef idx="minor">
              <a:schemeClr val="tx1"/>
            </a:fontRef>
          </p:style>
        </p:cxnSp>
        <p:cxnSp>
          <p:nvCxnSpPr>
            <p:cNvPr id="19" name="直接箭头连接符 18"/>
            <p:cNvCxnSpPr>
              <a:stCxn id="6" idx="2"/>
              <a:endCxn id="4" idx="4"/>
            </p:cNvCxnSpPr>
            <p:nvPr/>
          </p:nvCxnSpPr>
          <p:spPr>
            <a:xfrm flipH="1" flipV="1">
              <a:off x="3789" y="4373"/>
              <a:ext cx="2756" cy="15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4992" y="5906"/>
              <a:ext cx="1552" cy="912"/>
            </a:xfrm>
            <a:prstGeom prst="straightConnector1">
              <a:avLst/>
            </a:prstGeom>
            <a:ln>
              <a:tailEnd type="arrow" w="med" len="med"/>
            </a:ln>
          </p:spPr>
          <p:style>
            <a:lnRef idx="3">
              <a:schemeClr val="accent4"/>
            </a:lnRef>
            <a:fillRef idx="0">
              <a:schemeClr val="accent4"/>
            </a:fillRef>
            <a:effectRef idx="2">
              <a:schemeClr val="accent4"/>
            </a:effectRef>
            <a:fontRef idx="minor">
              <a:schemeClr val="tx1"/>
            </a:fontRef>
          </p:style>
        </p:cxnSp>
        <p:cxnSp>
          <p:nvCxnSpPr>
            <p:cNvPr id="21" name="直接箭头连接符 20"/>
            <p:cNvCxnSpPr>
              <a:stCxn id="6" idx="3"/>
            </p:cNvCxnSpPr>
            <p:nvPr/>
          </p:nvCxnSpPr>
          <p:spPr>
            <a:xfrm flipH="1">
              <a:off x="5280" y="6405"/>
              <a:ext cx="1471" cy="66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8" idx="0"/>
            </p:cNvCxnSpPr>
            <p:nvPr/>
          </p:nvCxnSpPr>
          <p:spPr>
            <a:xfrm flipV="1">
              <a:off x="4992" y="4332"/>
              <a:ext cx="848" cy="24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5425" y="4498"/>
              <a:ext cx="953" cy="25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7" idx="6"/>
            </p:cNvCxnSpPr>
            <p:nvPr/>
          </p:nvCxnSpPr>
          <p:spPr>
            <a:xfrm flipH="1">
              <a:off x="3687" y="5885"/>
              <a:ext cx="2815" cy="22"/>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H="1">
              <a:off x="3251" y="5430"/>
              <a:ext cx="3479" cy="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H="1" flipV="1">
              <a:off x="4473" y="4001"/>
              <a:ext cx="994" cy="30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4121" y="4332"/>
              <a:ext cx="642" cy="26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4" idx="6"/>
            </p:cNvCxnSpPr>
            <p:nvPr/>
          </p:nvCxnSpPr>
          <p:spPr>
            <a:xfrm>
              <a:off x="4493" y="3669"/>
              <a:ext cx="1119" cy="83"/>
            </a:xfrm>
            <a:prstGeom prst="straightConnector1">
              <a:avLst/>
            </a:prstGeom>
            <a:ln>
              <a:tailEnd type="arrow" w="med" len="med"/>
            </a:ln>
          </p:spPr>
          <p:style>
            <a:lnRef idx="3">
              <a:schemeClr val="accent4"/>
            </a:lnRef>
            <a:fillRef idx="0">
              <a:schemeClr val="accent4"/>
            </a:fillRef>
            <a:effectRef idx="2">
              <a:schemeClr val="accent4"/>
            </a:effectRef>
            <a:fontRef idx="minor">
              <a:schemeClr val="tx1"/>
            </a:fontRef>
          </p:style>
        </p:cxnSp>
        <p:cxnSp>
          <p:nvCxnSpPr>
            <p:cNvPr id="31" name="直接箭头连接符 30"/>
            <p:cNvCxnSpPr>
              <a:stCxn id="5" idx="1"/>
              <a:endCxn id="4" idx="7"/>
            </p:cNvCxnSpPr>
            <p:nvPr/>
          </p:nvCxnSpPr>
          <p:spPr>
            <a:xfrm flipH="1" flipV="1">
              <a:off x="4287" y="3170"/>
              <a:ext cx="1573" cy="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圆角矩形 31"/>
            <p:cNvSpPr/>
            <p:nvPr/>
          </p:nvSpPr>
          <p:spPr>
            <a:xfrm>
              <a:off x="2049" y="8868"/>
              <a:ext cx="1802" cy="1056"/>
            </a:xfrm>
            <a:prstGeom prst="roundRect">
              <a:avLst/>
            </a:prstGeom>
          </p:spPr>
          <p:style>
            <a:lnRef idx="3">
              <a:schemeClr val="lt1"/>
            </a:lnRef>
            <a:fillRef idx="1">
              <a:schemeClr val="accent6"/>
            </a:fillRef>
            <a:effectRef idx="1">
              <a:schemeClr val="accent6"/>
            </a:effectRef>
            <a:fontRef idx="minor">
              <a:schemeClr val="lt1"/>
            </a:fontRef>
          </p:style>
          <p:txBody>
            <a:bodyPr rtlCol="0" anchor="ctr"/>
            <a:p>
              <a:pPr algn="ctr"/>
              <a:r>
                <a:rPr lang="en-US" altLang="zh-CN" sz="2400" b="1"/>
                <a:t>Client</a:t>
              </a:r>
              <a:endParaRPr lang="en-US" altLang="zh-CN" sz="2400" b="1"/>
            </a:p>
          </p:txBody>
        </p:sp>
        <p:sp>
          <p:nvSpPr>
            <p:cNvPr id="33" name="圆角矩形 32"/>
            <p:cNvSpPr/>
            <p:nvPr/>
          </p:nvSpPr>
          <p:spPr>
            <a:xfrm>
              <a:off x="5508" y="8890"/>
              <a:ext cx="1802" cy="1056"/>
            </a:xfrm>
            <a:prstGeom prst="roundRect">
              <a:avLst/>
            </a:prstGeom>
          </p:spPr>
          <p:style>
            <a:lnRef idx="3">
              <a:schemeClr val="lt1"/>
            </a:lnRef>
            <a:fillRef idx="1">
              <a:schemeClr val="accent6"/>
            </a:fillRef>
            <a:effectRef idx="1">
              <a:schemeClr val="accent6"/>
            </a:effectRef>
            <a:fontRef idx="minor">
              <a:schemeClr val="lt1"/>
            </a:fontRef>
          </p:style>
          <p:txBody>
            <a:bodyPr rtlCol="0" anchor="ctr"/>
            <a:p>
              <a:pPr algn="ctr"/>
              <a:r>
                <a:rPr lang="en-US" altLang="zh-CN" sz="2400" b="1">
                  <a:sym typeface="+mn-ea"/>
                </a:rPr>
                <a:t>Client</a:t>
              </a:r>
              <a:endParaRPr lang="en-US" altLang="zh-CN" sz="2400" b="1">
                <a:sym typeface="+mn-ea"/>
              </a:endParaRPr>
            </a:p>
          </p:txBody>
        </p:sp>
        <p:cxnSp>
          <p:nvCxnSpPr>
            <p:cNvPr id="34" name="直接箭头连接符 33"/>
            <p:cNvCxnSpPr/>
            <p:nvPr/>
          </p:nvCxnSpPr>
          <p:spPr>
            <a:xfrm flipV="1">
              <a:off x="2754" y="6755"/>
              <a:ext cx="165" cy="21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H="1" flipV="1">
              <a:off x="5591" y="7853"/>
              <a:ext cx="663" cy="9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32" idx="0"/>
              <a:endCxn id="8" idx="3"/>
            </p:cNvCxnSpPr>
            <p:nvPr/>
          </p:nvCxnSpPr>
          <p:spPr>
            <a:xfrm flipV="1">
              <a:off x="2950" y="8000"/>
              <a:ext cx="1544" cy="8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endCxn id="6" idx="4"/>
            </p:cNvCxnSpPr>
            <p:nvPr/>
          </p:nvCxnSpPr>
          <p:spPr>
            <a:xfrm flipV="1">
              <a:off x="7103" y="6611"/>
              <a:ext cx="146" cy="23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33" idx="1"/>
            </p:cNvCxnSpPr>
            <p:nvPr/>
          </p:nvCxnSpPr>
          <p:spPr>
            <a:xfrm flipH="1" flipV="1">
              <a:off x="3106" y="6900"/>
              <a:ext cx="2402" cy="25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43" name="内容占位符 42"/>
          <p:cNvSpPr>
            <a:spLocks noGrp="1"/>
          </p:cNvSpPr>
          <p:nvPr>
            <p:ph idx="1"/>
          </p:nvPr>
        </p:nvSpPr>
        <p:spPr>
          <a:xfrm>
            <a:off x="5257165" y="1483360"/>
            <a:ext cx="6096635" cy="4693920"/>
          </a:xfrm>
        </p:spPr>
        <p:txBody>
          <a:bodyPr>
            <a:normAutofit/>
          </a:bodyPr>
          <a:p>
            <a:pPr marL="514350" indent="-514350">
              <a:buAutoNum type="arabicPeriod"/>
            </a:pPr>
            <a:r>
              <a:rPr lang="en-US" altLang="zh-CN"/>
              <a:t>All redis servers are connected with each others </a:t>
            </a:r>
            <a:r>
              <a:rPr lang="en-US" altLang="zh-CN">
                <a:sym typeface="+mn-ea"/>
              </a:rPr>
              <a:t>within a cluster.</a:t>
            </a:r>
            <a:endParaRPr lang="en-US" altLang="zh-CN">
              <a:sym typeface="+mn-ea"/>
            </a:endParaRPr>
          </a:p>
          <a:p>
            <a:pPr marL="514350" indent="-514350">
              <a:buAutoNum type="arabicPeriod"/>
            </a:pPr>
            <a:r>
              <a:rPr lang="en-US" altLang="zh-CN"/>
              <a:t>Slave-master election, tolerates half failure servers</a:t>
            </a:r>
            <a:endParaRPr lang="en-US" altLang="zh-CN"/>
          </a:p>
          <a:p>
            <a:pPr marL="514350" indent="-514350">
              <a:buAutoNum type="arabicPeriod"/>
            </a:pPr>
            <a:r>
              <a:rPr lang="en-US" altLang="zh-CN"/>
              <a:t>Client can connect with any node in the cluster.</a:t>
            </a:r>
            <a:endParaRPr lang="en-US" altLang="zh-CN"/>
          </a:p>
          <a:p>
            <a:pPr marL="514350" indent="-514350">
              <a:buAutoNum type="arabicPeriod"/>
            </a:pPr>
            <a:r>
              <a:rPr lang="en-US" altLang="zh-CN"/>
              <a:t>High IOPS (8K IOPS per node)</a:t>
            </a:r>
            <a:endParaRPr lang="en-US" altLang="zh-CN"/>
          </a:p>
          <a:p>
            <a:pPr marL="514350" indent="-514350">
              <a:buAutoNum type="arabicPeriod"/>
            </a:pPr>
            <a:r>
              <a:rPr lang="en-US" altLang="zh-CN">
                <a:sym typeface="+mn-ea"/>
              </a:rPr>
              <a:t>Hot sharding</a:t>
            </a:r>
            <a:endParaRPr lang="en-US" altLang="zh-CN"/>
          </a:p>
          <a:p>
            <a:pPr marL="514350" indent="-514350">
              <a:buAutoNum type="arabicPeriod"/>
            </a:pPr>
            <a:r>
              <a:rPr lang="en-US" altLang="zh-CN"/>
              <a:t>Subscription &amp; publication service</a:t>
            </a:r>
            <a:endParaRPr lang="en-US" altLang="zh-CN"/>
          </a:p>
          <a:p>
            <a:pPr marL="514350" indent="-514350">
              <a:buAutoNum type="arabicPeriod"/>
            </a:pPr>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92430" y="336550"/>
            <a:ext cx="11306175" cy="1325880"/>
          </a:xfrm>
        </p:spPr>
        <p:txBody>
          <a:bodyPr>
            <a:normAutofit fontScale="90000"/>
          </a:bodyPr>
          <a:p>
            <a:r>
              <a:rPr lang="en-US" altLang="zh-CN">
                <a:sym typeface="+mn-ea"/>
              </a:rPr>
              <a:t>IBM IM notification broker - redis + kafka cluster mode</a:t>
            </a:r>
            <a:endParaRPr lang="zh-CN" altLang="en-US"/>
          </a:p>
        </p:txBody>
      </p:sp>
      <p:sp>
        <p:nvSpPr>
          <p:cNvPr id="12" name="文本框 11"/>
          <p:cNvSpPr txBox="1"/>
          <p:nvPr/>
        </p:nvSpPr>
        <p:spPr>
          <a:xfrm>
            <a:off x="9452610" y="3423920"/>
            <a:ext cx="1294130" cy="642620"/>
          </a:xfrm>
          <a:prstGeom prst="rect">
            <a:avLst/>
          </a:prstGeom>
          <a:solidFill>
            <a:schemeClr val="accent1">
              <a:lumMod val="50000"/>
            </a:schemeClr>
          </a:solidFill>
        </p:spPr>
        <p:txBody>
          <a:bodyPr wrap="square" rtlCol="0">
            <a:spAutoFit/>
          </a:bodyPr>
          <a:p>
            <a:pPr algn="ctr"/>
            <a:r>
              <a:rPr lang="en-US" altLang="zh-CN">
                <a:solidFill>
                  <a:schemeClr val="bg1"/>
                </a:solidFill>
              </a:rPr>
              <a:t>key-value</a:t>
            </a:r>
            <a:endParaRPr lang="en-US" altLang="zh-CN">
              <a:solidFill>
                <a:schemeClr val="bg1"/>
              </a:solidFill>
            </a:endParaRPr>
          </a:p>
          <a:p>
            <a:pPr algn="ctr"/>
            <a:r>
              <a:rPr lang="en-US" altLang="zh-CN">
                <a:solidFill>
                  <a:schemeClr val="bg1"/>
                </a:solidFill>
              </a:rPr>
              <a:t>store</a:t>
            </a:r>
            <a:endParaRPr lang="en-US" altLang="zh-CN">
              <a:solidFill>
                <a:schemeClr val="bg1"/>
              </a:solidFill>
            </a:endParaRPr>
          </a:p>
        </p:txBody>
      </p:sp>
      <p:sp>
        <p:nvSpPr>
          <p:cNvPr id="11" name="文本框 10"/>
          <p:cNvSpPr txBox="1"/>
          <p:nvPr/>
        </p:nvSpPr>
        <p:spPr>
          <a:xfrm>
            <a:off x="2138680" y="1983105"/>
            <a:ext cx="1706245" cy="916940"/>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32" name="文本框 31"/>
          <p:cNvSpPr txBox="1"/>
          <p:nvPr/>
        </p:nvSpPr>
        <p:spPr>
          <a:xfrm>
            <a:off x="2164080" y="4881880"/>
            <a:ext cx="1706245" cy="916940"/>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45" name="文本框 44"/>
          <p:cNvSpPr txBox="1"/>
          <p:nvPr/>
        </p:nvSpPr>
        <p:spPr>
          <a:xfrm>
            <a:off x="2459990" y="3453765"/>
            <a:ext cx="988060" cy="583565"/>
          </a:xfrm>
          <a:prstGeom prst="rect">
            <a:avLst/>
          </a:prstGeom>
          <a:noFill/>
        </p:spPr>
        <p:txBody>
          <a:bodyPr wrap="square" rtlCol="0">
            <a:spAutoFit/>
          </a:bodyPr>
          <a:p>
            <a:pPr algn="ctr"/>
            <a:r>
              <a:rPr lang="en-US" altLang="zh-CN" sz="3200"/>
              <a:t>... ...</a:t>
            </a:r>
            <a:endParaRPr lang="en-US" altLang="zh-CN" sz="3200"/>
          </a:p>
        </p:txBody>
      </p:sp>
      <p:sp>
        <p:nvSpPr>
          <p:cNvPr id="46" name="文本框 45"/>
          <p:cNvSpPr txBox="1"/>
          <p:nvPr/>
        </p:nvSpPr>
        <p:spPr>
          <a:xfrm>
            <a:off x="4028440" y="3354705"/>
            <a:ext cx="1706245" cy="642620"/>
          </a:xfrm>
          <a:prstGeom prst="rect">
            <a:avLst/>
          </a:prstGeom>
          <a:solidFill>
            <a:schemeClr val="accent6">
              <a:lumMod val="60000"/>
              <a:lumOff val="40000"/>
            </a:schemeClr>
          </a:solidFill>
        </p:spPr>
        <p:txBody>
          <a:bodyPr wrap="square" rtlCol="0">
            <a:spAutoFit/>
          </a:bodyPr>
          <a:p>
            <a:pPr algn="ctr"/>
            <a:r>
              <a:rPr lang="en-US" altLang="zh-CN"/>
              <a:t>redis</a:t>
            </a:r>
            <a:br>
              <a:rPr lang="en-US" altLang="zh-CN"/>
            </a:br>
            <a:r>
              <a:rPr lang="en-US" altLang="zh-CN"/>
              <a:t>cluster </a:t>
            </a:r>
            <a:endParaRPr lang="en-US" altLang="zh-CN"/>
          </a:p>
        </p:txBody>
      </p:sp>
      <p:cxnSp>
        <p:nvCxnSpPr>
          <p:cNvPr id="47" name="直接箭头连接符 46"/>
          <p:cNvCxnSpPr/>
          <p:nvPr/>
        </p:nvCxnSpPr>
        <p:spPr>
          <a:xfrm flipV="1">
            <a:off x="3884295" y="3999865"/>
            <a:ext cx="988695" cy="1028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H="1">
            <a:off x="3871595" y="4274820"/>
            <a:ext cx="1309370" cy="12452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rot="18900000">
            <a:off x="3563620" y="4095115"/>
            <a:ext cx="1231265" cy="368300"/>
          </a:xfrm>
          <a:prstGeom prst="rect">
            <a:avLst/>
          </a:prstGeom>
          <a:noFill/>
        </p:spPr>
        <p:txBody>
          <a:bodyPr wrap="square" rtlCol="0">
            <a:spAutoFit/>
          </a:bodyPr>
          <a:p>
            <a:pPr algn="ctr"/>
            <a:r>
              <a:rPr lang="en-US" altLang="zh-CN"/>
              <a:t>subscript</a:t>
            </a:r>
            <a:endParaRPr lang="en-US" altLang="zh-CN"/>
          </a:p>
        </p:txBody>
      </p:sp>
      <p:sp>
        <p:nvSpPr>
          <p:cNvPr id="51" name="文本框 50"/>
          <p:cNvSpPr txBox="1"/>
          <p:nvPr/>
        </p:nvSpPr>
        <p:spPr>
          <a:xfrm rot="18900000">
            <a:off x="3832860" y="4506595"/>
            <a:ext cx="1231265" cy="368300"/>
          </a:xfrm>
          <a:prstGeom prst="rect">
            <a:avLst/>
          </a:prstGeom>
          <a:noFill/>
        </p:spPr>
        <p:txBody>
          <a:bodyPr wrap="square" rtlCol="0">
            <a:spAutoFit/>
          </a:bodyPr>
          <a:p>
            <a:pPr algn="ctr"/>
            <a:r>
              <a:rPr lang="en-US" altLang="zh-CN"/>
              <a:t>messages</a:t>
            </a:r>
            <a:endParaRPr lang="en-US" altLang="zh-CN"/>
          </a:p>
        </p:txBody>
      </p:sp>
      <p:cxnSp>
        <p:nvCxnSpPr>
          <p:cNvPr id="52" name="直接箭头连接符 51"/>
          <p:cNvCxnSpPr/>
          <p:nvPr/>
        </p:nvCxnSpPr>
        <p:spPr>
          <a:xfrm flipH="1" flipV="1">
            <a:off x="3846195" y="2170430"/>
            <a:ext cx="1911985" cy="11233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3807460" y="2671445"/>
            <a:ext cx="1129665" cy="6667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rot="1920000">
            <a:off x="3845560" y="2658110"/>
            <a:ext cx="1231265" cy="368300"/>
          </a:xfrm>
          <a:prstGeom prst="rect">
            <a:avLst/>
          </a:prstGeom>
          <a:noFill/>
        </p:spPr>
        <p:txBody>
          <a:bodyPr wrap="square" rtlCol="0">
            <a:spAutoFit/>
          </a:bodyPr>
          <a:p>
            <a:pPr algn="ctr"/>
            <a:r>
              <a:rPr lang="en-US" altLang="zh-CN"/>
              <a:t>subscript</a:t>
            </a:r>
            <a:endParaRPr lang="en-US" altLang="zh-CN"/>
          </a:p>
        </p:txBody>
      </p:sp>
      <p:sp>
        <p:nvSpPr>
          <p:cNvPr id="55" name="文本框 54"/>
          <p:cNvSpPr txBox="1"/>
          <p:nvPr/>
        </p:nvSpPr>
        <p:spPr>
          <a:xfrm rot="1800000">
            <a:off x="4128135" y="2312035"/>
            <a:ext cx="1231265" cy="368300"/>
          </a:xfrm>
          <a:prstGeom prst="rect">
            <a:avLst/>
          </a:prstGeom>
          <a:noFill/>
        </p:spPr>
        <p:txBody>
          <a:bodyPr wrap="square" rtlCol="0">
            <a:spAutoFit/>
          </a:bodyPr>
          <a:p>
            <a:pPr algn="ctr"/>
            <a:r>
              <a:rPr lang="en-US" altLang="zh-CN"/>
              <a:t>messages</a:t>
            </a:r>
            <a:endParaRPr lang="en-US" altLang="zh-CN"/>
          </a:p>
        </p:txBody>
      </p:sp>
      <p:sp>
        <p:nvSpPr>
          <p:cNvPr id="61" name="文本框 60"/>
          <p:cNvSpPr txBox="1"/>
          <p:nvPr/>
        </p:nvSpPr>
        <p:spPr>
          <a:xfrm>
            <a:off x="4325620" y="5106670"/>
            <a:ext cx="2193290" cy="368300"/>
          </a:xfrm>
          <a:prstGeom prst="rect">
            <a:avLst/>
          </a:prstGeom>
          <a:noFill/>
        </p:spPr>
        <p:txBody>
          <a:bodyPr wrap="square" rtlCol="0">
            <a:spAutoFit/>
          </a:bodyPr>
          <a:p>
            <a:r>
              <a:rPr lang="en-US" altLang="zh-CN"/>
              <a:t>req RPC message</a:t>
            </a:r>
            <a:endParaRPr lang="en-US" altLang="zh-CN"/>
          </a:p>
        </p:txBody>
      </p:sp>
      <p:sp>
        <p:nvSpPr>
          <p:cNvPr id="5" name="文本框 4"/>
          <p:cNvSpPr txBox="1"/>
          <p:nvPr/>
        </p:nvSpPr>
        <p:spPr>
          <a:xfrm>
            <a:off x="7614920" y="4737735"/>
            <a:ext cx="1706245" cy="916940"/>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6" name="文本框 5"/>
          <p:cNvSpPr txBox="1"/>
          <p:nvPr/>
        </p:nvSpPr>
        <p:spPr>
          <a:xfrm>
            <a:off x="6345555" y="1953895"/>
            <a:ext cx="551815" cy="3706495"/>
          </a:xfrm>
          <a:prstGeom prst="rect">
            <a:avLst/>
          </a:prstGeom>
          <a:solidFill>
            <a:schemeClr val="accent6">
              <a:lumMod val="40000"/>
              <a:lumOff val="60000"/>
            </a:schemeClr>
          </a:solidFill>
        </p:spPr>
        <p:txBody>
          <a:bodyPr vert="eaVert" wrap="square" rtlCol="0">
            <a:spAutoFit/>
          </a:bodyPr>
          <a:p>
            <a:pPr algn="ctr"/>
            <a:r>
              <a:rPr lang="en-US" altLang="zh-CN" sz="2400" b="1"/>
              <a:t>kafka cluster</a:t>
            </a:r>
            <a:endParaRPr lang="en-US" altLang="zh-CN" sz="2400" b="1"/>
          </a:p>
        </p:txBody>
      </p:sp>
      <p:sp>
        <p:nvSpPr>
          <p:cNvPr id="7" name="文本框 6"/>
          <p:cNvSpPr txBox="1"/>
          <p:nvPr/>
        </p:nvSpPr>
        <p:spPr>
          <a:xfrm>
            <a:off x="671830" y="2007235"/>
            <a:ext cx="936625" cy="916940"/>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sp>
        <p:nvSpPr>
          <p:cNvPr id="8" name="文本框 7"/>
          <p:cNvSpPr txBox="1"/>
          <p:nvPr/>
        </p:nvSpPr>
        <p:spPr>
          <a:xfrm>
            <a:off x="670560" y="4847590"/>
            <a:ext cx="936625" cy="916940"/>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cxnSp>
        <p:nvCxnSpPr>
          <p:cNvPr id="10" name="直接箭头连接符 9"/>
          <p:cNvCxnSpPr>
            <a:stCxn id="7" idx="3"/>
            <a:endCxn id="11" idx="1"/>
          </p:cNvCxnSpPr>
          <p:nvPr/>
        </p:nvCxnSpPr>
        <p:spPr>
          <a:xfrm flipV="1">
            <a:off x="1621155" y="2441575"/>
            <a:ext cx="530225" cy="241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8" idx="3"/>
            <a:endCxn id="32" idx="1"/>
          </p:cNvCxnSpPr>
          <p:nvPr/>
        </p:nvCxnSpPr>
        <p:spPr>
          <a:xfrm>
            <a:off x="1619885" y="5306060"/>
            <a:ext cx="556895" cy="342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595755" y="2132965"/>
            <a:ext cx="605790" cy="368300"/>
          </a:xfrm>
          <a:prstGeom prst="rect">
            <a:avLst/>
          </a:prstGeom>
          <a:noFill/>
        </p:spPr>
        <p:txBody>
          <a:bodyPr wrap="square" rtlCol="0">
            <a:spAutoFit/>
          </a:bodyPr>
          <a:p>
            <a:r>
              <a:rPr lang="en-US" altLang="zh-CN"/>
              <a:t>req</a:t>
            </a:r>
            <a:endParaRPr lang="en-US" altLang="zh-CN"/>
          </a:p>
        </p:txBody>
      </p:sp>
      <p:sp>
        <p:nvSpPr>
          <p:cNvPr id="16" name="文本框 15"/>
          <p:cNvSpPr txBox="1"/>
          <p:nvPr/>
        </p:nvSpPr>
        <p:spPr>
          <a:xfrm>
            <a:off x="1569720" y="4908550"/>
            <a:ext cx="605790" cy="368300"/>
          </a:xfrm>
          <a:prstGeom prst="rect">
            <a:avLst/>
          </a:prstGeom>
          <a:noFill/>
        </p:spPr>
        <p:txBody>
          <a:bodyPr wrap="square" rtlCol="0">
            <a:spAutoFit/>
          </a:bodyPr>
          <a:p>
            <a:r>
              <a:rPr lang="en-US" altLang="zh-CN"/>
              <a:t>req</a:t>
            </a:r>
            <a:endParaRPr lang="en-US" altLang="zh-CN"/>
          </a:p>
        </p:txBody>
      </p:sp>
      <p:sp>
        <p:nvSpPr>
          <p:cNvPr id="17" name="文本框 16"/>
          <p:cNvSpPr txBox="1"/>
          <p:nvPr/>
        </p:nvSpPr>
        <p:spPr>
          <a:xfrm>
            <a:off x="2197100" y="4469130"/>
            <a:ext cx="1471295" cy="368300"/>
          </a:xfrm>
          <a:prstGeom prst="rect">
            <a:avLst/>
          </a:prstGeom>
          <a:noFill/>
        </p:spPr>
        <p:txBody>
          <a:bodyPr wrap="square" rtlCol="0">
            <a:spAutoFit/>
          </a:bodyPr>
          <a:p>
            <a:r>
              <a:rPr lang="en-US" altLang="zh-CN"/>
              <a:t>client broker</a:t>
            </a:r>
            <a:endParaRPr lang="en-US" altLang="zh-CN"/>
          </a:p>
        </p:txBody>
      </p:sp>
      <p:sp>
        <p:nvSpPr>
          <p:cNvPr id="19" name="文本框 18"/>
          <p:cNvSpPr txBox="1"/>
          <p:nvPr/>
        </p:nvSpPr>
        <p:spPr>
          <a:xfrm>
            <a:off x="2130425" y="5902325"/>
            <a:ext cx="1788795" cy="398780"/>
          </a:xfrm>
          <a:prstGeom prst="rect">
            <a:avLst/>
          </a:prstGeom>
          <a:noFill/>
        </p:spPr>
        <p:txBody>
          <a:bodyPr wrap="square" rtlCol="0">
            <a:spAutoFit/>
          </a:bodyPr>
          <a:p>
            <a:r>
              <a:rPr lang="en-US" altLang="zh-CN" sz="2000" b="1" i="1"/>
              <a:t>kafka producer</a:t>
            </a:r>
            <a:endParaRPr lang="en-US" altLang="zh-CN" sz="2000" b="1" i="1"/>
          </a:p>
        </p:txBody>
      </p:sp>
      <p:sp>
        <p:nvSpPr>
          <p:cNvPr id="25" name="文本框 24"/>
          <p:cNvSpPr txBox="1"/>
          <p:nvPr/>
        </p:nvSpPr>
        <p:spPr>
          <a:xfrm>
            <a:off x="2157730" y="1588770"/>
            <a:ext cx="1471295" cy="368300"/>
          </a:xfrm>
          <a:prstGeom prst="rect">
            <a:avLst/>
          </a:prstGeom>
          <a:noFill/>
        </p:spPr>
        <p:txBody>
          <a:bodyPr wrap="square" rtlCol="0">
            <a:spAutoFit/>
          </a:bodyPr>
          <a:p>
            <a:r>
              <a:rPr lang="en-US" altLang="zh-CN"/>
              <a:t>client broker</a:t>
            </a:r>
            <a:endParaRPr lang="en-US" altLang="zh-CN"/>
          </a:p>
        </p:txBody>
      </p:sp>
      <p:sp>
        <p:nvSpPr>
          <p:cNvPr id="34" name="文本框 33"/>
          <p:cNvSpPr txBox="1"/>
          <p:nvPr/>
        </p:nvSpPr>
        <p:spPr>
          <a:xfrm>
            <a:off x="4246880" y="1661160"/>
            <a:ext cx="2193290" cy="368300"/>
          </a:xfrm>
          <a:prstGeom prst="rect">
            <a:avLst/>
          </a:prstGeom>
          <a:noFill/>
        </p:spPr>
        <p:txBody>
          <a:bodyPr wrap="square" rtlCol="0">
            <a:spAutoFit/>
          </a:bodyPr>
          <a:p>
            <a:r>
              <a:rPr lang="en-US" altLang="zh-CN"/>
              <a:t>req RPC message</a:t>
            </a:r>
            <a:endParaRPr lang="en-US" altLang="zh-CN"/>
          </a:p>
        </p:txBody>
      </p:sp>
      <p:cxnSp>
        <p:nvCxnSpPr>
          <p:cNvPr id="44" name="直接箭头连接符 43"/>
          <p:cNvCxnSpPr/>
          <p:nvPr/>
        </p:nvCxnSpPr>
        <p:spPr>
          <a:xfrm flipV="1">
            <a:off x="3832860" y="2093595"/>
            <a:ext cx="2614295" cy="190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091055" y="2929890"/>
            <a:ext cx="1788795" cy="398780"/>
          </a:xfrm>
          <a:prstGeom prst="rect">
            <a:avLst/>
          </a:prstGeom>
          <a:noFill/>
        </p:spPr>
        <p:txBody>
          <a:bodyPr wrap="square" rtlCol="0">
            <a:spAutoFit/>
          </a:bodyPr>
          <a:p>
            <a:pPr algn="ctr"/>
            <a:r>
              <a:rPr lang="en-US" altLang="zh-CN" sz="2000" b="1" i="1"/>
              <a:t>kafka producer</a:t>
            </a:r>
            <a:endParaRPr lang="en-US" altLang="zh-CN" sz="2000" b="1" i="1"/>
          </a:p>
        </p:txBody>
      </p:sp>
      <p:sp>
        <p:nvSpPr>
          <p:cNvPr id="66" name="文本框 65"/>
          <p:cNvSpPr txBox="1"/>
          <p:nvPr/>
        </p:nvSpPr>
        <p:spPr>
          <a:xfrm>
            <a:off x="7510145" y="2002155"/>
            <a:ext cx="1706245" cy="916940"/>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68" name="文本框 67"/>
          <p:cNvSpPr txBox="1"/>
          <p:nvPr/>
        </p:nvSpPr>
        <p:spPr>
          <a:xfrm>
            <a:off x="7510145" y="2943225"/>
            <a:ext cx="1920240" cy="398780"/>
          </a:xfrm>
          <a:prstGeom prst="rect">
            <a:avLst/>
          </a:prstGeom>
          <a:noFill/>
        </p:spPr>
        <p:txBody>
          <a:bodyPr wrap="square" rtlCol="0">
            <a:spAutoFit/>
          </a:bodyPr>
          <a:p>
            <a:r>
              <a:rPr lang="en-US" altLang="zh-CN" sz="2000" b="1" i="1"/>
              <a:t>kafka consumer</a:t>
            </a:r>
            <a:endParaRPr lang="en-US" altLang="zh-CN" sz="2000" b="1" i="1"/>
          </a:p>
        </p:txBody>
      </p:sp>
      <p:sp>
        <p:nvSpPr>
          <p:cNvPr id="69" name="文本框 68"/>
          <p:cNvSpPr txBox="1"/>
          <p:nvPr/>
        </p:nvSpPr>
        <p:spPr>
          <a:xfrm>
            <a:off x="7602220" y="4297680"/>
            <a:ext cx="1866900" cy="398780"/>
          </a:xfrm>
          <a:prstGeom prst="rect">
            <a:avLst/>
          </a:prstGeom>
          <a:noFill/>
        </p:spPr>
        <p:txBody>
          <a:bodyPr wrap="square" rtlCol="0">
            <a:spAutoFit/>
          </a:bodyPr>
          <a:p>
            <a:pPr algn="ctr"/>
            <a:r>
              <a:rPr lang="en-US" altLang="zh-CN" sz="2000" b="1" i="1"/>
              <a:t>kafka consumer</a:t>
            </a:r>
            <a:endParaRPr lang="en-US" altLang="zh-CN" sz="2000" b="1" i="1"/>
          </a:p>
        </p:txBody>
      </p:sp>
      <p:sp>
        <p:nvSpPr>
          <p:cNvPr id="72" name="文本框 71"/>
          <p:cNvSpPr txBox="1"/>
          <p:nvPr/>
        </p:nvSpPr>
        <p:spPr>
          <a:xfrm>
            <a:off x="6694805" y="2233295"/>
            <a:ext cx="985520" cy="368300"/>
          </a:xfrm>
          <a:prstGeom prst="rect">
            <a:avLst/>
          </a:prstGeom>
          <a:noFill/>
        </p:spPr>
        <p:txBody>
          <a:bodyPr wrap="square" rtlCol="0">
            <a:spAutoFit/>
          </a:bodyPr>
          <a:p>
            <a:r>
              <a:rPr lang="en-US" altLang="zh-CN"/>
              <a:t>RPC msg</a:t>
            </a:r>
            <a:endParaRPr lang="en-US" altLang="zh-CN"/>
          </a:p>
        </p:txBody>
      </p:sp>
      <p:sp>
        <p:nvSpPr>
          <p:cNvPr id="73" name="文本框 72"/>
          <p:cNvSpPr txBox="1"/>
          <p:nvPr/>
        </p:nvSpPr>
        <p:spPr>
          <a:xfrm>
            <a:off x="6760210" y="5034280"/>
            <a:ext cx="985520" cy="368300"/>
          </a:xfrm>
          <a:prstGeom prst="rect">
            <a:avLst/>
          </a:prstGeom>
          <a:noFill/>
        </p:spPr>
        <p:txBody>
          <a:bodyPr wrap="square" rtlCol="0">
            <a:spAutoFit/>
          </a:bodyPr>
          <a:p>
            <a:r>
              <a:rPr lang="en-US" altLang="zh-CN"/>
              <a:t>RPC msg</a:t>
            </a:r>
            <a:endParaRPr lang="en-US" altLang="zh-CN"/>
          </a:p>
        </p:txBody>
      </p:sp>
      <p:cxnSp>
        <p:nvCxnSpPr>
          <p:cNvPr id="74" name="直接箭头连接符 73"/>
          <p:cNvCxnSpPr>
            <a:stCxn id="66" idx="3"/>
          </p:cNvCxnSpPr>
          <p:nvPr/>
        </p:nvCxnSpPr>
        <p:spPr>
          <a:xfrm>
            <a:off x="9229090" y="2460625"/>
            <a:ext cx="1249045" cy="9480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flipH="1" flipV="1">
            <a:off x="9163050" y="2777490"/>
            <a:ext cx="947420" cy="6788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flipV="1">
            <a:off x="9321165" y="4092575"/>
            <a:ext cx="525780" cy="7099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flipH="1">
            <a:off x="9294495" y="4065905"/>
            <a:ext cx="907415" cy="11836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曲线连接符 77"/>
          <p:cNvCxnSpPr>
            <a:stCxn id="66" idx="0"/>
            <a:endCxn id="46" idx="3"/>
          </p:cNvCxnSpPr>
          <p:nvPr/>
        </p:nvCxnSpPr>
        <p:spPr>
          <a:xfrm rot="16200000" flipH="1" flipV="1">
            <a:off x="6224905" y="1524635"/>
            <a:ext cx="1673860" cy="2628900"/>
          </a:xfrm>
          <a:prstGeom prst="curvedConnector4">
            <a:avLst>
              <a:gd name="adj1" fmla="val -27086"/>
              <a:gd name="adj2" fmla="val 88091"/>
            </a:avLst>
          </a:prstGeom>
          <a:ln>
            <a:tailEnd type="arrow" w="med" len="med"/>
          </a:ln>
        </p:spPr>
        <p:style>
          <a:lnRef idx="1">
            <a:schemeClr val="accent1"/>
          </a:lnRef>
          <a:fillRef idx="0">
            <a:schemeClr val="accent1"/>
          </a:fillRef>
          <a:effectRef idx="0">
            <a:schemeClr val="accent1"/>
          </a:effectRef>
          <a:fontRef idx="minor">
            <a:schemeClr val="tx1"/>
          </a:fontRef>
        </p:style>
      </p:cxnSp>
      <p:cxnSp>
        <p:nvCxnSpPr>
          <p:cNvPr id="79" name="曲线连接符 78"/>
          <p:cNvCxnSpPr>
            <a:stCxn id="5" idx="2"/>
          </p:cNvCxnSpPr>
          <p:nvPr/>
        </p:nvCxnSpPr>
        <p:spPr>
          <a:xfrm rot="5400000" flipH="1">
            <a:off x="6179820" y="3353435"/>
            <a:ext cx="1943735" cy="2658745"/>
          </a:xfrm>
          <a:prstGeom prst="curvedConnector4">
            <a:avLst>
              <a:gd name="adj1" fmla="val -21724"/>
              <a:gd name="adj2" fmla="val 90279"/>
            </a:avLst>
          </a:prstGeom>
          <a:ln>
            <a:tailEnd type="arrow" w="med" len="med"/>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6695440" y="5678805"/>
            <a:ext cx="1550035" cy="368300"/>
          </a:xfrm>
          <a:prstGeom prst="rect">
            <a:avLst/>
          </a:prstGeom>
          <a:noFill/>
        </p:spPr>
        <p:txBody>
          <a:bodyPr wrap="square" rtlCol="0">
            <a:spAutoFit/>
          </a:bodyPr>
          <a:p>
            <a:r>
              <a:rPr lang="en-US" altLang="zh-CN"/>
              <a:t>response msg</a:t>
            </a:r>
            <a:endParaRPr lang="en-US" altLang="zh-CN"/>
          </a:p>
        </p:txBody>
      </p:sp>
      <p:cxnSp>
        <p:nvCxnSpPr>
          <p:cNvPr id="82" name="直接箭头连接符 81"/>
          <p:cNvCxnSpPr/>
          <p:nvPr/>
        </p:nvCxnSpPr>
        <p:spPr>
          <a:xfrm flipH="1" flipV="1">
            <a:off x="5822315" y="3697605"/>
            <a:ext cx="131445" cy="1974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p:nvPr/>
        </p:nvCxnSpPr>
        <p:spPr>
          <a:xfrm flipH="1">
            <a:off x="5796280" y="3395345"/>
            <a:ext cx="92075" cy="1708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3858895" y="5539105"/>
            <a:ext cx="2614295" cy="190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flipH="1" flipV="1">
            <a:off x="6887845" y="2185035"/>
            <a:ext cx="618490" cy="133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flipH="1">
            <a:off x="6782435" y="4999990"/>
            <a:ext cx="82867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7" name="文本框 86"/>
          <p:cNvSpPr txBox="1"/>
          <p:nvPr/>
        </p:nvSpPr>
        <p:spPr>
          <a:xfrm>
            <a:off x="6734175" y="1812925"/>
            <a:ext cx="985520" cy="368300"/>
          </a:xfrm>
          <a:prstGeom prst="rect">
            <a:avLst/>
          </a:prstGeom>
          <a:noFill/>
        </p:spPr>
        <p:txBody>
          <a:bodyPr wrap="square" rtlCol="0">
            <a:spAutoFit/>
          </a:bodyPr>
          <a:p>
            <a:pPr algn="ctr"/>
            <a:r>
              <a:rPr lang="en-US" altLang="zh-CN"/>
              <a:t>pull</a:t>
            </a:r>
            <a:endParaRPr lang="en-US" altLang="zh-CN"/>
          </a:p>
        </p:txBody>
      </p:sp>
      <p:sp>
        <p:nvSpPr>
          <p:cNvPr id="88" name="文本框 87"/>
          <p:cNvSpPr txBox="1"/>
          <p:nvPr/>
        </p:nvSpPr>
        <p:spPr>
          <a:xfrm>
            <a:off x="6747510" y="4653915"/>
            <a:ext cx="985520" cy="368300"/>
          </a:xfrm>
          <a:prstGeom prst="rect">
            <a:avLst/>
          </a:prstGeom>
          <a:noFill/>
        </p:spPr>
        <p:txBody>
          <a:bodyPr wrap="square" rtlCol="0">
            <a:spAutoFit/>
          </a:bodyPr>
          <a:p>
            <a:pPr algn="ctr"/>
            <a:r>
              <a:rPr lang="en-US" altLang="zh-CN"/>
              <a:t>pull</a:t>
            </a:r>
            <a:endParaRPr lang="en-US" altLang="zh-CN"/>
          </a:p>
        </p:txBody>
      </p:sp>
      <p:cxnSp>
        <p:nvCxnSpPr>
          <p:cNvPr id="89" name="直接箭头连接符 88"/>
          <p:cNvCxnSpPr/>
          <p:nvPr/>
        </p:nvCxnSpPr>
        <p:spPr>
          <a:xfrm flipH="1" flipV="1">
            <a:off x="1597660" y="5594985"/>
            <a:ext cx="559435" cy="1397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a:xfrm>
            <a:off x="1526540" y="5626100"/>
            <a:ext cx="605790" cy="368300"/>
          </a:xfrm>
          <a:prstGeom prst="rect">
            <a:avLst/>
          </a:prstGeom>
          <a:noFill/>
        </p:spPr>
        <p:txBody>
          <a:bodyPr wrap="square" rtlCol="0">
            <a:spAutoFit/>
          </a:bodyPr>
          <a:p>
            <a:r>
              <a:rPr lang="en-US" altLang="zh-CN"/>
              <a:t>resp</a:t>
            </a:r>
            <a:endParaRPr lang="en-US" altLang="zh-CN"/>
          </a:p>
        </p:txBody>
      </p:sp>
      <p:sp>
        <p:nvSpPr>
          <p:cNvPr id="91" name="文本框 90"/>
          <p:cNvSpPr txBox="1"/>
          <p:nvPr/>
        </p:nvSpPr>
        <p:spPr>
          <a:xfrm>
            <a:off x="1555115" y="2771140"/>
            <a:ext cx="605790" cy="368300"/>
          </a:xfrm>
          <a:prstGeom prst="rect">
            <a:avLst/>
          </a:prstGeom>
          <a:noFill/>
        </p:spPr>
        <p:txBody>
          <a:bodyPr wrap="square" rtlCol="0">
            <a:spAutoFit/>
          </a:bodyPr>
          <a:p>
            <a:r>
              <a:rPr lang="en-US" altLang="zh-CN"/>
              <a:t>resp</a:t>
            </a:r>
            <a:endParaRPr lang="en-US" altLang="zh-CN"/>
          </a:p>
        </p:txBody>
      </p:sp>
      <p:cxnSp>
        <p:nvCxnSpPr>
          <p:cNvPr id="92" name="直接箭头连接符 91"/>
          <p:cNvCxnSpPr/>
          <p:nvPr/>
        </p:nvCxnSpPr>
        <p:spPr>
          <a:xfrm flipH="1">
            <a:off x="1640840" y="2725420"/>
            <a:ext cx="51625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07035" y="365125"/>
            <a:ext cx="11247755" cy="1325880"/>
          </a:xfrm>
        </p:spPr>
        <p:txBody>
          <a:bodyPr>
            <a:normAutofit fontScale="90000"/>
          </a:bodyPr>
          <a:p>
            <a:r>
              <a:rPr lang="en-US"/>
              <a:t>Animation for request &amp; processing &amp; response flow</a:t>
            </a:r>
            <a:endParaRPr lang="en-US"/>
          </a:p>
        </p:txBody>
      </p:sp>
      <p:sp>
        <p:nvSpPr>
          <p:cNvPr id="12" name="文本框 11"/>
          <p:cNvSpPr txBox="1"/>
          <p:nvPr/>
        </p:nvSpPr>
        <p:spPr>
          <a:xfrm>
            <a:off x="9452610" y="3423920"/>
            <a:ext cx="1294130" cy="642620"/>
          </a:xfrm>
          <a:prstGeom prst="rect">
            <a:avLst/>
          </a:prstGeom>
          <a:solidFill>
            <a:schemeClr val="accent1">
              <a:lumMod val="50000"/>
            </a:schemeClr>
          </a:solidFill>
        </p:spPr>
        <p:txBody>
          <a:bodyPr wrap="square" rtlCol="0">
            <a:spAutoFit/>
          </a:bodyPr>
          <a:p>
            <a:pPr algn="ctr"/>
            <a:r>
              <a:rPr lang="en-US" altLang="zh-CN">
                <a:solidFill>
                  <a:schemeClr val="bg1"/>
                </a:solidFill>
              </a:rPr>
              <a:t>key-value</a:t>
            </a:r>
            <a:endParaRPr lang="en-US" altLang="zh-CN">
              <a:solidFill>
                <a:schemeClr val="bg1"/>
              </a:solidFill>
            </a:endParaRPr>
          </a:p>
          <a:p>
            <a:pPr algn="ctr"/>
            <a:r>
              <a:rPr lang="en-US" altLang="zh-CN">
                <a:solidFill>
                  <a:schemeClr val="bg1"/>
                </a:solidFill>
              </a:rPr>
              <a:t>store</a:t>
            </a:r>
            <a:endParaRPr lang="en-US" altLang="zh-CN">
              <a:solidFill>
                <a:schemeClr val="bg1"/>
              </a:solidFill>
            </a:endParaRPr>
          </a:p>
        </p:txBody>
      </p:sp>
      <p:sp>
        <p:nvSpPr>
          <p:cNvPr id="11" name="文本框 10"/>
          <p:cNvSpPr txBox="1"/>
          <p:nvPr/>
        </p:nvSpPr>
        <p:spPr>
          <a:xfrm>
            <a:off x="2138680" y="1983105"/>
            <a:ext cx="1706245" cy="916940"/>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32" name="文本框 31"/>
          <p:cNvSpPr txBox="1"/>
          <p:nvPr/>
        </p:nvSpPr>
        <p:spPr>
          <a:xfrm>
            <a:off x="2164080" y="4881880"/>
            <a:ext cx="1706245" cy="916940"/>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45" name="文本框 44"/>
          <p:cNvSpPr txBox="1"/>
          <p:nvPr/>
        </p:nvSpPr>
        <p:spPr>
          <a:xfrm>
            <a:off x="2459990" y="3453765"/>
            <a:ext cx="988060" cy="583565"/>
          </a:xfrm>
          <a:prstGeom prst="rect">
            <a:avLst/>
          </a:prstGeom>
          <a:noFill/>
        </p:spPr>
        <p:txBody>
          <a:bodyPr wrap="square" rtlCol="0">
            <a:spAutoFit/>
          </a:bodyPr>
          <a:p>
            <a:pPr algn="ctr"/>
            <a:r>
              <a:rPr lang="en-US" altLang="zh-CN" sz="3200"/>
              <a:t>... ...</a:t>
            </a:r>
            <a:endParaRPr lang="en-US" altLang="zh-CN" sz="3200"/>
          </a:p>
        </p:txBody>
      </p:sp>
      <p:sp>
        <p:nvSpPr>
          <p:cNvPr id="46" name="文本框 45"/>
          <p:cNvSpPr txBox="1"/>
          <p:nvPr/>
        </p:nvSpPr>
        <p:spPr>
          <a:xfrm>
            <a:off x="4028440" y="3354705"/>
            <a:ext cx="1706245" cy="642620"/>
          </a:xfrm>
          <a:prstGeom prst="rect">
            <a:avLst/>
          </a:prstGeom>
          <a:solidFill>
            <a:schemeClr val="accent6">
              <a:lumMod val="60000"/>
              <a:lumOff val="40000"/>
            </a:schemeClr>
          </a:solidFill>
        </p:spPr>
        <p:txBody>
          <a:bodyPr wrap="square" rtlCol="0">
            <a:spAutoFit/>
          </a:bodyPr>
          <a:p>
            <a:pPr algn="ctr"/>
            <a:r>
              <a:rPr lang="en-US" altLang="zh-CN"/>
              <a:t>redis</a:t>
            </a:r>
            <a:br>
              <a:rPr lang="en-US" altLang="zh-CN"/>
            </a:br>
            <a:r>
              <a:rPr lang="en-US" altLang="zh-CN"/>
              <a:t>cluster </a:t>
            </a:r>
            <a:endParaRPr lang="en-US" altLang="zh-CN"/>
          </a:p>
        </p:txBody>
      </p:sp>
      <p:cxnSp>
        <p:nvCxnSpPr>
          <p:cNvPr id="47" name="直接箭头连接符 46"/>
          <p:cNvCxnSpPr/>
          <p:nvPr/>
        </p:nvCxnSpPr>
        <p:spPr>
          <a:xfrm flipV="1">
            <a:off x="3884295" y="3999865"/>
            <a:ext cx="988695" cy="1028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H="1">
            <a:off x="3871595" y="4010660"/>
            <a:ext cx="1569720" cy="150939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rot="18900000">
            <a:off x="3563620" y="4095115"/>
            <a:ext cx="1231265" cy="368300"/>
          </a:xfrm>
          <a:prstGeom prst="rect">
            <a:avLst/>
          </a:prstGeom>
          <a:noFill/>
        </p:spPr>
        <p:txBody>
          <a:bodyPr wrap="square" rtlCol="0">
            <a:spAutoFit/>
          </a:bodyPr>
          <a:p>
            <a:pPr algn="ctr"/>
            <a:r>
              <a:rPr lang="en-US" altLang="zh-CN"/>
              <a:t>subscript</a:t>
            </a:r>
            <a:endParaRPr lang="en-US" altLang="zh-CN"/>
          </a:p>
        </p:txBody>
      </p:sp>
      <p:sp>
        <p:nvSpPr>
          <p:cNvPr id="51" name="文本框 50"/>
          <p:cNvSpPr txBox="1"/>
          <p:nvPr/>
        </p:nvSpPr>
        <p:spPr>
          <a:xfrm rot="18900000">
            <a:off x="3832860" y="4506595"/>
            <a:ext cx="1231265" cy="368300"/>
          </a:xfrm>
          <a:prstGeom prst="rect">
            <a:avLst/>
          </a:prstGeom>
          <a:noFill/>
        </p:spPr>
        <p:txBody>
          <a:bodyPr wrap="square" rtlCol="0">
            <a:spAutoFit/>
          </a:bodyPr>
          <a:p>
            <a:pPr algn="ctr"/>
            <a:r>
              <a:rPr lang="en-US" altLang="zh-CN"/>
              <a:t>messages</a:t>
            </a:r>
            <a:endParaRPr lang="en-US" altLang="zh-CN"/>
          </a:p>
        </p:txBody>
      </p:sp>
      <p:cxnSp>
        <p:nvCxnSpPr>
          <p:cNvPr id="52" name="直接箭头连接符 51"/>
          <p:cNvCxnSpPr/>
          <p:nvPr/>
        </p:nvCxnSpPr>
        <p:spPr>
          <a:xfrm flipH="1" flipV="1">
            <a:off x="3846195" y="2170430"/>
            <a:ext cx="1911985" cy="112331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3807460" y="2671445"/>
            <a:ext cx="1129665" cy="6667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rot="1920000">
            <a:off x="3845560" y="2658110"/>
            <a:ext cx="1231265" cy="368300"/>
          </a:xfrm>
          <a:prstGeom prst="rect">
            <a:avLst/>
          </a:prstGeom>
          <a:noFill/>
        </p:spPr>
        <p:txBody>
          <a:bodyPr wrap="square" rtlCol="0">
            <a:spAutoFit/>
          </a:bodyPr>
          <a:p>
            <a:pPr algn="ctr"/>
            <a:r>
              <a:rPr lang="en-US" altLang="zh-CN"/>
              <a:t>subscript</a:t>
            </a:r>
            <a:endParaRPr lang="en-US" altLang="zh-CN"/>
          </a:p>
        </p:txBody>
      </p:sp>
      <p:sp>
        <p:nvSpPr>
          <p:cNvPr id="55" name="文本框 54"/>
          <p:cNvSpPr txBox="1"/>
          <p:nvPr/>
        </p:nvSpPr>
        <p:spPr>
          <a:xfrm rot="1800000">
            <a:off x="4128135" y="2312035"/>
            <a:ext cx="1231265" cy="368300"/>
          </a:xfrm>
          <a:prstGeom prst="rect">
            <a:avLst/>
          </a:prstGeom>
          <a:noFill/>
        </p:spPr>
        <p:txBody>
          <a:bodyPr wrap="square" rtlCol="0">
            <a:spAutoFit/>
          </a:bodyPr>
          <a:p>
            <a:pPr algn="ctr"/>
            <a:r>
              <a:rPr lang="en-US" altLang="zh-CN"/>
              <a:t>messages</a:t>
            </a:r>
            <a:endParaRPr lang="en-US" altLang="zh-CN"/>
          </a:p>
        </p:txBody>
      </p:sp>
      <p:sp>
        <p:nvSpPr>
          <p:cNvPr id="61" name="文本框 60"/>
          <p:cNvSpPr txBox="1"/>
          <p:nvPr/>
        </p:nvSpPr>
        <p:spPr>
          <a:xfrm>
            <a:off x="4325620" y="5106670"/>
            <a:ext cx="2193290" cy="368300"/>
          </a:xfrm>
          <a:prstGeom prst="rect">
            <a:avLst/>
          </a:prstGeom>
          <a:noFill/>
        </p:spPr>
        <p:txBody>
          <a:bodyPr wrap="square" rtlCol="0">
            <a:spAutoFit/>
          </a:bodyPr>
          <a:p>
            <a:r>
              <a:rPr lang="en-US" altLang="zh-CN"/>
              <a:t>req RPC message</a:t>
            </a:r>
            <a:endParaRPr lang="en-US" altLang="zh-CN"/>
          </a:p>
        </p:txBody>
      </p:sp>
      <p:sp>
        <p:nvSpPr>
          <p:cNvPr id="5" name="文本框 4"/>
          <p:cNvSpPr txBox="1"/>
          <p:nvPr/>
        </p:nvSpPr>
        <p:spPr>
          <a:xfrm>
            <a:off x="7614920" y="4737735"/>
            <a:ext cx="1706245" cy="916940"/>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6" name="文本框 5"/>
          <p:cNvSpPr txBox="1"/>
          <p:nvPr/>
        </p:nvSpPr>
        <p:spPr>
          <a:xfrm>
            <a:off x="6345555" y="1953895"/>
            <a:ext cx="551815" cy="3706495"/>
          </a:xfrm>
          <a:prstGeom prst="rect">
            <a:avLst/>
          </a:prstGeom>
          <a:solidFill>
            <a:schemeClr val="accent6">
              <a:lumMod val="40000"/>
              <a:lumOff val="60000"/>
            </a:schemeClr>
          </a:solidFill>
        </p:spPr>
        <p:txBody>
          <a:bodyPr vert="eaVert" wrap="square" rtlCol="0">
            <a:spAutoFit/>
          </a:bodyPr>
          <a:p>
            <a:pPr algn="ctr"/>
            <a:r>
              <a:rPr lang="en-US" altLang="zh-CN" sz="2400" b="1"/>
              <a:t>kafka cluster</a:t>
            </a:r>
            <a:endParaRPr lang="en-US" altLang="zh-CN" sz="2400" b="1"/>
          </a:p>
        </p:txBody>
      </p:sp>
      <p:sp>
        <p:nvSpPr>
          <p:cNvPr id="7" name="文本框 6"/>
          <p:cNvSpPr txBox="1"/>
          <p:nvPr/>
        </p:nvSpPr>
        <p:spPr>
          <a:xfrm>
            <a:off x="671830" y="2007235"/>
            <a:ext cx="936625" cy="916940"/>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sp>
        <p:nvSpPr>
          <p:cNvPr id="8" name="文本框 7"/>
          <p:cNvSpPr txBox="1"/>
          <p:nvPr/>
        </p:nvSpPr>
        <p:spPr>
          <a:xfrm>
            <a:off x="670560" y="4847590"/>
            <a:ext cx="936625" cy="916940"/>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cxnSp>
        <p:nvCxnSpPr>
          <p:cNvPr id="10" name="直接箭头连接符 9"/>
          <p:cNvCxnSpPr>
            <a:stCxn id="7" idx="3"/>
            <a:endCxn id="11" idx="1"/>
          </p:cNvCxnSpPr>
          <p:nvPr/>
        </p:nvCxnSpPr>
        <p:spPr>
          <a:xfrm flipV="1">
            <a:off x="1621155" y="2441575"/>
            <a:ext cx="530225" cy="241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8" idx="3"/>
            <a:endCxn id="32" idx="1"/>
          </p:cNvCxnSpPr>
          <p:nvPr/>
        </p:nvCxnSpPr>
        <p:spPr>
          <a:xfrm>
            <a:off x="1619885" y="5306060"/>
            <a:ext cx="556895" cy="34290"/>
          </a:xfrm>
          <a:prstGeom prst="straightConnector1">
            <a:avLst/>
          </a:prstGeom>
          <a:ln w="25400">
            <a:tailEnd type="arrow" w="med" len="med"/>
          </a:ln>
        </p:spPr>
        <p:style>
          <a:lnRef idx="3">
            <a:schemeClr val="accent1"/>
          </a:lnRef>
          <a:fillRef idx="0">
            <a:schemeClr val="accent1"/>
          </a:fillRef>
          <a:effectRef idx="2">
            <a:schemeClr val="accent1"/>
          </a:effectRef>
          <a:fontRef idx="minor">
            <a:schemeClr val="tx1"/>
          </a:fontRef>
        </p:style>
      </p:cxnSp>
      <p:sp>
        <p:nvSpPr>
          <p:cNvPr id="15" name="文本框 14"/>
          <p:cNvSpPr txBox="1"/>
          <p:nvPr/>
        </p:nvSpPr>
        <p:spPr>
          <a:xfrm>
            <a:off x="1595755" y="2132965"/>
            <a:ext cx="605790" cy="368300"/>
          </a:xfrm>
          <a:prstGeom prst="rect">
            <a:avLst/>
          </a:prstGeom>
          <a:noFill/>
        </p:spPr>
        <p:txBody>
          <a:bodyPr wrap="square" rtlCol="0">
            <a:spAutoFit/>
          </a:bodyPr>
          <a:p>
            <a:r>
              <a:rPr lang="en-US" altLang="zh-CN"/>
              <a:t>req</a:t>
            </a:r>
            <a:endParaRPr lang="en-US" altLang="zh-CN"/>
          </a:p>
        </p:txBody>
      </p:sp>
      <p:sp>
        <p:nvSpPr>
          <p:cNvPr id="16" name="文本框 15"/>
          <p:cNvSpPr txBox="1"/>
          <p:nvPr/>
        </p:nvSpPr>
        <p:spPr>
          <a:xfrm>
            <a:off x="1569720" y="4908550"/>
            <a:ext cx="605790" cy="368300"/>
          </a:xfrm>
          <a:prstGeom prst="rect">
            <a:avLst/>
          </a:prstGeom>
          <a:noFill/>
        </p:spPr>
        <p:txBody>
          <a:bodyPr wrap="square" rtlCol="0">
            <a:spAutoFit/>
          </a:bodyPr>
          <a:p>
            <a:r>
              <a:rPr lang="en-US" altLang="zh-CN"/>
              <a:t>req</a:t>
            </a:r>
            <a:endParaRPr lang="en-US" altLang="zh-CN"/>
          </a:p>
        </p:txBody>
      </p:sp>
      <p:sp>
        <p:nvSpPr>
          <p:cNvPr id="17" name="文本框 16"/>
          <p:cNvSpPr txBox="1"/>
          <p:nvPr/>
        </p:nvSpPr>
        <p:spPr>
          <a:xfrm>
            <a:off x="2197100" y="4469130"/>
            <a:ext cx="1471295" cy="368300"/>
          </a:xfrm>
          <a:prstGeom prst="rect">
            <a:avLst/>
          </a:prstGeom>
          <a:noFill/>
        </p:spPr>
        <p:txBody>
          <a:bodyPr wrap="square" rtlCol="0">
            <a:spAutoFit/>
          </a:bodyPr>
          <a:p>
            <a:r>
              <a:rPr lang="en-US" altLang="zh-CN"/>
              <a:t>client broker</a:t>
            </a:r>
            <a:endParaRPr lang="en-US" altLang="zh-CN"/>
          </a:p>
        </p:txBody>
      </p:sp>
      <p:sp>
        <p:nvSpPr>
          <p:cNvPr id="19" name="文本框 18"/>
          <p:cNvSpPr txBox="1"/>
          <p:nvPr/>
        </p:nvSpPr>
        <p:spPr>
          <a:xfrm>
            <a:off x="2130425" y="5902325"/>
            <a:ext cx="1788795" cy="398780"/>
          </a:xfrm>
          <a:prstGeom prst="rect">
            <a:avLst/>
          </a:prstGeom>
          <a:noFill/>
        </p:spPr>
        <p:txBody>
          <a:bodyPr wrap="square" rtlCol="0">
            <a:spAutoFit/>
          </a:bodyPr>
          <a:p>
            <a:r>
              <a:rPr lang="en-US" altLang="zh-CN" sz="2000" b="1" i="1"/>
              <a:t>kafka producer</a:t>
            </a:r>
            <a:endParaRPr lang="en-US" altLang="zh-CN" sz="2000" b="1" i="1"/>
          </a:p>
        </p:txBody>
      </p:sp>
      <p:sp>
        <p:nvSpPr>
          <p:cNvPr id="25" name="文本框 24"/>
          <p:cNvSpPr txBox="1"/>
          <p:nvPr/>
        </p:nvSpPr>
        <p:spPr>
          <a:xfrm>
            <a:off x="2157730" y="1588770"/>
            <a:ext cx="1471295" cy="368300"/>
          </a:xfrm>
          <a:prstGeom prst="rect">
            <a:avLst/>
          </a:prstGeom>
          <a:noFill/>
        </p:spPr>
        <p:txBody>
          <a:bodyPr wrap="square" rtlCol="0">
            <a:spAutoFit/>
          </a:bodyPr>
          <a:p>
            <a:r>
              <a:rPr lang="en-US" altLang="zh-CN"/>
              <a:t>client broker</a:t>
            </a:r>
            <a:endParaRPr lang="en-US" altLang="zh-CN"/>
          </a:p>
        </p:txBody>
      </p:sp>
      <p:sp>
        <p:nvSpPr>
          <p:cNvPr id="34" name="文本框 33"/>
          <p:cNvSpPr txBox="1"/>
          <p:nvPr/>
        </p:nvSpPr>
        <p:spPr>
          <a:xfrm>
            <a:off x="4246880" y="1661160"/>
            <a:ext cx="2193290" cy="368300"/>
          </a:xfrm>
          <a:prstGeom prst="rect">
            <a:avLst/>
          </a:prstGeom>
          <a:noFill/>
        </p:spPr>
        <p:txBody>
          <a:bodyPr wrap="square" rtlCol="0">
            <a:spAutoFit/>
          </a:bodyPr>
          <a:p>
            <a:r>
              <a:rPr lang="en-US" altLang="zh-CN"/>
              <a:t>req RPC message</a:t>
            </a:r>
            <a:endParaRPr lang="en-US" altLang="zh-CN"/>
          </a:p>
        </p:txBody>
      </p:sp>
      <p:cxnSp>
        <p:nvCxnSpPr>
          <p:cNvPr id="44" name="直接箭头连接符 43"/>
          <p:cNvCxnSpPr/>
          <p:nvPr/>
        </p:nvCxnSpPr>
        <p:spPr>
          <a:xfrm flipV="1">
            <a:off x="3832860" y="2093595"/>
            <a:ext cx="2614295" cy="190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091055" y="2929890"/>
            <a:ext cx="1788795" cy="398780"/>
          </a:xfrm>
          <a:prstGeom prst="rect">
            <a:avLst/>
          </a:prstGeom>
          <a:noFill/>
        </p:spPr>
        <p:txBody>
          <a:bodyPr wrap="square" rtlCol="0">
            <a:spAutoFit/>
          </a:bodyPr>
          <a:p>
            <a:pPr algn="ctr"/>
            <a:r>
              <a:rPr lang="en-US" altLang="zh-CN" sz="2000" b="1" i="1"/>
              <a:t>kafka producer</a:t>
            </a:r>
            <a:endParaRPr lang="en-US" altLang="zh-CN" sz="2000" b="1" i="1"/>
          </a:p>
        </p:txBody>
      </p:sp>
      <p:sp>
        <p:nvSpPr>
          <p:cNvPr id="66" name="文本框 65"/>
          <p:cNvSpPr txBox="1"/>
          <p:nvPr/>
        </p:nvSpPr>
        <p:spPr>
          <a:xfrm>
            <a:off x="7510145" y="2002155"/>
            <a:ext cx="1706245" cy="916940"/>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68" name="文本框 67"/>
          <p:cNvSpPr txBox="1"/>
          <p:nvPr/>
        </p:nvSpPr>
        <p:spPr>
          <a:xfrm>
            <a:off x="7510145" y="2943225"/>
            <a:ext cx="1920240" cy="398780"/>
          </a:xfrm>
          <a:prstGeom prst="rect">
            <a:avLst/>
          </a:prstGeom>
          <a:noFill/>
        </p:spPr>
        <p:txBody>
          <a:bodyPr wrap="square" rtlCol="0">
            <a:spAutoFit/>
          </a:bodyPr>
          <a:p>
            <a:r>
              <a:rPr lang="en-US" altLang="zh-CN" sz="2000" b="1" i="1"/>
              <a:t>kafka consumer</a:t>
            </a:r>
            <a:endParaRPr lang="en-US" altLang="zh-CN" sz="2000" b="1" i="1"/>
          </a:p>
        </p:txBody>
      </p:sp>
      <p:sp>
        <p:nvSpPr>
          <p:cNvPr id="69" name="文本框 68"/>
          <p:cNvSpPr txBox="1"/>
          <p:nvPr/>
        </p:nvSpPr>
        <p:spPr>
          <a:xfrm>
            <a:off x="7602220" y="4297680"/>
            <a:ext cx="1866900" cy="398780"/>
          </a:xfrm>
          <a:prstGeom prst="rect">
            <a:avLst/>
          </a:prstGeom>
          <a:noFill/>
        </p:spPr>
        <p:txBody>
          <a:bodyPr wrap="square" rtlCol="0">
            <a:spAutoFit/>
          </a:bodyPr>
          <a:p>
            <a:pPr algn="ctr"/>
            <a:r>
              <a:rPr lang="en-US" altLang="zh-CN" sz="2000" b="1" i="1"/>
              <a:t>kafka consumer</a:t>
            </a:r>
            <a:endParaRPr lang="en-US" altLang="zh-CN" sz="2000" b="1" i="1"/>
          </a:p>
        </p:txBody>
      </p:sp>
      <p:sp>
        <p:nvSpPr>
          <p:cNvPr id="72" name="文本框 71"/>
          <p:cNvSpPr txBox="1"/>
          <p:nvPr/>
        </p:nvSpPr>
        <p:spPr>
          <a:xfrm>
            <a:off x="6694805" y="2233295"/>
            <a:ext cx="985520" cy="368300"/>
          </a:xfrm>
          <a:prstGeom prst="rect">
            <a:avLst/>
          </a:prstGeom>
          <a:noFill/>
        </p:spPr>
        <p:txBody>
          <a:bodyPr wrap="square" rtlCol="0">
            <a:spAutoFit/>
          </a:bodyPr>
          <a:p>
            <a:r>
              <a:rPr lang="en-US" altLang="zh-CN"/>
              <a:t>RPC msg</a:t>
            </a:r>
            <a:endParaRPr lang="en-US" altLang="zh-CN"/>
          </a:p>
        </p:txBody>
      </p:sp>
      <p:sp>
        <p:nvSpPr>
          <p:cNvPr id="73" name="文本框 72"/>
          <p:cNvSpPr txBox="1"/>
          <p:nvPr/>
        </p:nvSpPr>
        <p:spPr>
          <a:xfrm>
            <a:off x="6760210" y="5034280"/>
            <a:ext cx="985520" cy="368300"/>
          </a:xfrm>
          <a:prstGeom prst="rect">
            <a:avLst/>
          </a:prstGeom>
          <a:noFill/>
        </p:spPr>
        <p:txBody>
          <a:bodyPr wrap="square" rtlCol="0">
            <a:spAutoFit/>
          </a:bodyPr>
          <a:p>
            <a:r>
              <a:rPr lang="en-US" altLang="zh-CN"/>
              <a:t>RPC msg</a:t>
            </a:r>
            <a:endParaRPr lang="en-US" altLang="zh-CN"/>
          </a:p>
        </p:txBody>
      </p:sp>
      <p:cxnSp>
        <p:nvCxnSpPr>
          <p:cNvPr id="74" name="直接箭头连接符 73"/>
          <p:cNvCxnSpPr>
            <a:stCxn id="66" idx="3"/>
          </p:cNvCxnSpPr>
          <p:nvPr/>
        </p:nvCxnSpPr>
        <p:spPr>
          <a:xfrm>
            <a:off x="9229090" y="2460625"/>
            <a:ext cx="1249045" cy="9480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flipH="1" flipV="1">
            <a:off x="9163050" y="2777490"/>
            <a:ext cx="947420" cy="6788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flipV="1">
            <a:off x="9321165" y="4092575"/>
            <a:ext cx="525780" cy="70993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flipH="1">
            <a:off x="9294495" y="4065905"/>
            <a:ext cx="907415" cy="118364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8" name="曲线连接符 77"/>
          <p:cNvCxnSpPr>
            <a:stCxn id="66" idx="0"/>
            <a:endCxn id="46" idx="3"/>
          </p:cNvCxnSpPr>
          <p:nvPr/>
        </p:nvCxnSpPr>
        <p:spPr>
          <a:xfrm rot="16200000" flipH="1" flipV="1">
            <a:off x="6224905" y="1524635"/>
            <a:ext cx="1673860" cy="2628900"/>
          </a:xfrm>
          <a:prstGeom prst="curvedConnector4">
            <a:avLst>
              <a:gd name="adj1" fmla="val -23672"/>
              <a:gd name="adj2" fmla="val 90289"/>
            </a:avLst>
          </a:prstGeom>
          <a:ln w="6350">
            <a:tailEnd type="arrow"/>
          </a:ln>
        </p:spPr>
        <p:style>
          <a:lnRef idx="1">
            <a:schemeClr val="accent1"/>
          </a:lnRef>
          <a:fillRef idx="0">
            <a:schemeClr val="accent1"/>
          </a:fillRef>
          <a:effectRef idx="0">
            <a:schemeClr val="accent1"/>
          </a:effectRef>
          <a:fontRef idx="minor">
            <a:schemeClr val="tx1"/>
          </a:fontRef>
        </p:style>
      </p:cxnSp>
      <p:cxnSp>
        <p:nvCxnSpPr>
          <p:cNvPr id="79" name="曲线连接符 78"/>
          <p:cNvCxnSpPr>
            <a:stCxn id="5" idx="2"/>
          </p:cNvCxnSpPr>
          <p:nvPr/>
        </p:nvCxnSpPr>
        <p:spPr>
          <a:xfrm rot="5400000" flipH="1">
            <a:off x="6179820" y="3353435"/>
            <a:ext cx="1943735" cy="2658745"/>
          </a:xfrm>
          <a:prstGeom prst="curvedConnector4">
            <a:avLst>
              <a:gd name="adj1" fmla="val -21724"/>
              <a:gd name="adj2" fmla="val 90279"/>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a:off x="6695440" y="5678805"/>
            <a:ext cx="1550035" cy="368300"/>
          </a:xfrm>
          <a:prstGeom prst="rect">
            <a:avLst/>
          </a:prstGeom>
          <a:noFill/>
        </p:spPr>
        <p:txBody>
          <a:bodyPr wrap="square" rtlCol="0">
            <a:spAutoFit/>
          </a:bodyPr>
          <a:p>
            <a:r>
              <a:rPr lang="en-US" altLang="zh-CN"/>
              <a:t>response msg</a:t>
            </a:r>
            <a:endParaRPr lang="en-US" altLang="zh-CN"/>
          </a:p>
        </p:txBody>
      </p:sp>
      <p:cxnSp>
        <p:nvCxnSpPr>
          <p:cNvPr id="82" name="直接箭头连接符 81"/>
          <p:cNvCxnSpPr/>
          <p:nvPr/>
        </p:nvCxnSpPr>
        <p:spPr>
          <a:xfrm flipH="1" flipV="1">
            <a:off x="5822315" y="3697605"/>
            <a:ext cx="131445" cy="1974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p:nvPr/>
        </p:nvCxnSpPr>
        <p:spPr>
          <a:xfrm flipH="1">
            <a:off x="5796280" y="3395345"/>
            <a:ext cx="92075" cy="1708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3858895" y="5539105"/>
            <a:ext cx="2614295" cy="19050"/>
          </a:xfrm>
          <a:prstGeom prst="straightConnector1">
            <a:avLst/>
          </a:prstGeom>
          <a:ln w="25400">
            <a:tailEnd type="arrow" w="med" len="med"/>
          </a:ln>
        </p:spPr>
        <p:style>
          <a:lnRef idx="3">
            <a:schemeClr val="accent1"/>
          </a:lnRef>
          <a:fillRef idx="0">
            <a:schemeClr val="accent1"/>
          </a:fillRef>
          <a:effectRef idx="2">
            <a:schemeClr val="accent1"/>
          </a:effectRef>
          <a:fontRef idx="minor">
            <a:schemeClr val="tx1"/>
          </a:fontRef>
        </p:style>
      </p:cxnSp>
      <p:cxnSp>
        <p:nvCxnSpPr>
          <p:cNvPr id="85" name="直接箭头连接符 84"/>
          <p:cNvCxnSpPr/>
          <p:nvPr/>
        </p:nvCxnSpPr>
        <p:spPr>
          <a:xfrm flipH="1" flipV="1">
            <a:off x="6887845" y="2185035"/>
            <a:ext cx="618490" cy="133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flipH="1">
            <a:off x="6782435" y="4999990"/>
            <a:ext cx="828675"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87" name="文本框 86"/>
          <p:cNvSpPr txBox="1"/>
          <p:nvPr/>
        </p:nvSpPr>
        <p:spPr>
          <a:xfrm>
            <a:off x="6734175" y="1812925"/>
            <a:ext cx="985520" cy="368300"/>
          </a:xfrm>
          <a:prstGeom prst="rect">
            <a:avLst/>
          </a:prstGeom>
          <a:noFill/>
        </p:spPr>
        <p:txBody>
          <a:bodyPr wrap="square" rtlCol="0">
            <a:spAutoFit/>
          </a:bodyPr>
          <a:p>
            <a:pPr algn="ctr"/>
            <a:r>
              <a:rPr lang="en-US" altLang="zh-CN"/>
              <a:t>pull</a:t>
            </a:r>
            <a:endParaRPr lang="en-US" altLang="zh-CN"/>
          </a:p>
        </p:txBody>
      </p:sp>
      <p:sp>
        <p:nvSpPr>
          <p:cNvPr id="88" name="文本框 87"/>
          <p:cNvSpPr txBox="1"/>
          <p:nvPr/>
        </p:nvSpPr>
        <p:spPr>
          <a:xfrm>
            <a:off x="6747510" y="4653915"/>
            <a:ext cx="985520" cy="368300"/>
          </a:xfrm>
          <a:prstGeom prst="rect">
            <a:avLst/>
          </a:prstGeom>
          <a:noFill/>
        </p:spPr>
        <p:txBody>
          <a:bodyPr wrap="square" rtlCol="0">
            <a:spAutoFit/>
          </a:bodyPr>
          <a:p>
            <a:pPr algn="ctr"/>
            <a:r>
              <a:rPr lang="en-US" altLang="zh-CN"/>
              <a:t>pull</a:t>
            </a:r>
            <a:endParaRPr lang="en-US" altLang="zh-CN"/>
          </a:p>
        </p:txBody>
      </p:sp>
      <p:sp>
        <p:nvSpPr>
          <p:cNvPr id="90" name="文本框 89"/>
          <p:cNvSpPr txBox="1"/>
          <p:nvPr/>
        </p:nvSpPr>
        <p:spPr>
          <a:xfrm>
            <a:off x="1540510" y="5741035"/>
            <a:ext cx="605790" cy="368300"/>
          </a:xfrm>
          <a:prstGeom prst="rect">
            <a:avLst/>
          </a:prstGeom>
          <a:noFill/>
        </p:spPr>
        <p:txBody>
          <a:bodyPr wrap="square" rtlCol="0">
            <a:spAutoFit/>
          </a:bodyPr>
          <a:p>
            <a:r>
              <a:rPr lang="en-US" altLang="zh-CN"/>
              <a:t>resp</a:t>
            </a:r>
            <a:endParaRPr lang="en-US" altLang="zh-CN"/>
          </a:p>
        </p:txBody>
      </p:sp>
      <p:sp>
        <p:nvSpPr>
          <p:cNvPr id="91" name="文本框 90"/>
          <p:cNvSpPr txBox="1"/>
          <p:nvPr/>
        </p:nvSpPr>
        <p:spPr>
          <a:xfrm>
            <a:off x="1555115" y="2771140"/>
            <a:ext cx="605790" cy="368300"/>
          </a:xfrm>
          <a:prstGeom prst="rect">
            <a:avLst/>
          </a:prstGeom>
          <a:noFill/>
        </p:spPr>
        <p:txBody>
          <a:bodyPr wrap="square" rtlCol="0">
            <a:spAutoFit/>
          </a:bodyPr>
          <a:p>
            <a:r>
              <a:rPr lang="en-US" altLang="zh-CN"/>
              <a:t>resp</a:t>
            </a:r>
            <a:endParaRPr lang="en-US" altLang="zh-CN"/>
          </a:p>
        </p:txBody>
      </p:sp>
      <p:cxnSp>
        <p:nvCxnSpPr>
          <p:cNvPr id="92" name="直接箭头连接符 91"/>
          <p:cNvCxnSpPr/>
          <p:nvPr/>
        </p:nvCxnSpPr>
        <p:spPr>
          <a:xfrm flipH="1">
            <a:off x="1640840" y="2725420"/>
            <a:ext cx="516255"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 name="直接箭头连接符 2"/>
          <p:cNvCxnSpPr/>
          <p:nvPr/>
        </p:nvCxnSpPr>
        <p:spPr>
          <a:xfrm flipH="1">
            <a:off x="1588135" y="5649595"/>
            <a:ext cx="589280"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rot="18900000">
            <a:off x="9079230" y="4077970"/>
            <a:ext cx="875665" cy="368300"/>
          </a:xfrm>
          <a:prstGeom prst="rect">
            <a:avLst/>
          </a:prstGeom>
          <a:noFill/>
        </p:spPr>
        <p:txBody>
          <a:bodyPr wrap="square" rtlCol="0">
            <a:spAutoFit/>
          </a:bodyPr>
          <a:p>
            <a:pPr algn="ctr"/>
            <a:r>
              <a:rPr lang="en-US" altLang="zh-CN"/>
              <a:t>save</a:t>
            </a:r>
            <a:endParaRPr lang="en-US" altLang="zh-CN"/>
          </a:p>
        </p:txBody>
      </p:sp>
      <p:sp>
        <p:nvSpPr>
          <p:cNvPr id="9" name="文本框 8"/>
          <p:cNvSpPr txBox="1"/>
          <p:nvPr/>
        </p:nvSpPr>
        <p:spPr>
          <a:xfrm rot="18480000">
            <a:off x="9653905" y="4481195"/>
            <a:ext cx="875665" cy="368300"/>
          </a:xfrm>
          <a:prstGeom prst="rect">
            <a:avLst/>
          </a:prstGeom>
          <a:noFill/>
        </p:spPr>
        <p:txBody>
          <a:bodyPr wrap="square" rtlCol="0">
            <a:spAutoFit/>
          </a:bodyPr>
          <a:p>
            <a:pPr algn="ctr"/>
            <a:r>
              <a:rPr lang="en-US" altLang="zh-CN"/>
              <a:t>retrive</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2000" tmFilter="0, 0; .2, .5; .8, .5; 1, 0"/>
                                        <p:tgtEl>
                                          <p:spTgt spid="8"/>
                                        </p:tgtEl>
                                      </p:cBhvr>
                                    </p:animEffect>
                                    <p:animScale>
                                      <p:cBhvr>
                                        <p:cTn id="7" dur="1000" autoRev="1" fill="hold"/>
                                        <p:tgtEl>
                                          <p:spTgt spid="8"/>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1" presetClass="emph" presetSubtype="0" fill="hold" nodeType="clickEffect">
                                  <p:stCondLst>
                                    <p:cond delay="0"/>
                                  </p:stCondLst>
                                  <p:childTnLst>
                                    <p:animClr clrSpc="hsl" dir="cw">
                                      <p:cBhvr override="childStyle">
                                        <p:cTn id="11" dur="2000" fill="hold"/>
                                        <p:tgtEl>
                                          <p:spTgt spid="13"/>
                                        </p:tgtEl>
                                        <p:attrNameLst>
                                          <p:attrName>style.color</p:attrName>
                                        </p:attrNameLst>
                                      </p:cBhvr>
                                      <p:by>
                                        <p:hsl h="7200000" s="0" l="0"/>
                                      </p:by>
                                    </p:animClr>
                                    <p:animClr clrSpc="hsl" dir="cw">
                                      <p:cBhvr>
                                        <p:cTn id="12" dur="2000" fill="hold"/>
                                        <p:tgtEl>
                                          <p:spTgt spid="13"/>
                                        </p:tgtEl>
                                        <p:attrNameLst>
                                          <p:attrName>fillcolor</p:attrName>
                                        </p:attrNameLst>
                                      </p:cBhvr>
                                      <p:by>
                                        <p:hsl h="7200000" s="0" l="0"/>
                                      </p:by>
                                    </p:animClr>
                                    <p:animClr clrSpc="hsl" dir="cw">
                                      <p:cBhvr>
                                        <p:cTn id="13" dur="2000" fill="hold"/>
                                        <p:tgtEl>
                                          <p:spTgt spid="13"/>
                                        </p:tgtEl>
                                        <p:attrNameLst>
                                          <p:attrName>stroke.color</p:attrName>
                                        </p:attrNameLst>
                                      </p:cBhvr>
                                      <p:by>
                                        <p:hsl h="7200000" s="0" l="0"/>
                                      </p:by>
                                    </p:animClr>
                                    <p:set>
                                      <p:cBhvr>
                                        <p:cTn id="14" dur="2000" fill="hold"/>
                                        <p:tgtEl>
                                          <p:spTgt spid="13"/>
                                        </p:tgtEl>
                                        <p:attrNameLst>
                                          <p:attrName>fill.type</p:attrName>
                                        </p:attrNameLst>
                                      </p:cBhvr>
                                      <p:to>
                                        <p:strVal val="solid"/>
                                      </p:to>
                                    </p:set>
                                  </p:childTnLst>
                                  <p:subTnLst>
                                    <p:animClr clrSpc="rgb" dir="cw">
                                      <p:cBhvr override="childStyle">
                                        <p:cTn dur="65" fill="hold" display="1" masterRel="nextClick" afterEffect="1"/>
                                        <p:tgtEl>
                                          <p:spTgt spid="13"/>
                                        </p:tgtEl>
                                        <p:attrNameLst>
                                          <p:attrName>ppt_c</p:attrName>
                                        </p:attrNameLst>
                                      </p:cBhvr>
                                      <p:to>
                                        <a:srgbClr val="009900"/>
                                      </p:to>
                                    </p:animClr>
                                  </p:subTnLst>
                                </p:cTn>
                              </p:par>
                              <p:par>
                                <p:cTn id="15" presetID="6" presetClass="emph" presetSubtype="0" fill="hold" grpId="0" nodeType="withEffect">
                                  <p:stCondLst>
                                    <p:cond delay="0"/>
                                  </p:stCondLst>
                                  <p:childTnLst>
                                    <p:animScale>
                                      <p:cBhvr>
                                        <p:cTn id="16" dur="2000" fill="hold"/>
                                        <p:tgtEl>
                                          <p:spTgt spid="16"/>
                                        </p:tgtEl>
                                      </p:cBhvr>
                                      <p:by x="150000" y="150000"/>
                                    </p:animScale>
                                  </p:childTnLst>
                                </p:cTn>
                              </p:par>
                            </p:childTnLst>
                          </p:cTn>
                        </p:par>
                      </p:childTnLst>
                    </p:cTn>
                  </p:par>
                  <p:par>
                    <p:cTn id="17" fill="hold">
                      <p:stCondLst>
                        <p:cond delay="indefinite"/>
                      </p:stCondLst>
                      <p:childTnLst>
                        <p:par>
                          <p:cTn id="18" fill="hold">
                            <p:stCondLst>
                              <p:cond delay="0"/>
                            </p:stCondLst>
                            <p:childTnLst>
                              <p:par>
                                <p:cTn id="19" presetID="26" presetClass="emph" presetSubtype="0" fill="hold" grpId="0" nodeType="clickEffect">
                                  <p:stCondLst>
                                    <p:cond delay="0"/>
                                  </p:stCondLst>
                                  <p:childTnLst>
                                    <p:animEffect transition="out" filter="fade">
                                      <p:cBhvr>
                                        <p:cTn id="20" dur="2000" tmFilter="0, 0; .2, .5; .8, .5; 1, 0"/>
                                        <p:tgtEl>
                                          <p:spTgt spid="32"/>
                                        </p:tgtEl>
                                      </p:cBhvr>
                                    </p:animEffect>
                                    <p:animScale>
                                      <p:cBhvr>
                                        <p:cTn id="21" dur="1000" autoRev="1" fill="hold"/>
                                        <p:tgtEl>
                                          <p:spTgt spid="32"/>
                                        </p:tgtEl>
                                      </p:cBhvr>
                                      <p:by x="105000" y="105000"/>
                                    </p:animScale>
                                  </p:childTnLst>
                                </p:cTn>
                              </p:par>
                            </p:childTnLst>
                          </p:cTn>
                        </p:par>
                      </p:childTnLst>
                    </p:cTn>
                  </p:par>
                  <p:par>
                    <p:cTn id="22" fill="hold">
                      <p:stCondLst>
                        <p:cond delay="indefinite"/>
                      </p:stCondLst>
                      <p:childTnLst>
                        <p:par>
                          <p:cTn id="23" fill="hold">
                            <p:stCondLst>
                              <p:cond delay="0"/>
                            </p:stCondLst>
                            <p:childTnLst>
                              <p:par>
                                <p:cTn id="24" presetID="21" presetClass="emph" presetSubtype="0" fill="hold" nodeType="clickEffect">
                                  <p:stCondLst>
                                    <p:cond delay="0"/>
                                  </p:stCondLst>
                                  <p:childTnLst>
                                    <p:animClr clrSpc="hsl" dir="cw">
                                      <p:cBhvr override="childStyle">
                                        <p:cTn id="25" dur="2000" fill="hold"/>
                                        <p:tgtEl>
                                          <p:spTgt spid="56"/>
                                        </p:tgtEl>
                                        <p:attrNameLst>
                                          <p:attrName>style.color</p:attrName>
                                        </p:attrNameLst>
                                      </p:cBhvr>
                                      <p:by>
                                        <p:hsl h="7200000" s="0" l="0"/>
                                      </p:by>
                                    </p:animClr>
                                    <p:animClr clrSpc="hsl" dir="cw">
                                      <p:cBhvr>
                                        <p:cTn id="26" dur="2000" fill="hold"/>
                                        <p:tgtEl>
                                          <p:spTgt spid="56"/>
                                        </p:tgtEl>
                                        <p:attrNameLst>
                                          <p:attrName>fillcolor</p:attrName>
                                        </p:attrNameLst>
                                      </p:cBhvr>
                                      <p:by>
                                        <p:hsl h="7200000" s="0" l="0"/>
                                      </p:by>
                                    </p:animClr>
                                    <p:animClr clrSpc="hsl" dir="cw">
                                      <p:cBhvr>
                                        <p:cTn id="27" dur="2000" fill="hold"/>
                                        <p:tgtEl>
                                          <p:spTgt spid="56"/>
                                        </p:tgtEl>
                                        <p:attrNameLst>
                                          <p:attrName>stroke.color</p:attrName>
                                        </p:attrNameLst>
                                      </p:cBhvr>
                                      <p:by>
                                        <p:hsl h="7200000" s="0" l="0"/>
                                      </p:by>
                                    </p:animClr>
                                    <p:set>
                                      <p:cBhvr>
                                        <p:cTn id="28" dur="2000" fill="hold"/>
                                        <p:tgtEl>
                                          <p:spTgt spid="56"/>
                                        </p:tgtEl>
                                        <p:attrNameLst>
                                          <p:attrName>fill.type</p:attrName>
                                        </p:attrNameLst>
                                      </p:cBhvr>
                                      <p:to>
                                        <p:strVal val="solid"/>
                                      </p:to>
                                    </p:set>
                                  </p:childTnLst>
                                  <p:subTnLst>
                                    <p:animClr clrSpc="rgb" dir="cw">
                                      <p:cBhvr override="childStyle">
                                        <p:cTn dur="65" fill="hold" display="1" masterRel="nextClick" afterEffect="1"/>
                                        <p:tgtEl>
                                          <p:spTgt spid="56"/>
                                        </p:tgtEl>
                                        <p:attrNameLst>
                                          <p:attrName>ppt_c</p:attrName>
                                        </p:attrNameLst>
                                      </p:cBhvr>
                                      <p:to>
                                        <a:srgbClr val="009900"/>
                                      </p:to>
                                    </p:animClr>
                                  </p:subTnLst>
                                </p:cTn>
                              </p:par>
                              <p:par>
                                <p:cTn id="29" presetID="6" presetClass="emph" presetSubtype="0" fill="hold" grpId="0" nodeType="withEffect">
                                  <p:stCondLst>
                                    <p:cond delay="0"/>
                                  </p:stCondLst>
                                  <p:childTnLst>
                                    <p:animScale>
                                      <p:cBhvr>
                                        <p:cTn id="30" dur="2000" fill="hold"/>
                                        <p:tgtEl>
                                          <p:spTgt spid="61"/>
                                        </p:tgtEl>
                                      </p:cBhvr>
                                      <p:by x="150000" y="150000"/>
                                    </p:animScale>
                                  </p:childTnLst>
                                </p:cTn>
                              </p:par>
                            </p:childTnLst>
                          </p:cTn>
                        </p:par>
                      </p:childTnLst>
                    </p:cTn>
                  </p:par>
                  <p:par>
                    <p:cTn id="31" fill="hold">
                      <p:stCondLst>
                        <p:cond delay="indefinite"/>
                      </p:stCondLst>
                      <p:childTnLst>
                        <p:par>
                          <p:cTn id="32" fill="hold">
                            <p:stCondLst>
                              <p:cond delay="0"/>
                            </p:stCondLst>
                            <p:childTnLst>
                              <p:par>
                                <p:cTn id="33" presetID="26" presetClass="emph" presetSubtype="0" fill="hold" grpId="0" nodeType="clickEffect">
                                  <p:stCondLst>
                                    <p:cond delay="0"/>
                                  </p:stCondLst>
                                  <p:childTnLst>
                                    <p:animEffect transition="out" filter="fade">
                                      <p:cBhvr>
                                        <p:cTn id="34" dur="500" tmFilter="0, 0; .2, .5; .8, .5; 1, 0"/>
                                        <p:tgtEl>
                                          <p:spTgt spid="6"/>
                                        </p:tgtEl>
                                      </p:cBhvr>
                                    </p:animEffect>
                                    <p:animScale>
                                      <p:cBhvr>
                                        <p:cTn id="35" dur="250" autoRev="1" fill="hold"/>
                                        <p:tgtEl>
                                          <p:spTgt spid="6"/>
                                        </p:tgtEl>
                                      </p:cBhvr>
                                      <p:by x="105000" y="105000"/>
                                    </p:animScale>
                                  </p:childTnLst>
                                </p:cTn>
                              </p:par>
                            </p:childTnLst>
                          </p:cTn>
                        </p:par>
                      </p:childTnLst>
                    </p:cTn>
                  </p:par>
                  <p:par>
                    <p:cTn id="36" fill="hold">
                      <p:stCondLst>
                        <p:cond delay="indefinite"/>
                      </p:stCondLst>
                      <p:childTnLst>
                        <p:par>
                          <p:cTn id="37" fill="hold">
                            <p:stCondLst>
                              <p:cond delay="0"/>
                            </p:stCondLst>
                            <p:childTnLst>
                              <p:par>
                                <p:cTn id="38" presetID="26" presetClass="emph" presetSubtype="0" fill="hold" grpId="0" nodeType="clickEffect">
                                  <p:stCondLst>
                                    <p:cond delay="0"/>
                                  </p:stCondLst>
                                  <p:childTnLst>
                                    <p:animEffect transition="out" filter="fade">
                                      <p:cBhvr>
                                        <p:cTn id="39" dur="2000" tmFilter="0, 0; .2, .5; .8, .5; 1, 0"/>
                                        <p:tgtEl>
                                          <p:spTgt spid="5"/>
                                        </p:tgtEl>
                                      </p:cBhvr>
                                    </p:animEffect>
                                    <p:animScale>
                                      <p:cBhvr>
                                        <p:cTn id="40" dur="1000" autoRev="1" fill="hold"/>
                                        <p:tgtEl>
                                          <p:spTgt spid="5"/>
                                        </p:tgtEl>
                                      </p:cBhvr>
                                      <p:by x="105000" y="105000"/>
                                    </p:animScale>
                                  </p:childTnLst>
                                </p:cTn>
                              </p:par>
                              <p:par>
                                <p:cTn id="41" presetID="27" presetClass="emph" presetSubtype="0" fill="hold" grpId="1" nodeType="withEffect">
                                  <p:stCondLst>
                                    <p:cond delay="0"/>
                                  </p:stCondLst>
                                  <p:childTnLst>
                                    <p:animClr clrSpc="rgb" dir="cw">
                                      <p:cBhvr override="childStyle">
                                        <p:cTn id="42" dur="250" autoRev="1" fill="hold"/>
                                        <p:tgtEl>
                                          <p:spTgt spid="69"/>
                                        </p:tgtEl>
                                        <p:attrNameLst>
                                          <p:attrName>style.color</p:attrName>
                                        </p:attrNameLst>
                                      </p:cBhvr>
                                      <p:to>
                                        <a:schemeClr val="bg1"/>
                                      </p:to>
                                    </p:animClr>
                                    <p:animClr clrSpc="rgb" dir="cw">
                                      <p:cBhvr>
                                        <p:cTn id="43" dur="250" autoRev="1" fill="hold"/>
                                        <p:tgtEl>
                                          <p:spTgt spid="69"/>
                                        </p:tgtEl>
                                        <p:attrNameLst>
                                          <p:attrName>fillcolor</p:attrName>
                                        </p:attrNameLst>
                                      </p:cBhvr>
                                      <p:to>
                                        <a:schemeClr val="bg1"/>
                                      </p:to>
                                    </p:animClr>
                                    <p:set>
                                      <p:cBhvr>
                                        <p:cTn id="44" dur="250" autoRev="1" fill="hold"/>
                                        <p:tgtEl>
                                          <p:spTgt spid="69"/>
                                        </p:tgtEl>
                                        <p:attrNameLst>
                                          <p:attrName>fill.type</p:attrName>
                                        </p:attrNameLst>
                                      </p:cBhvr>
                                      <p:to>
                                        <p:strVal val="solid"/>
                                      </p:to>
                                    </p:set>
                                    <p:set>
                                      <p:cBhvr>
                                        <p:cTn id="45" dur="250" autoRev="1" fill="hold"/>
                                        <p:tgtEl>
                                          <p:spTgt spid="69"/>
                                        </p:tgtEl>
                                        <p:attrNameLst>
                                          <p:attrName>fill.on</p:attrName>
                                        </p:attrNameLst>
                                      </p:cBhvr>
                                      <p:to>
                                        <p:strVal val="true"/>
                                      </p:to>
                                    </p:set>
                                  </p:childTnLst>
                                </p:cTn>
                              </p:par>
                            </p:childTnLst>
                          </p:cTn>
                        </p:par>
                      </p:childTnLst>
                    </p:cTn>
                  </p:par>
                  <p:par>
                    <p:cTn id="46" fill="hold">
                      <p:stCondLst>
                        <p:cond delay="indefinite"/>
                      </p:stCondLst>
                      <p:childTnLst>
                        <p:par>
                          <p:cTn id="47" fill="hold">
                            <p:stCondLst>
                              <p:cond delay="0"/>
                            </p:stCondLst>
                            <p:childTnLst>
                              <p:par>
                                <p:cTn id="48" presetID="26" presetClass="emph" presetSubtype="0" fill="hold" nodeType="clickEffect">
                                  <p:stCondLst>
                                    <p:cond delay="0"/>
                                  </p:stCondLst>
                                  <p:childTnLst>
                                    <p:animEffect transition="out" filter="fade">
                                      <p:cBhvr>
                                        <p:cTn id="49" dur="2000" tmFilter="0, 0; .2, .5; .8, .5; 1, 0"/>
                                        <p:tgtEl>
                                          <p:spTgt spid="86"/>
                                        </p:tgtEl>
                                      </p:cBhvr>
                                    </p:animEffect>
                                    <p:animScale>
                                      <p:cBhvr>
                                        <p:cTn id="50" dur="1000" autoRev="1" fill="hold"/>
                                        <p:tgtEl>
                                          <p:spTgt spid="86"/>
                                        </p:tgtEl>
                                      </p:cBhvr>
                                      <p:by x="105000" y="105000"/>
                                    </p:animScale>
                                  </p:childTnLst>
                                  <p:subTnLst>
                                    <p:animClr clrSpc="rgb" dir="cw">
                                      <p:cBhvr override="childStyle">
                                        <p:cTn dur="65" fill="hold" display="1" masterRel="nextClick" afterEffect="1"/>
                                        <p:tgtEl>
                                          <p:spTgt spid="86"/>
                                        </p:tgtEl>
                                        <p:attrNameLst>
                                          <p:attrName>ppt_c</p:attrName>
                                        </p:attrNameLst>
                                      </p:cBhvr>
                                      <p:to>
                                        <a:srgbClr val="009900"/>
                                      </p:to>
                                    </p:animClr>
                                  </p:subTnLst>
                                </p:cTn>
                              </p:par>
                              <p:par>
                                <p:cTn id="51" presetID="6" presetClass="emph" presetSubtype="0" fill="hold" grpId="0" nodeType="withEffect">
                                  <p:stCondLst>
                                    <p:cond delay="0"/>
                                  </p:stCondLst>
                                  <p:childTnLst>
                                    <p:animScale>
                                      <p:cBhvr>
                                        <p:cTn id="52" dur="2000" fill="hold"/>
                                        <p:tgtEl>
                                          <p:spTgt spid="88"/>
                                        </p:tgtEl>
                                      </p:cBhvr>
                                      <p:by x="150000" y="150000"/>
                                    </p:animScale>
                                  </p:childTnLst>
                                </p:cTn>
                              </p:par>
                              <p:par>
                                <p:cTn id="53" presetID="6" presetClass="emph" presetSubtype="0" fill="hold" grpId="0" nodeType="withEffect">
                                  <p:stCondLst>
                                    <p:cond delay="0"/>
                                  </p:stCondLst>
                                  <p:childTnLst>
                                    <p:animScale>
                                      <p:cBhvr>
                                        <p:cTn id="54" dur="2000" fill="hold"/>
                                        <p:tgtEl>
                                          <p:spTgt spid="73"/>
                                        </p:tgtEl>
                                      </p:cBhvr>
                                      <p:by x="150000" y="150000"/>
                                    </p:animScale>
                                  </p:childTnLst>
                                </p:cTn>
                              </p:par>
                            </p:childTnLst>
                          </p:cTn>
                        </p:par>
                      </p:childTnLst>
                    </p:cTn>
                  </p:par>
                  <p:par>
                    <p:cTn id="55" fill="hold">
                      <p:stCondLst>
                        <p:cond delay="indefinite"/>
                      </p:stCondLst>
                      <p:childTnLst>
                        <p:par>
                          <p:cTn id="56" fill="hold">
                            <p:stCondLst>
                              <p:cond delay="0"/>
                            </p:stCondLst>
                            <p:childTnLst>
                              <p:par>
                                <p:cTn id="57" presetID="21" presetClass="emph" presetSubtype="0" fill="hold" nodeType="clickEffect">
                                  <p:stCondLst>
                                    <p:cond delay="0"/>
                                  </p:stCondLst>
                                  <p:childTnLst>
                                    <p:animClr clrSpc="hsl" dir="cw">
                                      <p:cBhvr override="childStyle">
                                        <p:cTn id="58" dur="2000" fill="hold"/>
                                        <p:tgtEl>
                                          <p:spTgt spid="76"/>
                                        </p:tgtEl>
                                        <p:attrNameLst>
                                          <p:attrName>style.color</p:attrName>
                                        </p:attrNameLst>
                                      </p:cBhvr>
                                      <p:by>
                                        <p:hsl h="7200000" s="0" l="0"/>
                                      </p:by>
                                    </p:animClr>
                                    <p:animClr clrSpc="hsl" dir="cw">
                                      <p:cBhvr>
                                        <p:cTn id="59" dur="2000" fill="hold"/>
                                        <p:tgtEl>
                                          <p:spTgt spid="76"/>
                                        </p:tgtEl>
                                        <p:attrNameLst>
                                          <p:attrName>fillcolor</p:attrName>
                                        </p:attrNameLst>
                                      </p:cBhvr>
                                      <p:by>
                                        <p:hsl h="7200000" s="0" l="0"/>
                                      </p:by>
                                    </p:animClr>
                                    <p:animClr clrSpc="hsl" dir="cw">
                                      <p:cBhvr>
                                        <p:cTn id="60" dur="2000" fill="hold"/>
                                        <p:tgtEl>
                                          <p:spTgt spid="76"/>
                                        </p:tgtEl>
                                        <p:attrNameLst>
                                          <p:attrName>stroke.color</p:attrName>
                                        </p:attrNameLst>
                                      </p:cBhvr>
                                      <p:by>
                                        <p:hsl h="7200000" s="0" l="0"/>
                                      </p:by>
                                    </p:animClr>
                                    <p:set>
                                      <p:cBhvr>
                                        <p:cTn id="61" dur="2000" fill="hold"/>
                                        <p:tgtEl>
                                          <p:spTgt spid="76"/>
                                        </p:tgtEl>
                                        <p:attrNameLst>
                                          <p:attrName>fill.type</p:attrName>
                                        </p:attrNameLst>
                                      </p:cBhvr>
                                      <p:to>
                                        <p:strVal val="solid"/>
                                      </p:to>
                                    </p:set>
                                  </p:childTnLst>
                                  <p:subTnLst>
                                    <p:animClr clrSpc="rgb" dir="cw">
                                      <p:cBhvr override="childStyle">
                                        <p:cTn dur="65" fill="hold" display="1" masterRel="nextClick" afterEffect="1"/>
                                        <p:tgtEl>
                                          <p:spTgt spid="76"/>
                                        </p:tgtEl>
                                        <p:attrNameLst>
                                          <p:attrName>ppt_c</p:attrName>
                                        </p:attrNameLst>
                                      </p:cBhvr>
                                      <p:to>
                                        <a:srgbClr val="009900"/>
                                      </p:to>
                                    </p:animClr>
                                  </p:subTnLst>
                                </p:cTn>
                              </p:par>
                              <p:par>
                                <p:cTn id="62" presetID="6" presetClass="emph" presetSubtype="0" fill="hold" grpId="0" nodeType="withEffect">
                                  <p:stCondLst>
                                    <p:cond delay="0"/>
                                  </p:stCondLst>
                                  <p:childTnLst>
                                    <p:animScale>
                                      <p:cBhvr>
                                        <p:cTn id="63" dur="2000" fill="hold"/>
                                        <p:tgtEl>
                                          <p:spTgt spid="4"/>
                                        </p:tgtEl>
                                      </p:cBhvr>
                                      <p:by x="150000" y="150000"/>
                                    </p:animScale>
                                  </p:childTnLst>
                                </p:cTn>
                              </p:par>
                            </p:childTnLst>
                          </p:cTn>
                        </p:par>
                      </p:childTnLst>
                    </p:cTn>
                  </p:par>
                  <p:par>
                    <p:cTn id="64" fill="hold">
                      <p:stCondLst>
                        <p:cond delay="indefinite"/>
                      </p:stCondLst>
                      <p:childTnLst>
                        <p:par>
                          <p:cTn id="65" fill="hold">
                            <p:stCondLst>
                              <p:cond delay="0"/>
                            </p:stCondLst>
                            <p:childTnLst>
                              <p:par>
                                <p:cTn id="66" presetID="26" presetClass="emph" presetSubtype="0" fill="hold" grpId="0" nodeType="clickEffect">
                                  <p:stCondLst>
                                    <p:cond delay="0"/>
                                  </p:stCondLst>
                                  <p:childTnLst>
                                    <p:animEffect transition="out" filter="fade">
                                      <p:cBhvr>
                                        <p:cTn id="67" dur="500" tmFilter="0, 0; .2, .5; .8, .5; 1, 0"/>
                                        <p:tgtEl>
                                          <p:spTgt spid="12"/>
                                        </p:tgtEl>
                                      </p:cBhvr>
                                    </p:animEffect>
                                    <p:animScale>
                                      <p:cBhvr>
                                        <p:cTn id="68" dur="250" autoRev="1" fill="hold"/>
                                        <p:tgtEl>
                                          <p:spTgt spid="12"/>
                                        </p:tgtEl>
                                      </p:cBhvr>
                                      <p:by x="105000" y="105000"/>
                                    </p:animScale>
                                  </p:childTnLst>
                                </p:cTn>
                              </p:par>
                            </p:childTnLst>
                          </p:cTn>
                        </p:par>
                      </p:childTnLst>
                    </p:cTn>
                  </p:par>
                  <p:par>
                    <p:cTn id="69" fill="hold">
                      <p:stCondLst>
                        <p:cond delay="indefinite"/>
                      </p:stCondLst>
                      <p:childTnLst>
                        <p:par>
                          <p:cTn id="70" fill="hold">
                            <p:stCondLst>
                              <p:cond delay="0"/>
                            </p:stCondLst>
                            <p:childTnLst>
                              <p:par>
                                <p:cTn id="71" presetID="21" presetClass="emph" presetSubtype="0" fill="hold" nodeType="clickEffect">
                                  <p:stCondLst>
                                    <p:cond delay="0"/>
                                  </p:stCondLst>
                                  <p:childTnLst>
                                    <p:animClr clrSpc="hsl" dir="cw">
                                      <p:cBhvr override="childStyle">
                                        <p:cTn id="72" dur="2000" fill="hold"/>
                                        <p:tgtEl>
                                          <p:spTgt spid="77"/>
                                        </p:tgtEl>
                                        <p:attrNameLst>
                                          <p:attrName>style.color</p:attrName>
                                        </p:attrNameLst>
                                      </p:cBhvr>
                                      <p:by>
                                        <p:hsl h="7200000" s="0" l="0"/>
                                      </p:by>
                                    </p:animClr>
                                    <p:animClr clrSpc="hsl" dir="cw">
                                      <p:cBhvr>
                                        <p:cTn id="73" dur="2000" fill="hold"/>
                                        <p:tgtEl>
                                          <p:spTgt spid="77"/>
                                        </p:tgtEl>
                                        <p:attrNameLst>
                                          <p:attrName>fillcolor</p:attrName>
                                        </p:attrNameLst>
                                      </p:cBhvr>
                                      <p:by>
                                        <p:hsl h="7200000" s="0" l="0"/>
                                      </p:by>
                                    </p:animClr>
                                    <p:animClr clrSpc="hsl" dir="cw">
                                      <p:cBhvr>
                                        <p:cTn id="74" dur="2000" fill="hold"/>
                                        <p:tgtEl>
                                          <p:spTgt spid="77"/>
                                        </p:tgtEl>
                                        <p:attrNameLst>
                                          <p:attrName>stroke.color</p:attrName>
                                        </p:attrNameLst>
                                      </p:cBhvr>
                                      <p:by>
                                        <p:hsl h="7200000" s="0" l="0"/>
                                      </p:by>
                                    </p:animClr>
                                    <p:set>
                                      <p:cBhvr>
                                        <p:cTn id="75" dur="2000" fill="hold"/>
                                        <p:tgtEl>
                                          <p:spTgt spid="77"/>
                                        </p:tgtEl>
                                        <p:attrNameLst>
                                          <p:attrName>fill.type</p:attrName>
                                        </p:attrNameLst>
                                      </p:cBhvr>
                                      <p:to>
                                        <p:strVal val="solid"/>
                                      </p:to>
                                    </p:set>
                                  </p:childTnLst>
                                  <p:subTnLst>
                                    <p:animClr clrSpc="rgb" dir="cw">
                                      <p:cBhvr override="childStyle">
                                        <p:cTn dur="65" fill="hold" display="1" masterRel="nextClick" afterEffect="1"/>
                                        <p:tgtEl>
                                          <p:spTgt spid="77"/>
                                        </p:tgtEl>
                                        <p:attrNameLst>
                                          <p:attrName>ppt_c</p:attrName>
                                        </p:attrNameLst>
                                      </p:cBhvr>
                                      <p:to>
                                        <a:srgbClr val="009900"/>
                                      </p:to>
                                    </p:animClr>
                                  </p:subTnLst>
                                </p:cTn>
                              </p:par>
                              <p:par>
                                <p:cTn id="76" presetID="6" presetClass="emph" presetSubtype="0" fill="hold" grpId="0" nodeType="withEffect">
                                  <p:stCondLst>
                                    <p:cond delay="0"/>
                                  </p:stCondLst>
                                  <p:childTnLst>
                                    <p:animScale>
                                      <p:cBhvr>
                                        <p:cTn id="77" dur="2000" fill="hold"/>
                                        <p:tgtEl>
                                          <p:spTgt spid="9"/>
                                        </p:tgtEl>
                                      </p:cBhvr>
                                      <p:by x="150000" y="150000"/>
                                    </p:animScale>
                                  </p:childTnLst>
                                </p:cTn>
                              </p:par>
                            </p:childTnLst>
                          </p:cTn>
                        </p:par>
                      </p:childTnLst>
                    </p:cTn>
                  </p:par>
                  <p:par>
                    <p:cTn id="78" fill="hold">
                      <p:stCondLst>
                        <p:cond delay="indefinite"/>
                      </p:stCondLst>
                      <p:childTnLst>
                        <p:par>
                          <p:cTn id="79" fill="hold">
                            <p:stCondLst>
                              <p:cond delay="0"/>
                            </p:stCondLst>
                            <p:childTnLst>
                              <p:par>
                                <p:cTn id="80" presetID="26" presetClass="emph" presetSubtype="0" fill="hold" grpId="2" nodeType="clickEffect">
                                  <p:stCondLst>
                                    <p:cond delay="0"/>
                                  </p:stCondLst>
                                  <p:childTnLst>
                                    <p:animEffect transition="out" filter="fade">
                                      <p:cBhvr>
                                        <p:cTn id="81" dur="2000" tmFilter="0, 0; .2, .5; .8, .5; 1, 0"/>
                                        <p:tgtEl>
                                          <p:spTgt spid="5"/>
                                        </p:tgtEl>
                                      </p:cBhvr>
                                    </p:animEffect>
                                    <p:animScale>
                                      <p:cBhvr>
                                        <p:cTn id="82" dur="1000" autoRev="1" fill="hold"/>
                                        <p:tgtEl>
                                          <p:spTgt spid="5"/>
                                        </p:tgtEl>
                                      </p:cBhvr>
                                      <p:by x="105000" y="105000"/>
                                    </p:animScale>
                                  </p:childTnLst>
                                </p:cTn>
                              </p:par>
                            </p:childTnLst>
                          </p:cTn>
                        </p:par>
                      </p:childTnLst>
                    </p:cTn>
                  </p:par>
                  <p:par>
                    <p:cTn id="83" fill="hold">
                      <p:stCondLst>
                        <p:cond delay="indefinite"/>
                      </p:stCondLst>
                      <p:childTnLst>
                        <p:par>
                          <p:cTn id="84" fill="hold">
                            <p:stCondLst>
                              <p:cond delay="0"/>
                            </p:stCondLst>
                            <p:childTnLst>
                              <p:par>
                                <p:cTn id="85" presetID="21" presetClass="emph" presetSubtype="0" fill="hold" nodeType="clickEffect">
                                  <p:stCondLst>
                                    <p:cond delay="0"/>
                                  </p:stCondLst>
                                  <p:childTnLst>
                                    <p:animClr clrSpc="hsl" dir="cw">
                                      <p:cBhvr override="childStyle">
                                        <p:cTn id="86" dur="2000" fill="hold"/>
                                        <p:tgtEl>
                                          <p:spTgt spid="79"/>
                                        </p:tgtEl>
                                        <p:attrNameLst>
                                          <p:attrName>style.color</p:attrName>
                                        </p:attrNameLst>
                                      </p:cBhvr>
                                      <p:by>
                                        <p:hsl h="7200000" s="0" l="0"/>
                                      </p:by>
                                    </p:animClr>
                                    <p:animClr clrSpc="hsl" dir="cw">
                                      <p:cBhvr>
                                        <p:cTn id="87" dur="2000" fill="hold"/>
                                        <p:tgtEl>
                                          <p:spTgt spid="79"/>
                                        </p:tgtEl>
                                        <p:attrNameLst>
                                          <p:attrName>fillcolor</p:attrName>
                                        </p:attrNameLst>
                                      </p:cBhvr>
                                      <p:by>
                                        <p:hsl h="7200000" s="0" l="0"/>
                                      </p:by>
                                    </p:animClr>
                                    <p:animClr clrSpc="hsl" dir="cw">
                                      <p:cBhvr>
                                        <p:cTn id="88" dur="2000" fill="hold"/>
                                        <p:tgtEl>
                                          <p:spTgt spid="79"/>
                                        </p:tgtEl>
                                        <p:attrNameLst>
                                          <p:attrName>stroke.color</p:attrName>
                                        </p:attrNameLst>
                                      </p:cBhvr>
                                      <p:by>
                                        <p:hsl h="7200000" s="0" l="0"/>
                                      </p:by>
                                    </p:animClr>
                                    <p:set>
                                      <p:cBhvr>
                                        <p:cTn id="89" dur="2000" fill="hold"/>
                                        <p:tgtEl>
                                          <p:spTgt spid="79"/>
                                        </p:tgtEl>
                                        <p:attrNameLst>
                                          <p:attrName>fill.type</p:attrName>
                                        </p:attrNameLst>
                                      </p:cBhvr>
                                      <p:to>
                                        <p:strVal val="solid"/>
                                      </p:to>
                                    </p:set>
                                  </p:childTnLst>
                                  <p:subTnLst>
                                    <p:animClr clrSpc="rgb" dir="cw">
                                      <p:cBhvr override="childStyle">
                                        <p:cTn dur="65" fill="hold" display="1" masterRel="nextClick" afterEffect="1"/>
                                        <p:tgtEl>
                                          <p:spTgt spid="79"/>
                                        </p:tgtEl>
                                        <p:attrNameLst>
                                          <p:attrName>ppt_c</p:attrName>
                                        </p:attrNameLst>
                                      </p:cBhvr>
                                      <p:to>
                                        <a:srgbClr val="009900"/>
                                      </p:to>
                                    </p:animClr>
                                  </p:subTnLst>
                                </p:cTn>
                              </p:par>
                              <p:par>
                                <p:cTn id="90" presetID="6" presetClass="emph" presetSubtype="0" fill="hold" grpId="0" nodeType="withEffect">
                                  <p:stCondLst>
                                    <p:cond delay="0"/>
                                  </p:stCondLst>
                                  <p:childTnLst>
                                    <p:animScale>
                                      <p:cBhvr>
                                        <p:cTn id="91" dur="2000" fill="hold"/>
                                        <p:tgtEl>
                                          <p:spTgt spid="80"/>
                                        </p:tgtEl>
                                      </p:cBhvr>
                                      <p:by x="150000" y="150000"/>
                                    </p:animScale>
                                  </p:childTnLst>
                                </p:cTn>
                              </p:par>
                            </p:childTnLst>
                          </p:cTn>
                        </p:par>
                      </p:childTnLst>
                    </p:cTn>
                  </p:par>
                  <p:par>
                    <p:cTn id="92" fill="hold">
                      <p:stCondLst>
                        <p:cond delay="indefinite"/>
                      </p:stCondLst>
                      <p:childTnLst>
                        <p:par>
                          <p:cTn id="93" fill="hold">
                            <p:stCondLst>
                              <p:cond delay="0"/>
                            </p:stCondLst>
                            <p:childTnLst>
                              <p:par>
                                <p:cTn id="94" presetID="26" presetClass="emph" presetSubtype="0" fill="hold" grpId="0" nodeType="clickEffect">
                                  <p:stCondLst>
                                    <p:cond delay="0"/>
                                  </p:stCondLst>
                                  <p:childTnLst>
                                    <p:animEffect transition="out" filter="fade">
                                      <p:cBhvr>
                                        <p:cTn id="95" dur="500" tmFilter="0, 0; .2, .5; .8, .5; 1, 0"/>
                                        <p:tgtEl>
                                          <p:spTgt spid="46"/>
                                        </p:tgtEl>
                                      </p:cBhvr>
                                    </p:animEffect>
                                    <p:animScale>
                                      <p:cBhvr>
                                        <p:cTn id="96" dur="250" autoRev="1" fill="hold"/>
                                        <p:tgtEl>
                                          <p:spTgt spid="46"/>
                                        </p:tgtEl>
                                      </p:cBhvr>
                                      <p:by x="105000" y="105000"/>
                                    </p:animScale>
                                  </p:childTnLst>
                                </p:cTn>
                              </p:par>
                            </p:childTnLst>
                          </p:cTn>
                        </p:par>
                      </p:childTnLst>
                    </p:cTn>
                  </p:par>
                  <p:par>
                    <p:cTn id="97" fill="hold">
                      <p:stCondLst>
                        <p:cond delay="indefinite"/>
                      </p:stCondLst>
                      <p:childTnLst>
                        <p:par>
                          <p:cTn id="98" fill="hold">
                            <p:stCondLst>
                              <p:cond delay="0"/>
                            </p:stCondLst>
                            <p:childTnLst>
                              <p:par>
                                <p:cTn id="99" presetID="21" presetClass="emph" presetSubtype="0" fill="hold" nodeType="clickEffect">
                                  <p:stCondLst>
                                    <p:cond delay="0"/>
                                  </p:stCondLst>
                                  <p:childTnLst>
                                    <p:animClr clrSpc="hsl" dir="cw">
                                      <p:cBhvr override="childStyle">
                                        <p:cTn id="100" dur="2000" fill="hold"/>
                                        <p:tgtEl>
                                          <p:spTgt spid="52"/>
                                        </p:tgtEl>
                                        <p:attrNameLst>
                                          <p:attrName>style.color</p:attrName>
                                        </p:attrNameLst>
                                      </p:cBhvr>
                                      <p:by>
                                        <p:hsl h="7200000" s="0" l="0"/>
                                      </p:by>
                                    </p:animClr>
                                    <p:animClr clrSpc="hsl" dir="cw">
                                      <p:cBhvr>
                                        <p:cTn id="101" dur="2000" fill="hold"/>
                                        <p:tgtEl>
                                          <p:spTgt spid="52"/>
                                        </p:tgtEl>
                                        <p:attrNameLst>
                                          <p:attrName>fillcolor</p:attrName>
                                        </p:attrNameLst>
                                      </p:cBhvr>
                                      <p:by>
                                        <p:hsl h="7200000" s="0" l="0"/>
                                      </p:by>
                                    </p:animClr>
                                    <p:animClr clrSpc="hsl" dir="cw">
                                      <p:cBhvr>
                                        <p:cTn id="102" dur="2000" fill="hold"/>
                                        <p:tgtEl>
                                          <p:spTgt spid="52"/>
                                        </p:tgtEl>
                                        <p:attrNameLst>
                                          <p:attrName>stroke.color</p:attrName>
                                        </p:attrNameLst>
                                      </p:cBhvr>
                                      <p:by>
                                        <p:hsl h="7200000" s="0" l="0"/>
                                      </p:by>
                                    </p:animClr>
                                    <p:set>
                                      <p:cBhvr>
                                        <p:cTn id="103" dur="2000" fill="hold"/>
                                        <p:tgtEl>
                                          <p:spTgt spid="52"/>
                                        </p:tgtEl>
                                        <p:attrNameLst>
                                          <p:attrName>fill.type</p:attrName>
                                        </p:attrNameLst>
                                      </p:cBhvr>
                                      <p:to>
                                        <p:strVal val="solid"/>
                                      </p:to>
                                    </p:set>
                                  </p:childTnLst>
                                  <p:subTnLst>
                                    <p:animClr clrSpc="rgb" dir="cw">
                                      <p:cBhvr override="childStyle">
                                        <p:cTn dur="65" fill="hold" display="1" masterRel="nextClick" afterEffect="1"/>
                                        <p:tgtEl>
                                          <p:spTgt spid="52"/>
                                        </p:tgtEl>
                                        <p:attrNameLst>
                                          <p:attrName>ppt_c</p:attrName>
                                        </p:attrNameLst>
                                      </p:cBhvr>
                                      <p:to>
                                        <a:srgbClr val="009900"/>
                                      </p:to>
                                    </p:animClr>
                                  </p:subTnLst>
                                </p:cTn>
                              </p:par>
                              <p:par>
                                <p:cTn id="104" presetID="21" presetClass="emph" presetSubtype="0" fill="hold" nodeType="withEffect">
                                  <p:stCondLst>
                                    <p:cond delay="0"/>
                                  </p:stCondLst>
                                  <p:childTnLst>
                                    <p:animClr clrSpc="hsl" dir="cw">
                                      <p:cBhvr override="childStyle">
                                        <p:cTn id="105" dur="2000" fill="hold"/>
                                        <p:tgtEl>
                                          <p:spTgt spid="49"/>
                                        </p:tgtEl>
                                        <p:attrNameLst>
                                          <p:attrName>style.color</p:attrName>
                                        </p:attrNameLst>
                                      </p:cBhvr>
                                      <p:by>
                                        <p:hsl h="7200000" s="0" l="0"/>
                                      </p:by>
                                    </p:animClr>
                                    <p:animClr clrSpc="hsl" dir="cw">
                                      <p:cBhvr>
                                        <p:cTn id="106" dur="2000" fill="hold"/>
                                        <p:tgtEl>
                                          <p:spTgt spid="49"/>
                                        </p:tgtEl>
                                        <p:attrNameLst>
                                          <p:attrName>fillcolor</p:attrName>
                                        </p:attrNameLst>
                                      </p:cBhvr>
                                      <p:by>
                                        <p:hsl h="7200000" s="0" l="0"/>
                                      </p:by>
                                    </p:animClr>
                                    <p:animClr clrSpc="hsl" dir="cw">
                                      <p:cBhvr>
                                        <p:cTn id="107" dur="2000" fill="hold"/>
                                        <p:tgtEl>
                                          <p:spTgt spid="49"/>
                                        </p:tgtEl>
                                        <p:attrNameLst>
                                          <p:attrName>stroke.color</p:attrName>
                                        </p:attrNameLst>
                                      </p:cBhvr>
                                      <p:by>
                                        <p:hsl h="7200000" s="0" l="0"/>
                                      </p:by>
                                    </p:animClr>
                                    <p:set>
                                      <p:cBhvr>
                                        <p:cTn id="108" dur="2000" fill="hold"/>
                                        <p:tgtEl>
                                          <p:spTgt spid="49"/>
                                        </p:tgtEl>
                                        <p:attrNameLst>
                                          <p:attrName>fill.type</p:attrName>
                                        </p:attrNameLst>
                                      </p:cBhvr>
                                      <p:to>
                                        <p:strVal val="solid"/>
                                      </p:to>
                                    </p:set>
                                  </p:childTnLst>
                                  <p:subTnLst>
                                    <p:animClr clrSpc="rgb" dir="cw">
                                      <p:cBhvr override="childStyle">
                                        <p:cTn dur="65" fill="hold" display="1" masterRel="nextClick" afterEffect="1"/>
                                        <p:tgtEl>
                                          <p:spTgt spid="49"/>
                                        </p:tgtEl>
                                        <p:attrNameLst>
                                          <p:attrName>ppt_c</p:attrName>
                                        </p:attrNameLst>
                                      </p:cBhvr>
                                      <p:to>
                                        <a:srgbClr val="009900"/>
                                      </p:to>
                                    </p:animClr>
                                  </p:subTnLst>
                                </p:cTn>
                              </p:par>
                              <p:par>
                                <p:cTn id="109" presetID="6" presetClass="emph" presetSubtype="0" fill="hold" grpId="0" nodeType="withEffect">
                                  <p:stCondLst>
                                    <p:cond delay="0"/>
                                  </p:stCondLst>
                                  <p:childTnLst>
                                    <p:animScale>
                                      <p:cBhvr>
                                        <p:cTn id="110" dur="2000" fill="hold"/>
                                        <p:tgtEl>
                                          <p:spTgt spid="55"/>
                                        </p:tgtEl>
                                      </p:cBhvr>
                                      <p:by x="150000" y="150000"/>
                                    </p:animScale>
                                  </p:childTnLst>
                                </p:cTn>
                              </p:par>
                              <p:par>
                                <p:cTn id="111" presetID="6" presetClass="emph" presetSubtype="0" fill="hold" grpId="0" nodeType="withEffect">
                                  <p:stCondLst>
                                    <p:cond delay="0"/>
                                  </p:stCondLst>
                                  <p:childTnLst>
                                    <p:animScale>
                                      <p:cBhvr>
                                        <p:cTn id="112" dur="2000" fill="hold"/>
                                        <p:tgtEl>
                                          <p:spTgt spid="51"/>
                                        </p:tgtEl>
                                      </p:cBhvr>
                                      <p:by x="150000" y="150000"/>
                                    </p:animScale>
                                  </p:childTnLst>
                                </p:cTn>
                              </p:par>
                            </p:childTnLst>
                          </p:cTn>
                        </p:par>
                      </p:childTnLst>
                    </p:cTn>
                  </p:par>
                  <p:par>
                    <p:cTn id="113" fill="hold">
                      <p:stCondLst>
                        <p:cond delay="indefinite"/>
                      </p:stCondLst>
                      <p:childTnLst>
                        <p:par>
                          <p:cTn id="114" fill="hold">
                            <p:stCondLst>
                              <p:cond delay="0"/>
                            </p:stCondLst>
                            <p:childTnLst>
                              <p:par>
                                <p:cTn id="115" presetID="26" presetClass="emph" presetSubtype="0" fill="hold" grpId="0" nodeType="clickEffect">
                                  <p:stCondLst>
                                    <p:cond delay="0"/>
                                  </p:stCondLst>
                                  <p:childTnLst>
                                    <p:animEffect transition="out" filter="fade">
                                      <p:cBhvr>
                                        <p:cTn id="116" dur="2000" tmFilter="0, 0; .2, .5; .8, .5; 1, 0"/>
                                        <p:tgtEl>
                                          <p:spTgt spid="11"/>
                                        </p:tgtEl>
                                      </p:cBhvr>
                                    </p:animEffect>
                                    <p:animScale>
                                      <p:cBhvr>
                                        <p:cTn id="117" dur="1000" autoRev="1" fill="hold"/>
                                        <p:tgtEl>
                                          <p:spTgt spid="11"/>
                                        </p:tgtEl>
                                      </p:cBhvr>
                                      <p:by x="105000" y="105000"/>
                                    </p:animScale>
                                  </p:childTnLst>
                                </p:cTn>
                              </p:par>
                              <p:par>
                                <p:cTn id="118" presetID="26" presetClass="emph" presetSubtype="0" fill="hold" grpId="1" nodeType="withEffect">
                                  <p:stCondLst>
                                    <p:cond delay="0"/>
                                  </p:stCondLst>
                                  <p:childTnLst>
                                    <p:animEffect transition="out" filter="fade">
                                      <p:cBhvr>
                                        <p:cTn id="119" dur="2000" tmFilter="0, 0; .2, .5; .8, .5; 1, 0"/>
                                        <p:tgtEl>
                                          <p:spTgt spid="32"/>
                                        </p:tgtEl>
                                      </p:cBhvr>
                                    </p:animEffect>
                                    <p:animScale>
                                      <p:cBhvr>
                                        <p:cTn id="120" dur="1000" autoRev="1" fill="hold"/>
                                        <p:tgtEl>
                                          <p:spTgt spid="32"/>
                                        </p:tgtEl>
                                      </p:cBhvr>
                                      <p:by x="105000" y="105000"/>
                                    </p:animScale>
                                  </p:childTnLst>
                                </p:cTn>
                              </p:par>
                            </p:childTnLst>
                          </p:cTn>
                        </p:par>
                      </p:childTnLst>
                    </p:cTn>
                  </p:par>
                  <p:par>
                    <p:cTn id="121" fill="hold">
                      <p:stCondLst>
                        <p:cond delay="indefinite"/>
                      </p:stCondLst>
                      <p:childTnLst>
                        <p:par>
                          <p:cTn id="122" fill="hold">
                            <p:stCondLst>
                              <p:cond delay="0"/>
                            </p:stCondLst>
                            <p:childTnLst>
                              <p:par>
                                <p:cTn id="123" presetID="21" presetClass="emph" presetSubtype="0" fill="hold" nodeType="clickEffect">
                                  <p:stCondLst>
                                    <p:cond delay="0"/>
                                  </p:stCondLst>
                                  <p:childTnLst>
                                    <p:animClr clrSpc="hsl" dir="cw">
                                      <p:cBhvr override="childStyle">
                                        <p:cTn id="124" dur="2000" fill="hold"/>
                                        <p:tgtEl>
                                          <p:spTgt spid="3"/>
                                        </p:tgtEl>
                                        <p:attrNameLst>
                                          <p:attrName>style.color</p:attrName>
                                        </p:attrNameLst>
                                      </p:cBhvr>
                                      <p:by>
                                        <p:hsl h="7200000" s="0" l="0"/>
                                      </p:by>
                                    </p:animClr>
                                    <p:animClr clrSpc="hsl" dir="cw">
                                      <p:cBhvr>
                                        <p:cTn id="125" dur="2000" fill="hold"/>
                                        <p:tgtEl>
                                          <p:spTgt spid="3"/>
                                        </p:tgtEl>
                                        <p:attrNameLst>
                                          <p:attrName>fillcolor</p:attrName>
                                        </p:attrNameLst>
                                      </p:cBhvr>
                                      <p:by>
                                        <p:hsl h="7200000" s="0" l="0"/>
                                      </p:by>
                                    </p:animClr>
                                    <p:animClr clrSpc="hsl" dir="cw">
                                      <p:cBhvr>
                                        <p:cTn id="126" dur="2000" fill="hold"/>
                                        <p:tgtEl>
                                          <p:spTgt spid="3"/>
                                        </p:tgtEl>
                                        <p:attrNameLst>
                                          <p:attrName>stroke.color</p:attrName>
                                        </p:attrNameLst>
                                      </p:cBhvr>
                                      <p:by>
                                        <p:hsl h="7200000" s="0" l="0"/>
                                      </p:by>
                                    </p:animClr>
                                    <p:set>
                                      <p:cBhvr>
                                        <p:cTn id="127" dur="2000" fill="hold"/>
                                        <p:tgtEl>
                                          <p:spTgt spid="3"/>
                                        </p:tgtEl>
                                        <p:attrNameLst>
                                          <p:attrName>fill.type</p:attrName>
                                        </p:attrNameLst>
                                      </p:cBhvr>
                                      <p:to>
                                        <p:strVal val="solid"/>
                                      </p:to>
                                    </p:set>
                                  </p:childTnLst>
                                  <p:subTnLst>
                                    <p:animClr clrSpc="rgb" dir="cw">
                                      <p:cBhvr override="childStyle">
                                        <p:cTn dur="65" fill="hold" display="1" masterRel="nextClick" afterEffect="1"/>
                                        <p:tgtEl>
                                          <p:spTgt spid="3"/>
                                        </p:tgtEl>
                                        <p:attrNameLst>
                                          <p:attrName>ppt_c</p:attrName>
                                        </p:attrNameLst>
                                      </p:cBhvr>
                                      <p:to>
                                        <a:srgbClr val="009900"/>
                                      </p:to>
                                    </p:animClr>
                                  </p:subTnLst>
                                </p:cTn>
                              </p:par>
                              <p:par>
                                <p:cTn id="128" presetID="21" presetClass="emph" presetSubtype="0" fill="hold" nodeType="withEffect">
                                  <p:stCondLst>
                                    <p:cond delay="0"/>
                                  </p:stCondLst>
                                  <p:childTnLst>
                                    <p:animClr clrSpc="hsl" dir="cw">
                                      <p:cBhvr override="childStyle">
                                        <p:cTn id="129" dur="2000" fill="hold"/>
                                        <p:tgtEl>
                                          <p:spTgt spid="92"/>
                                        </p:tgtEl>
                                        <p:attrNameLst>
                                          <p:attrName>style.color</p:attrName>
                                        </p:attrNameLst>
                                      </p:cBhvr>
                                      <p:by>
                                        <p:hsl h="7200000" s="0" l="0"/>
                                      </p:by>
                                    </p:animClr>
                                    <p:animClr clrSpc="hsl" dir="cw">
                                      <p:cBhvr>
                                        <p:cTn id="130" dur="2000" fill="hold"/>
                                        <p:tgtEl>
                                          <p:spTgt spid="92"/>
                                        </p:tgtEl>
                                        <p:attrNameLst>
                                          <p:attrName>fillcolor</p:attrName>
                                        </p:attrNameLst>
                                      </p:cBhvr>
                                      <p:by>
                                        <p:hsl h="7200000" s="0" l="0"/>
                                      </p:by>
                                    </p:animClr>
                                    <p:animClr clrSpc="hsl" dir="cw">
                                      <p:cBhvr>
                                        <p:cTn id="131" dur="2000" fill="hold"/>
                                        <p:tgtEl>
                                          <p:spTgt spid="92"/>
                                        </p:tgtEl>
                                        <p:attrNameLst>
                                          <p:attrName>stroke.color</p:attrName>
                                        </p:attrNameLst>
                                      </p:cBhvr>
                                      <p:by>
                                        <p:hsl h="7200000" s="0" l="0"/>
                                      </p:by>
                                    </p:animClr>
                                    <p:set>
                                      <p:cBhvr>
                                        <p:cTn id="132" dur="2000" fill="hold"/>
                                        <p:tgtEl>
                                          <p:spTgt spid="92"/>
                                        </p:tgtEl>
                                        <p:attrNameLst>
                                          <p:attrName>fill.type</p:attrName>
                                        </p:attrNameLst>
                                      </p:cBhvr>
                                      <p:to>
                                        <p:strVal val="solid"/>
                                      </p:to>
                                    </p:set>
                                  </p:childTnLst>
                                  <p:subTnLst>
                                    <p:animClr clrSpc="rgb" dir="cw">
                                      <p:cBhvr override="childStyle">
                                        <p:cTn dur="65" fill="hold" display="1" masterRel="nextClick" afterEffect="1"/>
                                        <p:tgtEl>
                                          <p:spTgt spid="92"/>
                                        </p:tgtEl>
                                        <p:attrNameLst>
                                          <p:attrName>ppt_c</p:attrName>
                                        </p:attrNameLst>
                                      </p:cBhvr>
                                      <p:to>
                                        <a:srgbClr val="009900"/>
                                      </p:to>
                                    </p:animClr>
                                  </p:subTnLst>
                                </p:cTn>
                              </p:par>
                              <p:par>
                                <p:cTn id="133" presetID="6" presetClass="emph" presetSubtype="0" fill="hold" grpId="0" nodeType="withEffect">
                                  <p:stCondLst>
                                    <p:cond delay="0"/>
                                  </p:stCondLst>
                                  <p:childTnLst>
                                    <p:animScale>
                                      <p:cBhvr>
                                        <p:cTn id="134" dur="2000" fill="hold"/>
                                        <p:tgtEl>
                                          <p:spTgt spid="90"/>
                                        </p:tgtEl>
                                      </p:cBhvr>
                                      <p:by x="150000" y="150000"/>
                                    </p:animScale>
                                  </p:childTnLst>
                                </p:cTn>
                              </p:par>
                              <p:par>
                                <p:cTn id="135" presetID="6" presetClass="emph" presetSubtype="0" fill="hold" grpId="0" nodeType="withEffect">
                                  <p:stCondLst>
                                    <p:cond delay="0"/>
                                  </p:stCondLst>
                                  <p:childTnLst>
                                    <p:animScale>
                                      <p:cBhvr>
                                        <p:cTn id="136" dur="2000" fill="hold"/>
                                        <p:tgtEl>
                                          <p:spTgt spid="91"/>
                                        </p:tgtEl>
                                      </p:cBhvr>
                                      <p:by x="150000" y="150000"/>
                                    </p:animScale>
                                  </p:childTnLst>
                                </p:cTn>
                              </p:par>
                            </p:childTnLst>
                          </p:cTn>
                        </p:par>
                      </p:childTnLst>
                    </p:cTn>
                  </p:par>
                  <p:par>
                    <p:cTn id="137" fill="hold">
                      <p:stCondLst>
                        <p:cond delay="indefinite"/>
                      </p:stCondLst>
                      <p:childTnLst>
                        <p:par>
                          <p:cTn id="138" fill="hold">
                            <p:stCondLst>
                              <p:cond delay="0"/>
                            </p:stCondLst>
                            <p:childTnLst>
                              <p:par>
                                <p:cTn id="139" presetID="6" presetClass="emph" presetSubtype="0" fill="hold" grpId="0" nodeType="clickEffect">
                                  <p:stCondLst>
                                    <p:cond delay="0"/>
                                  </p:stCondLst>
                                  <p:childTnLst>
                                    <p:animScale>
                                      <p:cBhvr>
                                        <p:cTn id="140" dur="2000" fill="hold"/>
                                        <p:tgtEl>
                                          <p:spTgt spid="7"/>
                                        </p:tgtEl>
                                      </p:cBhvr>
                                      <p:by x="150000" y="150000"/>
                                    </p:animScale>
                                  </p:childTnLst>
                                </p:cTn>
                              </p:par>
                              <p:par>
                                <p:cTn id="141" presetID="6" presetClass="emph" presetSubtype="0" fill="hold" grpId="1" nodeType="withEffect">
                                  <p:stCondLst>
                                    <p:cond delay="0"/>
                                  </p:stCondLst>
                                  <p:childTnLst>
                                    <p:animScale>
                                      <p:cBhvr>
                                        <p:cTn id="142" dur="2000" fill="hold"/>
                                        <p:tgtEl>
                                          <p:spTgt spid="8"/>
                                        </p:tgtEl>
                                      </p:cBhvr>
                                      <p:by x="150000" y="150000"/>
                                    </p:animScale>
                                  </p:childTnLst>
                                </p:cTn>
                              </p:par>
                            </p:childTnLst>
                          </p:cTn>
                        </p:par>
                      </p:childTnLst>
                    </p:cTn>
                  </p:par>
                  <p:par>
                    <p:cTn id="143" fill="hold">
                      <p:stCondLst>
                        <p:cond delay="indefinite"/>
                      </p:stCondLst>
                      <p:childTnLst>
                        <p:par>
                          <p:cTn id="144" fill="hold">
                            <p:stCondLst>
                              <p:cond delay="0"/>
                            </p:stCondLst>
                            <p:childTnLst>
                              <p:par>
                                <p:cTn id="145" presetID="27" presetClass="emph" presetSubtype="0" fill="hold" grpId="1" nodeType="clickEffect">
                                  <p:stCondLst>
                                    <p:cond delay="0"/>
                                  </p:stCondLst>
                                  <p:childTnLst>
                                    <p:animClr clrSpc="rgb" dir="cw">
                                      <p:cBhvr override="childStyle">
                                        <p:cTn id="146" dur="250" autoRev="1" fill="hold"/>
                                        <p:tgtEl>
                                          <p:spTgt spid="7"/>
                                        </p:tgtEl>
                                        <p:attrNameLst>
                                          <p:attrName>style.color</p:attrName>
                                        </p:attrNameLst>
                                      </p:cBhvr>
                                      <p:to>
                                        <a:schemeClr val="bg1"/>
                                      </p:to>
                                    </p:animClr>
                                    <p:animClr clrSpc="rgb" dir="cw">
                                      <p:cBhvr>
                                        <p:cTn id="147" dur="250" autoRev="1" fill="hold"/>
                                        <p:tgtEl>
                                          <p:spTgt spid="7"/>
                                        </p:tgtEl>
                                        <p:attrNameLst>
                                          <p:attrName>fillcolor</p:attrName>
                                        </p:attrNameLst>
                                      </p:cBhvr>
                                      <p:to>
                                        <a:schemeClr val="bg1"/>
                                      </p:to>
                                    </p:animClr>
                                    <p:set>
                                      <p:cBhvr>
                                        <p:cTn id="148" dur="250" autoRev="1" fill="hold"/>
                                        <p:tgtEl>
                                          <p:spTgt spid="7"/>
                                        </p:tgtEl>
                                        <p:attrNameLst>
                                          <p:attrName>fill.type</p:attrName>
                                        </p:attrNameLst>
                                      </p:cBhvr>
                                      <p:to>
                                        <p:strVal val="solid"/>
                                      </p:to>
                                    </p:set>
                                    <p:set>
                                      <p:cBhvr>
                                        <p:cTn id="149" dur="250" autoRev="1" fill="hold"/>
                                        <p:tgtEl>
                                          <p:spTgt spid="7"/>
                                        </p:tgtEl>
                                        <p:attrNameLst>
                                          <p:attrName>fill.on</p:attrName>
                                        </p:attrNameLst>
                                      </p:cBhvr>
                                      <p:to>
                                        <p:strVal val="true"/>
                                      </p:to>
                                    </p:set>
                                  </p:childTnLst>
                                </p:cTn>
                              </p:par>
                              <p:par>
                                <p:cTn id="150" presetID="27" presetClass="emph" presetSubtype="0" fill="hold" grpId="2" nodeType="withEffect">
                                  <p:stCondLst>
                                    <p:cond delay="0"/>
                                  </p:stCondLst>
                                  <p:childTnLst>
                                    <p:animClr clrSpc="rgb" dir="cw">
                                      <p:cBhvr override="childStyle">
                                        <p:cTn id="151" dur="250" autoRev="1" fill="hold"/>
                                        <p:tgtEl>
                                          <p:spTgt spid="8"/>
                                        </p:tgtEl>
                                        <p:attrNameLst>
                                          <p:attrName>style.color</p:attrName>
                                        </p:attrNameLst>
                                      </p:cBhvr>
                                      <p:to>
                                        <a:schemeClr val="bg1"/>
                                      </p:to>
                                    </p:animClr>
                                    <p:animClr clrSpc="rgb" dir="cw">
                                      <p:cBhvr>
                                        <p:cTn id="152" dur="250" autoRev="1" fill="hold"/>
                                        <p:tgtEl>
                                          <p:spTgt spid="8"/>
                                        </p:tgtEl>
                                        <p:attrNameLst>
                                          <p:attrName>fillcolor</p:attrName>
                                        </p:attrNameLst>
                                      </p:cBhvr>
                                      <p:to>
                                        <a:schemeClr val="bg1"/>
                                      </p:to>
                                    </p:animClr>
                                    <p:set>
                                      <p:cBhvr>
                                        <p:cTn id="153" dur="250" autoRev="1" fill="hold"/>
                                        <p:tgtEl>
                                          <p:spTgt spid="8"/>
                                        </p:tgtEl>
                                        <p:attrNameLst>
                                          <p:attrName>fill.type</p:attrName>
                                        </p:attrNameLst>
                                      </p:cBhvr>
                                      <p:to>
                                        <p:strVal val="solid"/>
                                      </p:to>
                                    </p:set>
                                    <p:set>
                                      <p:cBhvr>
                                        <p:cTn id="154" dur="250" autoRev="1" fill="hold"/>
                                        <p:tgtEl>
                                          <p:spTgt spid="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 grpId="0" animBg="1"/>
      <p:bldP spid="8" grpId="0" animBg="1"/>
      <p:bldP spid="11" grpId="0" animBg="1"/>
      <p:bldP spid="32" grpId="1" animBg="1"/>
      <p:bldP spid="7" grpId="0" animBg="1"/>
      <p:bldP spid="8" grpId="1" animBg="1"/>
      <p:bldP spid="7" grpId="1" animBg="1"/>
      <p:bldP spid="8" grpId="2" animBg="1"/>
      <p:bldP spid="88" grpId="0"/>
      <p:bldP spid="5" grpId="2" animBg="1"/>
      <p:bldP spid="16" grpId="0"/>
      <p:bldP spid="61" grpId="0"/>
      <p:bldP spid="73" grpId="0"/>
      <p:bldP spid="80" grpId="0"/>
      <p:bldP spid="55" grpId="0"/>
      <p:bldP spid="51" grpId="0"/>
      <p:bldP spid="90" grpId="0"/>
      <p:bldP spid="91" grpId="0"/>
      <p:bldP spid="4" grpId="0"/>
      <p:bldP spid="9" grpId="0"/>
      <p:bldP spid="69" grpId="0"/>
      <p:bldP spid="69" grpId="1"/>
      <p:bldP spid="46" grpId="0" animBg="1"/>
      <p:bldP spid="6"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7565" y="34290"/>
            <a:ext cx="10515600" cy="1325563"/>
          </a:xfrm>
        </p:spPr>
        <p:txBody>
          <a:bodyPr>
            <a:normAutofit fontScale="90000"/>
          </a:bodyPr>
          <a:p>
            <a:r>
              <a:rPr lang="en-US" altLang="zh-CN"/>
              <a:t>Plan kafka cluster according to data models design so that we get the best effect of kafka.</a:t>
            </a:r>
            <a:endParaRPr lang="en-US" altLang="zh-CN"/>
          </a:p>
        </p:txBody>
      </p:sp>
      <p:grpSp>
        <p:nvGrpSpPr>
          <p:cNvPr id="75" name="组合 74"/>
          <p:cNvGrpSpPr/>
          <p:nvPr/>
        </p:nvGrpSpPr>
        <p:grpSpPr>
          <a:xfrm>
            <a:off x="696595" y="1321435"/>
            <a:ext cx="9224010" cy="5628640"/>
            <a:chOff x="1097" y="2081"/>
            <a:chExt cx="14526" cy="8864"/>
          </a:xfrm>
        </p:grpSpPr>
        <p:grpSp>
          <p:nvGrpSpPr>
            <p:cNvPr id="72" name="组合 71"/>
            <p:cNvGrpSpPr/>
            <p:nvPr/>
          </p:nvGrpSpPr>
          <p:grpSpPr>
            <a:xfrm>
              <a:off x="1097" y="2081"/>
              <a:ext cx="14526" cy="8216"/>
              <a:chOff x="1097" y="2081"/>
              <a:chExt cx="14526" cy="8216"/>
            </a:xfrm>
          </p:grpSpPr>
          <p:grpSp>
            <p:nvGrpSpPr>
              <p:cNvPr id="68" name="组合 67"/>
              <p:cNvGrpSpPr/>
              <p:nvPr/>
            </p:nvGrpSpPr>
            <p:grpSpPr>
              <a:xfrm>
                <a:off x="12399" y="7714"/>
                <a:ext cx="3202" cy="1926"/>
                <a:chOff x="12399" y="8419"/>
                <a:chExt cx="3202" cy="2208"/>
              </a:xfrm>
            </p:grpSpPr>
            <p:sp>
              <p:nvSpPr>
                <p:cNvPr id="50" name="文本框 49"/>
                <p:cNvSpPr txBox="1"/>
                <p:nvPr/>
              </p:nvSpPr>
              <p:spPr>
                <a:xfrm>
                  <a:off x="12685" y="8419"/>
                  <a:ext cx="2687" cy="1655"/>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52" name="文本框 51"/>
                <p:cNvSpPr txBox="1"/>
                <p:nvPr/>
              </p:nvSpPr>
              <p:spPr>
                <a:xfrm>
                  <a:off x="12399" y="9907"/>
                  <a:ext cx="3202" cy="720"/>
                </a:xfrm>
                <a:prstGeom prst="rect">
                  <a:avLst/>
                </a:prstGeom>
                <a:noFill/>
              </p:spPr>
              <p:txBody>
                <a:bodyPr wrap="square" rtlCol="0">
                  <a:spAutoFit/>
                </a:bodyPr>
                <a:p>
                  <a:pPr algn="ctr"/>
                  <a:r>
                    <a:rPr lang="en-US" altLang="zh-CN" sz="2000" b="1" i="1"/>
                    <a:t>IM consumer4</a:t>
                  </a:r>
                  <a:endParaRPr lang="en-US" altLang="zh-CN" sz="2000" b="1" i="1"/>
                </a:p>
              </p:txBody>
            </p:sp>
          </p:grpSp>
          <p:grpSp>
            <p:nvGrpSpPr>
              <p:cNvPr id="71" name="组合 70"/>
              <p:cNvGrpSpPr/>
              <p:nvPr/>
            </p:nvGrpSpPr>
            <p:grpSpPr>
              <a:xfrm>
                <a:off x="1097" y="2081"/>
                <a:ext cx="14527" cy="8216"/>
                <a:chOff x="1097" y="2081"/>
                <a:chExt cx="14527" cy="8216"/>
              </a:xfrm>
            </p:grpSpPr>
            <p:grpSp>
              <p:nvGrpSpPr>
                <p:cNvPr id="30" name="组合 29"/>
                <p:cNvGrpSpPr/>
                <p:nvPr/>
              </p:nvGrpSpPr>
              <p:grpSpPr>
                <a:xfrm rot="0">
                  <a:off x="7550" y="2241"/>
                  <a:ext cx="3283" cy="8056"/>
                  <a:chOff x="7754" y="2105"/>
                  <a:chExt cx="3577" cy="8395"/>
                </a:xfrm>
              </p:grpSpPr>
              <p:grpSp>
                <p:nvGrpSpPr>
                  <p:cNvPr id="29" name="组合 28"/>
                  <p:cNvGrpSpPr/>
                  <p:nvPr/>
                </p:nvGrpSpPr>
                <p:grpSpPr>
                  <a:xfrm>
                    <a:off x="7754" y="7897"/>
                    <a:ext cx="3558" cy="2603"/>
                    <a:chOff x="12573" y="4161"/>
                    <a:chExt cx="3558" cy="2603"/>
                  </a:xfrm>
                </p:grpSpPr>
                <p:grpSp>
                  <p:nvGrpSpPr>
                    <p:cNvPr id="17" name="组合 16"/>
                    <p:cNvGrpSpPr/>
                    <p:nvPr/>
                  </p:nvGrpSpPr>
                  <p:grpSpPr>
                    <a:xfrm>
                      <a:off x="12573" y="4161"/>
                      <a:ext cx="3216" cy="2603"/>
                      <a:chOff x="2750" y="4301"/>
                      <a:chExt cx="3216" cy="2603"/>
                    </a:xfrm>
                  </p:grpSpPr>
                  <p:sp>
                    <p:nvSpPr>
                      <p:cNvPr id="18" name="矩形 17"/>
                      <p:cNvSpPr/>
                      <p:nvPr/>
                    </p:nvSpPr>
                    <p:spPr>
                      <a:xfrm>
                        <a:off x="2750" y="4301"/>
                        <a:ext cx="3215" cy="996"/>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r>
                          <a:rPr lang="en-US" altLang="zh-CN" sz="2400" b="1"/>
                          <a:t>Broker 3</a:t>
                        </a:r>
                        <a:endParaRPr lang="en-US" altLang="zh-CN" sz="2400" b="1"/>
                      </a:p>
                    </p:txBody>
                  </p:sp>
                  <p:sp>
                    <p:nvSpPr>
                      <p:cNvPr id="19" name="矩形 18"/>
                      <p:cNvSpPr/>
                      <p:nvPr/>
                    </p:nvSpPr>
                    <p:spPr>
                      <a:xfrm>
                        <a:off x="2750" y="5298"/>
                        <a:ext cx="3216" cy="1606"/>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endParaRPr lang="zh-CN" altLang="en-US"/>
                      </a:p>
                    </p:txBody>
                  </p:sp>
                </p:grpSp>
                <p:sp>
                  <p:nvSpPr>
                    <p:cNvPr id="21" name="文本框 20"/>
                    <p:cNvSpPr txBox="1"/>
                    <p:nvPr/>
                  </p:nvSpPr>
                  <p:spPr>
                    <a:xfrm>
                      <a:off x="12645" y="5296"/>
                      <a:ext cx="3464" cy="604"/>
                    </a:xfrm>
                    <a:prstGeom prst="rect">
                      <a:avLst/>
                    </a:prstGeom>
                    <a:noFill/>
                  </p:spPr>
                  <p:txBody>
                    <a:bodyPr wrap="square" rtlCol="0">
                      <a:spAutoFit/>
                    </a:bodyPr>
                    <a:p>
                      <a:r>
                        <a:rPr lang="en-US" altLang="zh-CN"/>
                        <a:t>Mail Topic /part1</a:t>
                      </a:r>
                      <a:endParaRPr lang="en-US" altLang="zh-CN"/>
                    </a:p>
                  </p:txBody>
                </p:sp>
                <p:sp>
                  <p:nvSpPr>
                    <p:cNvPr id="22" name="文本框 21"/>
                    <p:cNvSpPr txBox="1"/>
                    <p:nvPr/>
                  </p:nvSpPr>
                  <p:spPr>
                    <a:xfrm>
                      <a:off x="12667" y="5998"/>
                      <a:ext cx="3464" cy="604"/>
                    </a:xfrm>
                    <a:prstGeom prst="rect">
                      <a:avLst/>
                    </a:prstGeom>
                    <a:noFill/>
                  </p:spPr>
                  <p:txBody>
                    <a:bodyPr wrap="square" rtlCol="0">
                      <a:spAutoFit/>
                    </a:bodyPr>
                    <a:p>
                      <a:r>
                        <a:rPr lang="en-US" altLang="zh-CN"/>
                        <a:t>lucene Topic /part1</a:t>
                      </a:r>
                      <a:endParaRPr lang="en-US" altLang="zh-CN"/>
                    </a:p>
                  </p:txBody>
                </p:sp>
              </p:grpSp>
              <p:grpSp>
                <p:nvGrpSpPr>
                  <p:cNvPr id="27" name="组合 26"/>
                  <p:cNvGrpSpPr/>
                  <p:nvPr/>
                </p:nvGrpSpPr>
                <p:grpSpPr>
                  <a:xfrm>
                    <a:off x="7754" y="2105"/>
                    <a:ext cx="3577" cy="2603"/>
                    <a:chOff x="2750" y="4301"/>
                    <a:chExt cx="3577" cy="2603"/>
                  </a:xfrm>
                </p:grpSpPr>
                <p:grpSp>
                  <p:nvGrpSpPr>
                    <p:cNvPr id="7" name="组合 6"/>
                    <p:cNvGrpSpPr/>
                    <p:nvPr/>
                  </p:nvGrpSpPr>
                  <p:grpSpPr>
                    <a:xfrm>
                      <a:off x="2750" y="4301"/>
                      <a:ext cx="3216" cy="2603"/>
                      <a:chOff x="2750" y="4301"/>
                      <a:chExt cx="3216" cy="2603"/>
                    </a:xfrm>
                  </p:grpSpPr>
                  <p:sp>
                    <p:nvSpPr>
                      <p:cNvPr id="5" name="矩形 4"/>
                      <p:cNvSpPr/>
                      <p:nvPr/>
                    </p:nvSpPr>
                    <p:spPr>
                      <a:xfrm>
                        <a:off x="2750" y="4301"/>
                        <a:ext cx="3215" cy="996"/>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r>
                          <a:rPr lang="en-US" altLang="zh-CN" sz="2400" b="1"/>
                          <a:t>Broker 1</a:t>
                        </a:r>
                        <a:endParaRPr lang="en-US" altLang="zh-CN" sz="2400" b="1"/>
                      </a:p>
                    </p:txBody>
                  </p:sp>
                  <p:sp>
                    <p:nvSpPr>
                      <p:cNvPr id="6" name="矩形 5"/>
                      <p:cNvSpPr/>
                      <p:nvPr/>
                    </p:nvSpPr>
                    <p:spPr>
                      <a:xfrm>
                        <a:off x="2750" y="5298"/>
                        <a:ext cx="3216" cy="1606"/>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endParaRPr lang="zh-CN" altLang="en-US"/>
                      </a:p>
                    </p:txBody>
                  </p:sp>
                </p:grpSp>
                <p:sp>
                  <p:nvSpPr>
                    <p:cNvPr id="23" name="文本框 22"/>
                    <p:cNvSpPr txBox="1"/>
                    <p:nvPr/>
                  </p:nvSpPr>
                  <p:spPr>
                    <a:xfrm>
                      <a:off x="2863" y="5455"/>
                      <a:ext cx="3464" cy="604"/>
                    </a:xfrm>
                    <a:prstGeom prst="rect">
                      <a:avLst/>
                    </a:prstGeom>
                    <a:noFill/>
                  </p:spPr>
                  <p:txBody>
                    <a:bodyPr wrap="square" rtlCol="0">
                      <a:spAutoFit/>
                    </a:bodyPr>
                    <a:p>
                      <a:r>
                        <a:rPr lang="en-US" altLang="zh-CN"/>
                        <a:t>IM Topic /part1</a:t>
                      </a:r>
                      <a:endParaRPr lang="en-US" altLang="zh-CN"/>
                    </a:p>
                  </p:txBody>
                </p:sp>
                <p:sp>
                  <p:nvSpPr>
                    <p:cNvPr id="25" name="文本框 24"/>
                    <p:cNvSpPr txBox="1"/>
                    <p:nvPr/>
                  </p:nvSpPr>
                  <p:spPr>
                    <a:xfrm>
                      <a:off x="2840" y="6090"/>
                      <a:ext cx="3464" cy="605"/>
                    </a:xfrm>
                    <a:prstGeom prst="rect">
                      <a:avLst/>
                    </a:prstGeom>
                    <a:noFill/>
                  </p:spPr>
                  <p:txBody>
                    <a:bodyPr wrap="square" rtlCol="0">
                      <a:spAutoFit/>
                    </a:bodyPr>
                    <a:p>
                      <a:r>
                        <a:rPr lang="en-US" altLang="zh-CN"/>
                        <a:t>IM Topic /part2</a:t>
                      </a:r>
                      <a:endParaRPr lang="en-US" altLang="zh-CN"/>
                    </a:p>
                  </p:txBody>
                </p:sp>
              </p:grpSp>
              <p:grpSp>
                <p:nvGrpSpPr>
                  <p:cNvPr id="28" name="组合 27"/>
                  <p:cNvGrpSpPr/>
                  <p:nvPr/>
                </p:nvGrpSpPr>
                <p:grpSpPr>
                  <a:xfrm>
                    <a:off x="7754" y="5001"/>
                    <a:ext cx="3487" cy="2603"/>
                    <a:chOff x="7777" y="4229"/>
                    <a:chExt cx="3487" cy="2603"/>
                  </a:xfrm>
                </p:grpSpPr>
                <p:grpSp>
                  <p:nvGrpSpPr>
                    <p:cNvPr id="9" name="组合 8"/>
                    <p:cNvGrpSpPr/>
                    <p:nvPr/>
                  </p:nvGrpSpPr>
                  <p:grpSpPr>
                    <a:xfrm>
                      <a:off x="7795" y="4229"/>
                      <a:ext cx="3216" cy="2603"/>
                      <a:chOff x="2750" y="4301"/>
                      <a:chExt cx="3216" cy="2603"/>
                    </a:xfrm>
                  </p:grpSpPr>
                  <p:sp>
                    <p:nvSpPr>
                      <p:cNvPr id="10" name="矩形 9"/>
                      <p:cNvSpPr/>
                      <p:nvPr/>
                    </p:nvSpPr>
                    <p:spPr>
                      <a:xfrm>
                        <a:off x="2750" y="4301"/>
                        <a:ext cx="3215" cy="996"/>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r>
                          <a:rPr lang="en-US" altLang="zh-CN" sz="2400" b="1"/>
                          <a:t>Broker 2</a:t>
                        </a:r>
                        <a:endParaRPr lang="en-US" altLang="zh-CN" sz="2400" b="1"/>
                      </a:p>
                    </p:txBody>
                  </p:sp>
                  <p:sp>
                    <p:nvSpPr>
                      <p:cNvPr id="11" name="矩形 10"/>
                      <p:cNvSpPr/>
                      <p:nvPr/>
                    </p:nvSpPr>
                    <p:spPr>
                      <a:xfrm>
                        <a:off x="2750" y="5298"/>
                        <a:ext cx="3216" cy="1606"/>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endParaRPr lang="zh-CN" altLang="en-US"/>
                      </a:p>
                    </p:txBody>
                  </p:sp>
                </p:grpSp>
                <p:sp>
                  <p:nvSpPr>
                    <p:cNvPr id="24" name="文本框 23"/>
                    <p:cNvSpPr txBox="1"/>
                    <p:nvPr/>
                  </p:nvSpPr>
                  <p:spPr>
                    <a:xfrm>
                      <a:off x="7777" y="5365"/>
                      <a:ext cx="3464" cy="604"/>
                    </a:xfrm>
                    <a:prstGeom prst="rect">
                      <a:avLst/>
                    </a:prstGeom>
                    <a:noFill/>
                  </p:spPr>
                  <p:txBody>
                    <a:bodyPr wrap="square" rtlCol="0">
                      <a:spAutoFit/>
                    </a:bodyPr>
                    <a:p>
                      <a:r>
                        <a:rPr lang="en-US" altLang="zh-CN"/>
                        <a:t>IM Topic /part3</a:t>
                      </a:r>
                      <a:endParaRPr lang="en-US" altLang="zh-CN"/>
                    </a:p>
                  </p:txBody>
                </p:sp>
                <p:sp>
                  <p:nvSpPr>
                    <p:cNvPr id="26" name="文本框 25"/>
                    <p:cNvSpPr txBox="1"/>
                    <p:nvPr/>
                  </p:nvSpPr>
                  <p:spPr>
                    <a:xfrm>
                      <a:off x="7800" y="5955"/>
                      <a:ext cx="3464" cy="605"/>
                    </a:xfrm>
                    <a:prstGeom prst="rect">
                      <a:avLst/>
                    </a:prstGeom>
                    <a:noFill/>
                  </p:spPr>
                  <p:txBody>
                    <a:bodyPr wrap="square" rtlCol="0">
                      <a:spAutoFit/>
                    </a:bodyPr>
                    <a:p>
                      <a:r>
                        <a:rPr lang="en-US" altLang="zh-CN"/>
                        <a:t>IM Topic /part4</a:t>
                      </a:r>
                      <a:endParaRPr lang="en-US" altLang="zh-CN"/>
                    </a:p>
                  </p:txBody>
                </p:sp>
              </p:grpSp>
            </p:grpSp>
            <p:grpSp>
              <p:nvGrpSpPr>
                <p:cNvPr id="33" name="组合 32"/>
                <p:cNvGrpSpPr/>
                <p:nvPr/>
              </p:nvGrpSpPr>
              <p:grpSpPr>
                <a:xfrm rot="0">
                  <a:off x="1392" y="3203"/>
                  <a:ext cx="3200" cy="2740"/>
                  <a:chOff x="3181" y="2502"/>
                  <a:chExt cx="3200" cy="2740"/>
                </a:xfrm>
              </p:grpSpPr>
              <p:sp>
                <p:nvSpPr>
                  <p:cNvPr id="31" name="文本框 30"/>
                  <p:cNvSpPr txBox="1"/>
                  <p:nvPr/>
                </p:nvSpPr>
                <p:spPr>
                  <a:xfrm>
                    <a:off x="3368" y="3123"/>
                    <a:ext cx="2687" cy="1444"/>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32" name="文本框 31"/>
                  <p:cNvSpPr txBox="1"/>
                  <p:nvPr/>
                </p:nvSpPr>
                <p:spPr>
                  <a:xfrm>
                    <a:off x="3398" y="2502"/>
                    <a:ext cx="2317" cy="580"/>
                  </a:xfrm>
                  <a:prstGeom prst="rect">
                    <a:avLst/>
                  </a:prstGeom>
                  <a:noFill/>
                </p:spPr>
                <p:txBody>
                  <a:bodyPr wrap="square" rtlCol="0">
                    <a:spAutoFit/>
                  </a:bodyPr>
                  <a:p>
                    <a:r>
                      <a:rPr lang="en-US" altLang="zh-CN"/>
                      <a:t>client broker</a:t>
                    </a:r>
                    <a:endParaRPr lang="en-US" altLang="zh-CN"/>
                  </a:p>
                </p:txBody>
              </p:sp>
              <p:sp>
                <p:nvSpPr>
                  <p:cNvPr id="65" name="文本框 64"/>
                  <p:cNvSpPr txBox="1"/>
                  <p:nvPr/>
                </p:nvSpPr>
                <p:spPr>
                  <a:xfrm>
                    <a:off x="3181" y="4614"/>
                    <a:ext cx="3200" cy="628"/>
                  </a:xfrm>
                  <a:prstGeom prst="rect">
                    <a:avLst/>
                  </a:prstGeom>
                  <a:noFill/>
                </p:spPr>
                <p:txBody>
                  <a:bodyPr wrap="square" rtlCol="0">
                    <a:spAutoFit/>
                  </a:bodyPr>
                  <a:p>
                    <a:pPr algn="ctr"/>
                    <a:r>
                      <a:rPr lang="en-US" altLang="zh-CN" sz="2000" b="1" i="1"/>
                      <a:t>kafka producer  1</a:t>
                    </a:r>
                    <a:endParaRPr lang="en-US" altLang="zh-CN" sz="2000" b="1" i="1"/>
                  </a:p>
                </p:txBody>
              </p:sp>
            </p:grpSp>
            <p:cxnSp>
              <p:nvCxnSpPr>
                <p:cNvPr id="34" name="直接箭头连接符 33"/>
                <p:cNvCxnSpPr>
                  <a:stCxn id="31" idx="3"/>
                  <a:endCxn id="23" idx="1"/>
                </p:cNvCxnSpPr>
                <p:nvPr/>
              </p:nvCxnSpPr>
              <p:spPr>
                <a:xfrm flipV="1">
                  <a:off x="4266" y="3638"/>
                  <a:ext cx="3388" cy="9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4244" y="4595"/>
                  <a:ext cx="3465" cy="24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31" idx="3"/>
                  <a:endCxn id="22" idx="1"/>
                </p:cNvCxnSpPr>
                <p:nvPr/>
              </p:nvCxnSpPr>
              <p:spPr>
                <a:xfrm>
                  <a:off x="4266" y="4546"/>
                  <a:ext cx="3370" cy="53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rot="0">
                  <a:off x="1097" y="7325"/>
                  <a:ext cx="3473" cy="2740"/>
                  <a:chOff x="2886" y="2502"/>
                  <a:chExt cx="3473" cy="2740"/>
                </a:xfrm>
              </p:grpSpPr>
              <p:sp>
                <p:nvSpPr>
                  <p:cNvPr id="38" name="文本框 37"/>
                  <p:cNvSpPr txBox="1"/>
                  <p:nvPr/>
                </p:nvSpPr>
                <p:spPr>
                  <a:xfrm>
                    <a:off x="3368" y="3123"/>
                    <a:ext cx="2687" cy="1444"/>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39" name="文本框 38"/>
                  <p:cNvSpPr txBox="1"/>
                  <p:nvPr/>
                </p:nvSpPr>
                <p:spPr>
                  <a:xfrm>
                    <a:off x="3398" y="2502"/>
                    <a:ext cx="2317" cy="580"/>
                  </a:xfrm>
                  <a:prstGeom prst="rect">
                    <a:avLst/>
                  </a:prstGeom>
                  <a:noFill/>
                </p:spPr>
                <p:txBody>
                  <a:bodyPr wrap="square" rtlCol="0">
                    <a:spAutoFit/>
                  </a:bodyPr>
                  <a:p>
                    <a:r>
                      <a:rPr lang="en-US" altLang="zh-CN"/>
                      <a:t>client broker</a:t>
                    </a:r>
                    <a:endParaRPr lang="en-US" altLang="zh-CN"/>
                  </a:p>
                </p:txBody>
              </p:sp>
              <p:sp>
                <p:nvSpPr>
                  <p:cNvPr id="40" name="文本框 39"/>
                  <p:cNvSpPr txBox="1"/>
                  <p:nvPr/>
                </p:nvSpPr>
                <p:spPr>
                  <a:xfrm>
                    <a:off x="2886" y="4614"/>
                    <a:ext cx="3473" cy="628"/>
                  </a:xfrm>
                  <a:prstGeom prst="rect">
                    <a:avLst/>
                  </a:prstGeom>
                  <a:noFill/>
                </p:spPr>
                <p:txBody>
                  <a:bodyPr wrap="square" rtlCol="0">
                    <a:spAutoFit/>
                  </a:bodyPr>
                  <a:p>
                    <a:pPr algn="ctr"/>
                    <a:r>
                      <a:rPr lang="en-US" altLang="zh-CN" sz="2000" b="1" i="1"/>
                      <a:t>kafka producer N</a:t>
                    </a:r>
                    <a:endParaRPr lang="en-US" altLang="zh-CN" sz="2000" b="1" i="1"/>
                  </a:p>
                </p:txBody>
              </p:sp>
            </p:grpSp>
            <p:cxnSp>
              <p:nvCxnSpPr>
                <p:cNvPr id="41" name="直接箭头连接符 40"/>
                <p:cNvCxnSpPr>
                  <a:stCxn id="38" idx="3"/>
                </p:cNvCxnSpPr>
                <p:nvPr/>
              </p:nvCxnSpPr>
              <p:spPr>
                <a:xfrm flipV="1">
                  <a:off x="4266" y="3644"/>
                  <a:ext cx="3193" cy="50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38" idx="3"/>
                </p:cNvCxnSpPr>
                <p:nvPr/>
              </p:nvCxnSpPr>
              <p:spPr>
                <a:xfrm flipV="1">
                  <a:off x="4266" y="6814"/>
                  <a:ext cx="3533" cy="18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38" idx="3"/>
                  <a:endCxn id="21" idx="1"/>
                </p:cNvCxnSpPr>
                <p:nvPr/>
              </p:nvCxnSpPr>
              <p:spPr>
                <a:xfrm>
                  <a:off x="4266" y="8668"/>
                  <a:ext cx="3350" cy="5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50" idx="1"/>
                </p:cNvCxnSpPr>
                <p:nvPr/>
              </p:nvCxnSpPr>
              <p:spPr>
                <a:xfrm flipH="1" flipV="1">
                  <a:off x="9950" y="6927"/>
                  <a:ext cx="2735" cy="150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54" name="组合 53"/>
                <p:cNvGrpSpPr/>
                <p:nvPr/>
              </p:nvGrpSpPr>
              <p:grpSpPr>
                <a:xfrm rot="0">
                  <a:off x="12399" y="2081"/>
                  <a:ext cx="3090" cy="2035"/>
                  <a:chOff x="12355" y="2282"/>
                  <a:chExt cx="3202" cy="2519"/>
                </a:xfrm>
              </p:grpSpPr>
              <p:sp>
                <p:nvSpPr>
                  <p:cNvPr id="45" name="文本框 44"/>
                  <p:cNvSpPr txBox="1"/>
                  <p:nvPr/>
                </p:nvSpPr>
                <p:spPr>
                  <a:xfrm>
                    <a:off x="12582" y="2282"/>
                    <a:ext cx="2687" cy="1787"/>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47" name="文本框 46"/>
                  <p:cNvSpPr txBox="1"/>
                  <p:nvPr/>
                </p:nvSpPr>
                <p:spPr>
                  <a:xfrm>
                    <a:off x="12355" y="4024"/>
                    <a:ext cx="3202" cy="777"/>
                  </a:xfrm>
                  <a:prstGeom prst="rect">
                    <a:avLst/>
                  </a:prstGeom>
                  <a:noFill/>
                </p:spPr>
                <p:txBody>
                  <a:bodyPr wrap="square" rtlCol="0">
                    <a:spAutoFit/>
                  </a:bodyPr>
                  <a:p>
                    <a:pPr algn="ctr"/>
                    <a:r>
                      <a:rPr lang="en-US" altLang="zh-CN" sz="2000" b="1" i="1"/>
                      <a:t>IM consumer1</a:t>
                    </a:r>
                    <a:endParaRPr lang="en-US" altLang="zh-CN" sz="2000" b="1" i="1"/>
                  </a:p>
                </p:txBody>
              </p:sp>
            </p:grpSp>
            <p:grpSp>
              <p:nvGrpSpPr>
                <p:cNvPr id="55" name="组合 54"/>
                <p:cNvGrpSpPr/>
                <p:nvPr/>
              </p:nvGrpSpPr>
              <p:grpSpPr>
                <a:xfrm rot="0">
                  <a:off x="12399" y="3999"/>
                  <a:ext cx="3044" cy="1944"/>
                  <a:chOff x="12399" y="2533"/>
                  <a:chExt cx="3067" cy="2202"/>
                </a:xfrm>
              </p:grpSpPr>
              <p:sp>
                <p:nvSpPr>
                  <p:cNvPr id="56" name="文本框 55"/>
                  <p:cNvSpPr txBox="1"/>
                  <p:nvPr/>
                </p:nvSpPr>
                <p:spPr>
                  <a:xfrm>
                    <a:off x="12606" y="2533"/>
                    <a:ext cx="2687" cy="1635"/>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57" name="文本框 56"/>
                  <p:cNvSpPr txBox="1"/>
                  <p:nvPr/>
                </p:nvSpPr>
                <p:spPr>
                  <a:xfrm>
                    <a:off x="12399" y="4024"/>
                    <a:ext cx="3067" cy="711"/>
                  </a:xfrm>
                  <a:prstGeom prst="rect">
                    <a:avLst/>
                  </a:prstGeom>
                  <a:noFill/>
                </p:spPr>
                <p:txBody>
                  <a:bodyPr wrap="square" rtlCol="0">
                    <a:spAutoFit/>
                  </a:bodyPr>
                  <a:p>
                    <a:pPr algn="ctr"/>
                    <a:r>
                      <a:rPr lang="en-US" altLang="zh-CN" sz="2000" b="1" i="1"/>
                      <a:t>IM consumer2</a:t>
                    </a:r>
                    <a:endParaRPr lang="en-US" altLang="zh-CN" sz="2000" b="1" i="1"/>
                  </a:p>
                </p:txBody>
              </p:sp>
            </p:grpSp>
            <p:grpSp>
              <p:nvGrpSpPr>
                <p:cNvPr id="58" name="组合 57"/>
                <p:cNvGrpSpPr/>
                <p:nvPr/>
              </p:nvGrpSpPr>
              <p:grpSpPr>
                <a:xfrm rot="0">
                  <a:off x="12399" y="5883"/>
                  <a:ext cx="3225" cy="1952"/>
                  <a:chOff x="12311" y="1983"/>
                  <a:chExt cx="3202" cy="2185"/>
                </a:xfrm>
              </p:grpSpPr>
              <p:sp>
                <p:nvSpPr>
                  <p:cNvPr id="59" name="文本框 58"/>
                  <p:cNvSpPr txBox="1"/>
                  <p:nvPr/>
                </p:nvSpPr>
                <p:spPr>
                  <a:xfrm>
                    <a:off x="12606" y="1983"/>
                    <a:ext cx="2687" cy="1616"/>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60" name="文本框 59"/>
                  <p:cNvSpPr txBox="1"/>
                  <p:nvPr/>
                </p:nvSpPr>
                <p:spPr>
                  <a:xfrm>
                    <a:off x="12311" y="3465"/>
                    <a:ext cx="3202" cy="703"/>
                  </a:xfrm>
                  <a:prstGeom prst="rect">
                    <a:avLst/>
                  </a:prstGeom>
                  <a:noFill/>
                </p:spPr>
                <p:txBody>
                  <a:bodyPr wrap="square" rtlCol="0">
                    <a:spAutoFit/>
                  </a:bodyPr>
                  <a:p>
                    <a:pPr algn="ctr"/>
                    <a:r>
                      <a:rPr lang="en-US" altLang="zh-CN" sz="2000" b="1" i="1"/>
                      <a:t>IM consumer3</a:t>
                    </a:r>
                    <a:endParaRPr lang="en-US" altLang="zh-CN" sz="2000" b="1" i="1"/>
                  </a:p>
                </p:txBody>
              </p:sp>
            </p:grpSp>
            <p:cxnSp>
              <p:nvCxnSpPr>
                <p:cNvPr id="61" name="直接箭头连接符 60"/>
                <p:cNvCxnSpPr/>
                <p:nvPr/>
              </p:nvCxnSpPr>
              <p:spPr>
                <a:xfrm flipH="1" flipV="1">
                  <a:off x="10131" y="6452"/>
                  <a:ext cx="2583" cy="6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1949" y="6141"/>
                  <a:ext cx="1556" cy="919"/>
                </a:xfrm>
                <a:prstGeom prst="rect">
                  <a:avLst/>
                </a:prstGeom>
                <a:noFill/>
              </p:spPr>
              <p:txBody>
                <a:bodyPr wrap="square" rtlCol="0">
                  <a:spAutoFit/>
                </a:bodyPr>
                <a:p>
                  <a:pPr algn="ctr"/>
                  <a:r>
                    <a:rPr lang="en-US" altLang="zh-CN" sz="3200"/>
                    <a:t>... ...</a:t>
                  </a:r>
                  <a:endParaRPr lang="en-US" altLang="zh-CN" sz="3200"/>
                </a:p>
              </p:txBody>
            </p:sp>
            <p:cxnSp>
              <p:nvCxnSpPr>
                <p:cNvPr id="63" name="直接箭头连接符 62"/>
                <p:cNvCxnSpPr>
                  <a:stCxn id="56" idx="1"/>
                </p:cNvCxnSpPr>
                <p:nvPr/>
              </p:nvCxnSpPr>
              <p:spPr>
                <a:xfrm flipH="1" flipV="1">
                  <a:off x="10109" y="4278"/>
                  <a:ext cx="2495" cy="4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stCxn id="45" idx="1"/>
                </p:cNvCxnSpPr>
                <p:nvPr/>
              </p:nvCxnSpPr>
              <p:spPr>
                <a:xfrm flipH="1">
                  <a:off x="9999" y="2803"/>
                  <a:ext cx="2619" cy="7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cxnSp>
          <p:nvCxnSpPr>
            <p:cNvPr id="74" name="直接箭头连接符 73"/>
            <p:cNvCxnSpPr/>
            <p:nvPr/>
          </p:nvCxnSpPr>
          <p:spPr>
            <a:xfrm flipH="1" flipV="1">
              <a:off x="10448" y="9169"/>
              <a:ext cx="2491" cy="17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flipH="1" flipV="1">
              <a:off x="10539" y="9967"/>
              <a:ext cx="1471" cy="9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77" name="文本框 76"/>
          <p:cNvSpPr txBox="1"/>
          <p:nvPr/>
        </p:nvSpPr>
        <p:spPr>
          <a:xfrm>
            <a:off x="6908165" y="6147435"/>
            <a:ext cx="1738630" cy="642620"/>
          </a:xfrm>
          <a:prstGeom prst="rect">
            <a:avLst/>
          </a:prstGeom>
          <a:noFill/>
        </p:spPr>
        <p:txBody>
          <a:bodyPr wrap="square" rtlCol="0">
            <a:spAutoFit/>
          </a:bodyPr>
          <a:p>
            <a:r>
              <a:rPr lang="en-US" altLang="zh-CN"/>
              <a:t>omit here, see next page</a:t>
            </a:r>
            <a:endParaRPr lang="en-US" altLang="zh-CN"/>
          </a:p>
        </p:txBody>
      </p:sp>
      <p:sp>
        <p:nvSpPr>
          <p:cNvPr id="78" name="文本框 77"/>
          <p:cNvSpPr txBox="1"/>
          <p:nvPr/>
        </p:nvSpPr>
        <p:spPr>
          <a:xfrm>
            <a:off x="6764020" y="1647190"/>
            <a:ext cx="920115" cy="368300"/>
          </a:xfrm>
          <a:prstGeom prst="rect">
            <a:avLst/>
          </a:prstGeom>
          <a:noFill/>
        </p:spPr>
        <p:txBody>
          <a:bodyPr wrap="square" rtlCol="0">
            <a:spAutoFit/>
          </a:bodyPr>
          <a:p>
            <a:r>
              <a:rPr lang="en-US" altLang="zh-CN"/>
              <a:t>pull</a:t>
            </a:r>
            <a:endParaRPr lang="en-US" altLang="zh-CN"/>
          </a:p>
        </p:txBody>
      </p:sp>
      <p:sp>
        <p:nvSpPr>
          <p:cNvPr id="79" name="文本框 78"/>
          <p:cNvSpPr txBox="1"/>
          <p:nvPr/>
        </p:nvSpPr>
        <p:spPr>
          <a:xfrm>
            <a:off x="7051675" y="2438400"/>
            <a:ext cx="920115" cy="368300"/>
          </a:xfrm>
          <a:prstGeom prst="rect">
            <a:avLst/>
          </a:prstGeom>
          <a:noFill/>
        </p:spPr>
        <p:txBody>
          <a:bodyPr wrap="square" rtlCol="0">
            <a:spAutoFit/>
          </a:bodyPr>
          <a:p>
            <a:r>
              <a:rPr lang="en-US" altLang="zh-CN"/>
              <a:t>pull</a:t>
            </a:r>
            <a:endParaRPr lang="en-US" altLang="zh-CN"/>
          </a:p>
        </p:txBody>
      </p:sp>
      <p:sp>
        <p:nvSpPr>
          <p:cNvPr id="80" name="文本框 79"/>
          <p:cNvSpPr txBox="1"/>
          <p:nvPr/>
        </p:nvSpPr>
        <p:spPr>
          <a:xfrm>
            <a:off x="6936740" y="3847465"/>
            <a:ext cx="920115" cy="368300"/>
          </a:xfrm>
          <a:prstGeom prst="rect">
            <a:avLst/>
          </a:prstGeom>
          <a:noFill/>
        </p:spPr>
        <p:txBody>
          <a:bodyPr wrap="square" rtlCol="0">
            <a:spAutoFit/>
          </a:bodyPr>
          <a:p>
            <a:r>
              <a:rPr lang="en-US" altLang="zh-CN"/>
              <a:t>pull</a:t>
            </a:r>
            <a:endParaRPr lang="en-US" altLang="zh-CN"/>
          </a:p>
        </p:txBody>
      </p:sp>
      <p:sp>
        <p:nvSpPr>
          <p:cNvPr id="81" name="文本框 80"/>
          <p:cNvSpPr txBox="1"/>
          <p:nvPr/>
        </p:nvSpPr>
        <p:spPr>
          <a:xfrm>
            <a:off x="6922770" y="4968875"/>
            <a:ext cx="920115" cy="368300"/>
          </a:xfrm>
          <a:prstGeom prst="rect">
            <a:avLst/>
          </a:prstGeom>
          <a:noFill/>
        </p:spPr>
        <p:txBody>
          <a:bodyPr wrap="square" rtlCol="0">
            <a:spAutoFit/>
          </a:bodyPr>
          <a:p>
            <a:r>
              <a:rPr lang="en-US" altLang="zh-CN"/>
              <a:t>pull</a:t>
            </a:r>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5610" y="77470"/>
            <a:ext cx="10515600" cy="1325563"/>
          </a:xfrm>
        </p:spPr>
        <p:txBody>
          <a:bodyPr/>
          <a:p>
            <a:r>
              <a:rPr lang="en-US" altLang="zh-CN"/>
              <a:t>kafka would be central part in entire solution</a:t>
            </a:r>
            <a:endParaRPr lang="en-US" altLang="zh-CN"/>
          </a:p>
        </p:txBody>
      </p:sp>
      <p:grpSp>
        <p:nvGrpSpPr>
          <p:cNvPr id="76" name="组合 75"/>
          <p:cNvGrpSpPr/>
          <p:nvPr/>
        </p:nvGrpSpPr>
        <p:grpSpPr>
          <a:xfrm>
            <a:off x="337185" y="989330"/>
            <a:ext cx="11443970" cy="5045710"/>
            <a:chOff x="531" y="1558"/>
            <a:chExt cx="18022" cy="7946"/>
          </a:xfrm>
        </p:grpSpPr>
        <p:sp>
          <p:nvSpPr>
            <p:cNvPr id="5" name="矩形 4"/>
            <p:cNvSpPr/>
            <p:nvPr/>
          </p:nvSpPr>
          <p:spPr>
            <a:xfrm>
              <a:off x="7970" y="4572"/>
              <a:ext cx="2951" cy="956"/>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r>
                <a:rPr lang="en-US" altLang="zh-CN" sz="2400" b="1"/>
                <a:t>Kafka</a:t>
              </a:r>
              <a:endParaRPr lang="en-US" altLang="zh-CN" sz="2400" b="1"/>
            </a:p>
          </p:txBody>
        </p:sp>
        <p:sp>
          <p:nvSpPr>
            <p:cNvPr id="6" name="矩形 5"/>
            <p:cNvSpPr/>
            <p:nvPr/>
          </p:nvSpPr>
          <p:spPr>
            <a:xfrm>
              <a:off x="7970" y="5529"/>
              <a:ext cx="2952" cy="1541"/>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endParaRPr lang="zh-CN" altLang="en-US"/>
            </a:p>
          </p:txBody>
        </p:sp>
        <p:sp>
          <p:nvSpPr>
            <p:cNvPr id="23" name="文本框 22"/>
            <p:cNvSpPr txBox="1"/>
            <p:nvPr/>
          </p:nvSpPr>
          <p:spPr>
            <a:xfrm>
              <a:off x="8074" y="5503"/>
              <a:ext cx="3179" cy="580"/>
            </a:xfrm>
            <a:prstGeom prst="rect">
              <a:avLst/>
            </a:prstGeom>
            <a:noFill/>
          </p:spPr>
          <p:txBody>
            <a:bodyPr wrap="square" rtlCol="0">
              <a:spAutoFit/>
            </a:bodyPr>
            <a:p>
              <a:r>
                <a:rPr lang="en-US" altLang="zh-CN"/>
                <a:t>IM Topic RPC Msg </a:t>
              </a:r>
              <a:endParaRPr lang="en-US" altLang="zh-CN"/>
            </a:p>
          </p:txBody>
        </p:sp>
        <p:sp>
          <p:nvSpPr>
            <p:cNvPr id="25" name="文本框 24"/>
            <p:cNvSpPr txBox="1"/>
            <p:nvPr/>
          </p:nvSpPr>
          <p:spPr>
            <a:xfrm>
              <a:off x="8053" y="6025"/>
              <a:ext cx="3179" cy="580"/>
            </a:xfrm>
            <a:prstGeom prst="rect">
              <a:avLst/>
            </a:prstGeom>
            <a:noFill/>
          </p:spPr>
          <p:txBody>
            <a:bodyPr wrap="square" rtlCol="0">
              <a:spAutoFit/>
            </a:bodyPr>
            <a:p>
              <a:r>
                <a:rPr lang="en-US" altLang="zh-CN"/>
                <a:t>Mail RPC Msg</a:t>
              </a:r>
              <a:endParaRPr lang="en-US" altLang="zh-CN"/>
            </a:p>
          </p:txBody>
        </p:sp>
        <p:sp>
          <p:nvSpPr>
            <p:cNvPr id="9" name="文本框 8"/>
            <p:cNvSpPr txBox="1"/>
            <p:nvPr/>
          </p:nvSpPr>
          <p:spPr>
            <a:xfrm>
              <a:off x="8048" y="6503"/>
              <a:ext cx="3179" cy="580"/>
            </a:xfrm>
            <a:prstGeom prst="rect">
              <a:avLst/>
            </a:prstGeom>
            <a:noFill/>
          </p:spPr>
          <p:txBody>
            <a:bodyPr wrap="square" rtlCol="0">
              <a:spAutoFit/>
            </a:bodyPr>
            <a:p>
              <a:r>
                <a:rPr lang="en-US" altLang="zh-CN"/>
                <a:t>lucent Topic </a:t>
              </a:r>
              <a:endParaRPr lang="en-US" altLang="zh-CN"/>
            </a:p>
          </p:txBody>
        </p:sp>
        <p:sp>
          <p:nvSpPr>
            <p:cNvPr id="11" name="矩形 10"/>
            <p:cNvSpPr/>
            <p:nvPr/>
          </p:nvSpPr>
          <p:spPr>
            <a:xfrm>
              <a:off x="3720" y="4748"/>
              <a:ext cx="2951" cy="956"/>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r>
                <a:rPr lang="en-US" altLang="zh-CN" sz="2400" b="1"/>
                <a:t>IM&amp;Notify Servers</a:t>
              </a:r>
              <a:endParaRPr lang="en-US" altLang="zh-CN" sz="2400" b="1"/>
            </a:p>
          </p:txBody>
        </p:sp>
        <p:sp>
          <p:nvSpPr>
            <p:cNvPr id="12" name="矩形 11"/>
            <p:cNvSpPr/>
            <p:nvPr/>
          </p:nvSpPr>
          <p:spPr>
            <a:xfrm>
              <a:off x="3720" y="5705"/>
              <a:ext cx="2952" cy="1541"/>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endParaRPr lang="zh-CN" altLang="en-US"/>
            </a:p>
          </p:txBody>
        </p:sp>
        <p:sp>
          <p:nvSpPr>
            <p:cNvPr id="18" name="矩形 17"/>
            <p:cNvSpPr/>
            <p:nvPr/>
          </p:nvSpPr>
          <p:spPr>
            <a:xfrm>
              <a:off x="12656" y="5998"/>
              <a:ext cx="2951" cy="956"/>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r>
                <a:rPr lang="en-US" altLang="zh-CN" sz="2400" b="1"/>
                <a:t>full text idexing svc</a:t>
              </a:r>
              <a:endParaRPr lang="en-US" altLang="zh-CN" sz="2400" b="1"/>
            </a:p>
          </p:txBody>
        </p:sp>
        <p:sp>
          <p:nvSpPr>
            <p:cNvPr id="19" name="矩形 18"/>
            <p:cNvSpPr/>
            <p:nvPr/>
          </p:nvSpPr>
          <p:spPr>
            <a:xfrm>
              <a:off x="12656" y="6955"/>
              <a:ext cx="2952" cy="1541"/>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endParaRPr lang="zh-CN" altLang="en-US"/>
            </a:p>
          </p:txBody>
        </p:sp>
        <p:sp>
          <p:nvSpPr>
            <p:cNvPr id="37" name="矩形 36"/>
            <p:cNvSpPr/>
            <p:nvPr/>
          </p:nvSpPr>
          <p:spPr>
            <a:xfrm>
              <a:off x="12566" y="1809"/>
              <a:ext cx="2951" cy="956"/>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r>
                <a:rPr lang="en-US" altLang="zh-CN" sz="2400" b="1"/>
                <a:t>Log analysis service</a:t>
              </a:r>
              <a:endParaRPr lang="en-US" altLang="zh-CN" sz="2400" b="1"/>
            </a:p>
          </p:txBody>
        </p:sp>
        <p:sp>
          <p:nvSpPr>
            <p:cNvPr id="38" name="矩形 37"/>
            <p:cNvSpPr/>
            <p:nvPr/>
          </p:nvSpPr>
          <p:spPr>
            <a:xfrm>
              <a:off x="12566" y="2766"/>
              <a:ext cx="2952" cy="1541"/>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endParaRPr lang="zh-CN" altLang="en-US"/>
            </a:p>
          </p:txBody>
        </p:sp>
        <p:sp>
          <p:nvSpPr>
            <p:cNvPr id="34" name="文本框 33"/>
            <p:cNvSpPr txBox="1"/>
            <p:nvPr/>
          </p:nvSpPr>
          <p:spPr>
            <a:xfrm>
              <a:off x="1058" y="3161"/>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cxnSp>
          <p:nvCxnSpPr>
            <p:cNvPr id="35" name="直接箭头连接符 34"/>
            <p:cNvCxnSpPr>
              <a:stCxn id="34" idx="3"/>
            </p:cNvCxnSpPr>
            <p:nvPr/>
          </p:nvCxnSpPr>
          <p:spPr>
            <a:xfrm>
              <a:off x="2533" y="3883"/>
              <a:ext cx="1145" cy="10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990" y="7146"/>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cxnSp>
          <p:nvCxnSpPr>
            <p:cNvPr id="40" name="直接箭头连接符 39"/>
            <p:cNvCxnSpPr>
              <a:endCxn id="23" idx="1"/>
            </p:cNvCxnSpPr>
            <p:nvPr/>
          </p:nvCxnSpPr>
          <p:spPr>
            <a:xfrm flipV="1">
              <a:off x="6667" y="5793"/>
              <a:ext cx="1407" cy="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endCxn id="25" idx="1"/>
            </p:cNvCxnSpPr>
            <p:nvPr/>
          </p:nvCxnSpPr>
          <p:spPr>
            <a:xfrm>
              <a:off x="6531" y="5840"/>
              <a:ext cx="1522" cy="4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6644" y="6316"/>
              <a:ext cx="1608" cy="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2667" y="7086"/>
              <a:ext cx="2979" cy="1444"/>
            </a:xfrm>
            <a:prstGeom prst="rect">
              <a:avLst/>
            </a:prstGeom>
            <a:noFill/>
          </p:spPr>
          <p:txBody>
            <a:bodyPr wrap="none" rtlCol="0">
              <a:spAutoFit/>
            </a:bodyPr>
            <a:p>
              <a:r>
                <a:rPr lang="en-US" altLang="zh-CN"/>
                <a:t>set up indexing</a:t>
              </a:r>
              <a:endParaRPr lang="en-US" altLang="zh-CN"/>
            </a:p>
            <a:p>
              <a:r>
                <a:rPr lang="en-US" altLang="zh-CN"/>
                <a:t>for new messages </a:t>
              </a:r>
              <a:endParaRPr lang="en-US" altLang="zh-CN"/>
            </a:p>
            <a:p>
              <a:r>
                <a:rPr lang="en-US" altLang="zh-CN"/>
                <a:t>and new mails</a:t>
              </a:r>
              <a:endParaRPr lang="en-US" altLang="zh-CN"/>
            </a:p>
          </p:txBody>
        </p:sp>
        <p:sp>
          <p:nvSpPr>
            <p:cNvPr id="45" name="文本框 44"/>
            <p:cNvSpPr txBox="1"/>
            <p:nvPr/>
          </p:nvSpPr>
          <p:spPr>
            <a:xfrm>
              <a:off x="3934" y="6017"/>
              <a:ext cx="2608" cy="580"/>
            </a:xfrm>
            <a:prstGeom prst="rect">
              <a:avLst/>
            </a:prstGeom>
            <a:noFill/>
          </p:spPr>
          <p:txBody>
            <a:bodyPr wrap="none" rtlCol="0">
              <a:spAutoFit/>
            </a:bodyPr>
            <a:p>
              <a:r>
                <a:rPr lang="en-US" altLang="zh-CN"/>
                <a:t>Mail &amp; message</a:t>
              </a:r>
              <a:endParaRPr lang="en-US" altLang="zh-CN"/>
            </a:p>
          </p:txBody>
        </p:sp>
        <p:sp>
          <p:nvSpPr>
            <p:cNvPr id="46" name="文本框 45"/>
            <p:cNvSpPr txBox="1"/>
            <p:nvPr/>
          </p:nvSpPr>
          <p:spPr>
            <a:xfrm>
              <a:off x="12689" y="2853"/>
              <a:ext cx="2374" cy="580"/>
            </a:xfrm>
            <a:prstGeom prst="rect">
              <a:avLst/>
            </a:prstGeom>
            <a:noFill/>
          </p:spPr>
          <p:txBody>
            <a:bodyPr wrap="none" rtlCol="0">
              <a:spAutoFit/>
            </a:bodyPr>
            <a:p>
              <a:r>
                <a:rPr lang="en-US" altLang="zh-CN"/>
                <a:t>Map &amp; reduce</a:t>
              </a:r>
              <a:endParaRPr lang="en-US" altLang="zh-CN"/>
            </a:p>
          </p:txBody>
        </p:sp>
        <p:sp>
          <p:nvSpPr>
            <p:cNvPr id="47" name="文本框 46"/>
            <p:cNvSpPr txBox="1"/>
            <p:nvPr/>
          </p:nvSpPr>
          <p:spPr>
            <a:xfrm>
              <a:off x="12576" y="3351"/>
              <a:ext cx="2980" cy="1012"/>
            </a:xfrm>
            <a:prstGeom prst="rect">
              <a:avLst/>
            </a:prstGeom>
            <a:noFill/>
          </p:spPr>
          <p:txBody>
            <a:bodyPr wrap="none" rtlCol="0">
              <a:spAutoFit/>
            </a:bodyPr>
            <a:p>
              <a:pPr algn="ctr"/>
              <a:r>
                <a:rPr lang="en-US" altLang="zh-CN"/>
                <a:t>detect exceptional</a:t>
              </a:r>
              <a:br>
                <a:rPr lang="en-US" altLang="zh-CN"/>
              </a:br>
              <a:r>
                <a:rPr lang="en-US" altLang="zh-CN"/>
                <a:t> behaviors</a:t>
              </a:r>
              <a:endParaRPr lang="en-US" altLang="zh-CN"/>
            </a:p>
          </p:txBody>
        </p:sp>
        <p:sp>
          <p:nvSpPr>
            <p:cNvPr id="50" name="文本框 49"/>
            <p:cNvSpPr txBox="1"/>
            <p:nvPr/>
          </p:nvSpPr>
          <p:spPr>
            <a:xfrm rot="19260000">
              <a:off x="10924" y="3847"/>
              <a:ext cx="1613" cy="580"/>
            </a:xfrm>
            <a:prstGeom prst="rect">
              <a:avLst/>
            </a:prstGeom>
            <a:noFill/>
          </p:spPr>
          <p:txBody>
            <a:bodyPr wrap="none" rtlCol="0">
              <a:spAutoFit/>
            </a:bodyPr>
            <a:p>
              <a:r>
                <a:rPr lang="en-US" altLang="zh-CN"/>
                <a:t>consume</a:t>
              </a:r>
              <a:endParaRPr lang="en-US" altLang="zh-CN"/>
            </a:p>
          </p:txBody>
        </p:sp>
        <p:sp>
          <p:nvSpPr>
            <p:cNvPr id="51" name="文本框 50"/>
            <p:cNvSpPr txBox="1"/>
            <p:nvPr/>
          </p:nvSpPr>
          <p:spPr>
            <a:xfrm>
              <a:off x="6691" y="5094"/>
              <a:ext cx="1496" cy="580"/>
            </a:xfrm>
            <a:prstGeom prst="rect">
              <a:avLst/>
            </a:prstGeom>
            <a:noFill/>
          </p:spPr>
          <p:txBody>
            <a:bodyPr wrap="none" rtlCol="0">
              <a:spAutoFit/>
            </a:bodyPr>
            <a:p>
              <a:r>
                <a:rPr lang="en-US" altLang="zh-CN"/>
                <a:t>produce</a:t>
              </a:r>
              <a:endParaRPr lang="en-US" altLang="zh-CN"/>
            </a:p>
          </p:txBody>
        </p:sp>
        <p:sp>
          <p:nvSpPr>
            <p:cNvPr id="52" name="文本框 51"/>
            <p:cNvSpPr txBox="1"/>
            <p:nvPr/>
          </p:nvSpPr>
          <p:spPr>
            <a:xfrm rot="20760000">
              <a:off x="6427" y="6584"/>
              <a:ext cx="1613" cy="580"/>
            </a:xfrm>
            <a:prstGeom prst="rect">
              <a:avLst/>
            </a:prstGeom>
            <a:noFill/>
          </p:spPr>
          <p:txBody>
            <a:bodyPr wrap="none" rtlCol="0">
              <a:spAutoFit/>
            </a:bodyPr>
            <a:p>
              <a:r>
                <a:rPr lang="en-US" altLang="zh-CN"/>
                <a:t>consume</a:t>
              </a:r>
              <a:endParaRPr lang="en-US" altLang="zh-CN"/>
            </a:p>
          </p:txBody>
        </p:sp>
        <p:cxnSp>
          <p:nvCxnSpPr>
            <p:cNvPr id="53" name="直接箭头连接符 52"/>
            <p:cNvCxnSpPr/>
            <p:nvPr/>
          </p:nvCxnSpPr>
          <p:spPr>
            <a:xfrm flipH="1">
              <a:off x="6554" y="6379"/>
              <a:ext cx="1844" cy="4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endCxn id="45" idx="3"/>
            </p:cNvCxnSpPr>
            <p:nvPr/>
          </p:nvCxnSpPr>
          <p:spPr>
            <a:xfrm flipH="1">
              <a:off x="6542" y="5908"/>
              <a:ext cx="2276" cy="3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rot="840000">
              <a:off x="10970" y="6610"/>
              <a:ext cx="1613" cy="580"/>
            </a:xfrm>
            <a:prstGeom prst="rect">
              <a:avLst/>
            </a:prstGeom>
            <a:noFill/>
          </p:spPr>
          <p:txBody>
            <a:bodyPr wrap="none" rtlCol="0">
              <a:spAutoFit/>
            </a:bodyPr>
            <a:p>
              <a:r>
                <a:rPr lang="en-US" altLang="zh-CN"/>
                <a:t>consume</a:t>
              </a:r>
              <a:endParaRPr lang="en-US" altLang="zh-CN"/>
            </a:p>
          </p:txBody>
        </p:sp>
        <p:cxnSp>
          <p:nvCxnSpPr>
            <p:cNvPr id="56" name="直接箭头连接符 55"/>
            <p:cNvCxnSpPr>
              <a:endCxn id="47" idx="1"/>
            </p:cNvCxnSpPr>
            <p:nvPr/>
          </p:nvCxnSpPr>
          <p:spPr>
            <a:xfrm flipV="1">
              <a:off x="9950" y="3857"/>
              <a:ext cx="2626" cy="18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9792" y="6882"/>
              <a:ext cx="2920" cy="67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10131" y="4391"/>
              <a:ext cx="2944" cy="1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rot="19860000">
              <a:off x="11354" y="5048"/>
              <a:ext cx="1613" cy="580"/>
            </a:xfrm>
            <a:prstGeom prst="rect">
              <a:avLst/>
            </a:prstGeom>
            <a:noFill/>
          </p:spPr>
          <p:txBody>
            <a:bodyPr wrap="square" rtlCol="0">
              <a:spAutoFit/>
            </a:bodyPr>
            <a:p>
              <a:r>
                <a:rPr lang="en-US" altLang="zh-CN"/>
                <a:t>consume</a:t>
              </a:r>
              <a:endParaRPr lang="en-US" altLang="zh-CN"/>
            </a:p>
          </p:txBody>
        </p:sp>
        <p:cxnSp>
          <p:nvCxnSpPr>
            <p:cNvPr id="61" name="直接箭头连接符 60"/>
            <p:cNvCxnSpPr/>
            <p:nvPr/>
          </p:nvCxnSpPr>
          <p:spPr>
            <a:xfrm flipH="1" flipV="1">
              <a:off x="2478" y="4414"/>
              <a:ext cx="1427" cy="11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V="1">
              <a:off x="2207" y="6429"/>
              <a:ext cx="1517" cy="1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flipH="1">
              <a:off x="2365" y="7063"/>
              <a:ext cx="1427" cy="9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stCxn id="37" idx="1"/>
            </p:cNvCxnSpPr>
            <p:nvPr/>
          </p:nvCxnSpPr>
          <p:spPr>
            <a:xfrm flipH="1" flipV="1">
              <a:off x="6622" y="2286"/>
              <a:ext cx="5944"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6536" y="1775"/>
              <a:ext cx="5886" cy="580"/>
            </a:xfrm>
            <a:prstGeom prst="rect">
              <a:avLst/>
            </a:prstGeom>
            <a:noFill/>
          </p:spPr>
          <p:txBody>
            <a:bodyPr wrap="square" rtlCol="0">
              <a:spAutoFit/>
            </a:bodyPr>
            <a:p>
              <a:r>
                <a:rPr lang="en-US" altLang="zh-CN"/>
                <a:t>IM mgr msg to cut off malicious user s</a:t>
              </a:r>
              <a:endParaRPr lang="en-US" altLang="zh-CN"/>
            </a:p>
          </p:txBody>
        </p:sp>
        <p:sp>
          <p:nvSpPr>
            <p:cNvPr id="67" name="矩形 66"/>
            <p:cNvSpPr/>
            <p:nvPr/>
          </p:nvSpPr>
          <p:spPr>
            <a:xfrm>
              <a:off x="3629" y="2076"/>
              <a:ext cx="2951" cy="956"/>
            </a:xfrm>
            <a:prstGeom prst="rect">
              <a:avLst/>
            </a:prstGeom>
          </p:spPr>
          <p:style>
            <a:lnRef idx="2">
              <a:schemeClr val="accent5"/>
            </a:lnRef>
            <a:fillRef idx="1">
              <a:schemeClr val="lt1"/>
            </a:fillRef>
            <a:effectRef idx="0">
              <a:schemeClr val="accent5"/>
            </a:effectRef>
            <a:fontRef idx="minor">
              <a:schemeClr val="dk1"/>
            </a:fontRef>
          </p:style>
          <p:txBody>
            <a:bodyPr rtlCol="0" anchor="ctr"/>
            <a:p>
              <a:pPr algn="ctr"/>
              <a:r>
                <a:rPr lang="en-US" altLang="zh-CN" sz="2400" b="1"/>
                <a:t>Redis</a:t>
              </a:r>
              <a:endParaRPr lang="en-US" altLang="zh-CN" sz="2400" b="1"/>
            </a:p>
          </p:txBody>
        </p:sp>
        <p:cxnSp>
          <p:nvCxnSpPr>
            <p:cNvPr id="68" name="直接箭头连接符 67"/>
            <p:cNvCxnSpPr/>
            <p:nvPr/>
          </p:nvCxnSpPr>
          <p:spPr>
            <a:xfrm flipH="1" flipV="1">
              <a:off x="5739" y="3033"/>
              <a:ext cx="22" cy="16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nvCxnSpPr>
          <p:spPr>
            <a:xfrm>
              <a:off x="4516" y="3123"/>
              <a:ext cx="0" cy="15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0" name="文本框 69"/>
            <p:cNvSpPr txBox="1"/>
            <p:nvPr/>
          </p:nvSpPr>
          <p:spPr>
            <a:xfrm>
              <a:off x="5696" y="3186"/>
              <a:ext cx="724" cy="1743"/>
            </a:xfrm>
            <a:prstGeom prst="rect">
              <a:avLst/>
            </a:prstGeom>
            <a:noFill/>
          </p:spPr>
          <p:txBody>
            <a:bodyPr vert="eaVert" wrap="square" rtlCol="0">
              <a:spAutoFit/>
            </a:bodyPr>
            <a:p>
              <a:r>
                <a:rPr lang="en-US" altLang="zh-CN"/>
                <a:t>sub &amp; pub</a:t>
              </a:r>
              <a:endParaRPr lang="en-US" altLang="zh-CN"/>
            </a:p>
          </p:txBody>
        </p:sp>
        <p:sp>
          <p:nvSpPr>
            <p:cNvPr id="71" name="文本框 70"/>
            <p:cNvSpPr txBox="1"/>
            <p:nvPr/>
          </p:nvSpPr>
          <p:spPr>
            <a:xfrm>
              <a:off x="3681" y="3043"/>
              <a:ext cx="724" cy="1992"/>
            </a:xfrm>
            <a:prstGeom prst="rect">
              <a:avLst/>
            </a:prstGeom>
            <a:noFill/>
          </p:spPr>
          <p:txBody>
            <a:bodyPr vert="eaVert" wrap="square" rtlCol="0">
              <a:spAutoFit/>
            </a:bodyPr>
            <a:p>
              <a:r>
                <a:rPr lang="en-US" altLang="zh-CN"/>
                <a:t>msg &amp; amil</a:t>
              </a:r>
              <a:endParaRPr lang="en-US" altLang="zh-CN"/>
            </a:p>
          </p:txBody>
        </p:sp>
        <p:sp>
          <p:nvSpPr>
            <p:cNvPr id="72" name="矩形 71"/>
            <p:cNvSpPr/>
            <p:nvPr/>
          </p:nvSpPr>
          <p:spPr>
            <a:xfrm>
              <a:off x="531" y="1561"/>
              <a:ext cx="11321" cy="7925"/>
            </a:xfrm>
            <a:prstGeom prst="rect">
              <a:avLst/>
            </a:prstGeom>
            <a:solidFill>
              <a:schemeClr val="accent6">
                <a:lumMod val="20000"/>
                <a:lumOff val="80000"/>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 name="矩形 72"/>
            <p:cNvSpPr/>
            <p:nvPr/>
          </p:nvSpPr>
          <p:spPr>
            <a:xfrm>
              <a:off x="12327" y="1558"/>
              <a:ext cx="5457" cy="7947"/>
            </a:xfrm>
            <a:prstGeom prst="rect">
              <a:avLst/>
            </a:prstGeom>
            <a:solidFill>
              <a:schemeClr val="accent6">
                <a:lumMod val="20000"/>
                <a:lumOff val="80000"/>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 name="文本框 73"/>
            <p:cNvSpPr txBox="1"/>
            <p:nvPr/>
          </p:nvSpPr>
          <p:spPr>
            <a:xfrm>
              <a:off x="12281" y="8670"/>
              <a:ext cx="6272" cy="725"/>
            </a:xfrm>
            <a:prstGeom prst="rect">
              <a:avLst/>
            </a:prstGeom>
            <a:noFill/>
          </p:spPr>
          <p:txBody>
            <a:bodyPr wrap="square" rtlCol="0">
              <a:spAutoFit/>
            </a:bodyPr>
            <a:p>
              <a:r>
                <a:rPr lang="en-US" altLang="zh-CN" sz="2400" b="1"/>
                <a:t>The planed implementation</a:t>
              </a:r>
              <a:endParaRPr lang="en-US" altLang="zh-CN" sz="2400" b="1"/>
            </a:p>
          </p:txBody>
        </p:sp>
        <p:sp>
          <p:nvSpPr>
            <p:cNvPr id="75" name="文本框 74"/>
            <p:cNvSpPr txBox="1"/>
            <p:nvPr/>
          </p:nvSpPr>
          <p:spPr>
            <a:xfrm>
              <a:off x="2999" y="8444"/>
              <a:ext cx="6227" cy="725"/>
            </a:xfrm>
            <a:prstGeom prst="rect">
              <a:avLst/>
            </a:prstGeom>
            <a:noFill/>
          </p:spPr>
          <p:txBody>
            <a:bodyPr wrap="square" rtlCol="0">
              <a:spAutoFit/>
            </a:bodyPr>
            <a:p>
              <a:r>
                <a:rPr lang="en-US" altLang="zh-CN" sz="2400" b="1"/>
                <a:t>The present implementation</a:t>
              </a:r>
              <a:endParaRPr lang="en-US" altLang="zh-CN" sz="2400" b="1"/>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22275" y="120650"/>
            <a:ext cx="10946130" cy="606425"/>
          </a:xfrm>
        </p:spPr>
        <p:txBody>
          <a:bodyPr>
            <a:normAutofit fontScale="90000"/>
          </a:bodyPr>
          <a:p>
            <a:r>
              <a:rPr lang="en-US" altLang="zh-CN"/>
              <a:t>Key value store design for IM &amp; notification </a:t>
            </a:r>
            <a:endParaRPr lang="en-US" altLang="zh-CN"/>
          </a:p>
        </p:txBody>
      </p:sp>
      <p:sp>
        <p:nvSpPr>
          <p:cNvPr id="4" name="圆柱形 3"/>
          <p:cNvSpPr/>
          <p:nvPr/>
        </p:nvSpPr>
        <p:spPr>
          <a:xfrm>
            <a:off x="7317105" y="1063625"/>
            <a:ext cx="1475105" cy="121666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Topic&amp;group</a:t>
            </a:r>
            <a:endParaRPr lang="en-US" altLang="zh-CN"/>
          </a:p>
        </p:txBody>
      </p:sp>
      <p:sp>
        <p:nvSpPr>
          <p:cNvPr id="5" name="圆柱形 4"/>
          <p:cNvSpPr/>
          <p:nvPr/>
        </p:nvSpPr>
        <p:spPr>
          <a:xfrm>
            <a:off x="7317105" y="2439035"/>
            <a:ext cx="1475105" cy="121666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Topic Message</a:t>
            </a:r>
            <a:endParaRPr lang="en-US" altLang="zh-CN"/>
          </a:p>
        </p:txBody>
      </p:sp>
      <p:sp>
        <p:nvSpPr>
          <p:cNvPr id="6" name="圆柱形 5"/>
          <p:cNvSpPr/>
          <p:nvPr/>
        </p:nvSpPr>
        <p:spPr>
          <a:xfrm>
            <a:off x="7317105" y="3940175"/>
            <a:ext cx="1475105" cy="121666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User Data </a:t>
            </a:r>
            <a:endParaRPr lang="en-US" altLang="zh-CN"/>
          </a:p>
        </p:txBody>
      </p:sp>
      <p:sp>
        <p:nvSpPr>
          <p:cNvPr id="7" name="圆柱形 6"/>
          <p:cNvSpPr/>
          <p:nvPr/>
        </p:nvSpPr>
        <p:spPr>
          <a:xfrm>
            <a:off x="7317105" y="5315585"/>
            <a:ext cx="1475105" cy="121666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User mail</a:t>
            </a:r>
            <a:endParaRPr lang="en-US" altLang="zh-CN"/>
          </a:p>
        </p:txBody>
      </p:sp>
      <p:grpSp>
        <p:nvGrpSpPr>
          <p:cNvPr id="13" name="组合 12"/>
          <p:cNvGrpSpPr/>
          <p:nvPr/>
        </p:nvGrpSpPr>
        <p:grpSpPr>
          <a:xfrm>
            <a:off x="10005695" y="1035050"/>
            <a:ext cx="1187450" cy="1159510"/>
            <a:chOff x="11377" y="1698"/>
            <a:chExt cx="1870" cy="1826"/>
          </a:xfrm>
        </p:grpSpPr>
        <p:sp>
          <p:nvSpPr>
            <p:cNvPr id="10" name="圆柱形 9"/>
            <p:cNvSpPr/>
            <p:nvPr/>
          </p:nvSpPr>
          <p:spPr>
            <a:xfrm>
              <a:off x="11377" y="1698"/>
              <a:ext cx="1848" cy="49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11" name="圆柱形 10"/>
            <p:cNvSpPr/>
            <p:nvPr/>
          </p:nvSpPr>
          <p:spPr>
            <a:xfrm>
              <a:off x="11377" y="2377"/>
              <a:ext cx="1848" cy="49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12" name="圆柱形 11"/>
            <p:cNvSpPr/>
            <p:nvPr/>
          </p:nvSpPr>
          <p:spPr>
            <a:xfrm>
              <a:off x="11399" y="3034"/>
              <a:ext cx="1848" cy="49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grpSp>
      <p:grpSp>
        <p:nvGrpSpPr>
          <p:cNvPr id="15" name="组合 14"/>
          <p:cNvGrpSpPr/>
          <p:nvPr/>
        </p:nvGrpSpPr>
        <p:grpSpPr>
          <a:xfrm>
            <a:off x="10046335" y="2470785"/>
            <a:ext cx="1187450" cy="1159510"/>
            <a:chOff x="11377" y="1698"/>
            <a:chExt cx="1870" cy="1826"/>
          </a:xfrm>
        </p:grpSpPr>
        <p:sp>
          <p:nvSpPr>
            <p:cNvPr id="16" name="圆柱形 15"/>
            <p:cNvSpPr/>
            <p:nvPr/>
          </p:nvSpPr>
          <p:spPr>
            <a:xfrm>
              <a:off x="11377" y="1698"/>
              <a:ext cx="1848" cy="49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17" name="圆柱形 16"/>
            <p:cNvSpPr/>
            <p:nvPr/>
          </p:nvSpPr>
          <p:spPr>
            <a:xfrm>
              <a:off x="11377" y="2377"/>
              <a:ext cx="1848" cy="49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18" name="圆柱形 17"/>
            <p:cNvSpPr/>
            <p:nvPr/>
          </p:nvSpPr>
          <p:spPr>
            <a:xfrm>
              <a:off x="11399" y="3034"/>
              <a:ext cx="1848" cy="49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grpSp>
      <p:grpSp>
        <p:nvGrpSpPr>
          <p:cNvPr id="19" name="组合 18"/>
          <p:cNvGrpSpPr/>
          <p:nvPr/>
        </p:nvGrpSpPr>
        <p:grpSpPr>
          <a:xfrm>
            <a:off x="10043795" y="3876675"/>
            <a:ext cx="1187450" cy="1159510"/>
            <a:chOff x="11377" y="1698"/>
            <a:chExt cx="1870" cy="1826"/>
          </a:xfrm>
        </p:grpSpPr>
        <p:sp>
          <p:nvSpPr>
            <p:cNvPr id="20" name="圆柱形 19"/>
            <p:cNvSpPr/>
            <p:nvPr/>
          </p:nvSpPr>
          <p:spPr>
            <a:xfrm>
              <a:off x="11377" y="1698"/>
              <a:ext cx="1848" cy="49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21" name="圆柱形 20"/>
            <p:cNvSpPr/>
            <p:nvPr/>
          </p:nvSpPr>
          <p:spPr>
            <a:xfrm>
              <a:off x="11377" y="2377"/>
              <a:ext cx="1848" cy="49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22" name="圆柱形 21"/>
            <p:cNvSpPr/>
            <p:nvPr/>
          </p:nvSpPr>
          <p:spPr>
            <a:xfrm>
              <a:off x="11399" y="3034"/>
              <a:ext cx="1848" cy="49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grpSp>
      <p:grpSp>
        <p:nvGrpSpPr>
          <p:cNvPr id="23" name="组合 22"/>
          <p:cNvGrpSpPr/>
          <p:nvPr/>
        </p:nvGrpSpPr>
        <p:grpSpPr>
          <a:xfrm>
            <a:off x="10027285" y="5254625"/>
            <a:ext cx="1187450" cy="1159510"/>
            <a:chOff x="11377" y="1698"/>
            <a:chExt cx="1870" cy="1826"/>
          </a:xfrm>
        </p:grpSpPr>
        <p:sp>
          <p:nvSpPr>
            <p:cNvPr id="24" name="圆柱形 23"/>
            <p:cNvSpPr/>
            <p:nvPr/>
          </p:nvSpPr>
          <p:spPr>
            <a:xfrm>
              <a:off x="11377" y="1698"/>
              <a:ext cx="1848" cy="49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25" name="圆柱形 24"/>
            <p:cNvSpPr/>
            <p:nvPr/>
          </p:nvSpPr>
          <p:spPr>
            <a:xfrm>
              <a:off x="11377" y="2377"/>
              <a:ext cx="1848" cy="49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26" name="圆柱形 25"/>
            <p:cNvSpPr/>
            <p:nvPr/>
          </p:nvSpPr>
          <p:spPr>
            <a:xfrm>
              <a:off x="11399" y="3034"/>
              <a:ext cx="1848" cy="490"/>
            </a:xfrm>
            <a:prstGeom prst="can">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grpSp>
      <p:cxnSp>
        <p:nvCxnSpPr>
          <p:cNvPr id="27" name="直接箭头连接符 26"/>
          <p:cNvCxnSpPr/>
          <p:nvPr/>
        </p:nvCxnSpPr>
        <p:spPr>
          <a:xfrm flipV="1">
            <a:off x="8682990" y="1190625"/>
            <a:ext cx="1322705" cy="3613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4" idx="4"/>
          </p:cNvCxnSpPr>
          <p:nvPr/>
        </p:nvCxnSpPr>
        <p:spPr>
          <a:xfrm flipV="1">
            <a:off x="8806180" y="1595120"/>
            <a:ext cx="1328420" cy="768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8797925" y="1781810"/>
            <a:ext cx="1221740" cy="257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V="1">
            <a:off x="8725535" y="2626360"/>
            <a:ext cx="1320800" cy="3200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5" idx="4"/>
            <a:endCxn id="17" idx="2"/>
          </p:cNvCxnSpPr>
          <p:nvPr/>
        </p:nvCxnSpPr>
        <p:spPr>
          <a:xfrm>
            <a:off x="8806180" y="3047365"/>
            <a:ext cx="1254125" cy="101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8797925" y="3061335"/>
            <a:ext cx="1262380" cy="4133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V="1">
            <a:off x="8725535" y="4032250"/>
            <a:ext cx="1318260" cy="3663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8754745" y="4413250"/>
            <a:ext cx="1394460" cy="285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8768715" y="4485005"/>
            <a:ext cx="1395095" cy="4311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V="1">
            <a:off x="8696960" y="5410200"/>
            <a:ext cx="1330325" cy="5124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flipV="1">
            <a:off x="8653780" y="5841365"/>
            <a:ext cx="1373505" cy="1244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8725535" y="5994400"/>
            <a:ext cx="1315720" cy="2641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8783320" y="3190875"/>
            <a:ext cx="1217295" cy="368300"/>
          </a:xfrm>
          <a:prstGeom prst="rect">
            <a:avLst/>
          </a:prstGeom>
          <a:noFill/>
        </p:spPr>
        <p:txBody>
          <a:bodyPr wrap="square" rtlCol="0">
            <a:spAutoFit/>
          </a:bodyPr>
          <a:p>
            <a:r>
              <a:rPr lang="en-US" altLang="zh-CN"/>
              <a:t>sharding</a:t>
            </a:r>
            <a:endParaRPr lang="en-US" altLang="zh-CN"/>
          </a:p>
        </p:txBody>
      </p:sp>
      <p:sp>
        <p:nvSpPr>
          <p:cNvPr id="40" name="文本框 39"/>
          <p:cNvSpPr txBox="1"/>
          <p:nvPr/>
        </p:nvSpPr>
        <p:spPr>
          <a:xfrm>
            <a:off x="8898890" y="1580515"/>
            <a:ext cx="1217295" cy="368300"/>
          </a:xfrm>
          <a:prstGeom prst="rect">
            <a:avLst/>
          </a:prstGeom>
          <a:noFill/>
        </p:spPr>
        <p:txBody>
          <a:bodyPr wrap="square" rtlCol="0">
            <a:spAutoFit/>
          </a:bodyPr>
          <a:p>
            <a:r>
              <a:rPr lang="en-US" altLang="zh-CN"/>
              <a:t>sharding</a:t>
            </a:r>
            <a:endParaRPr lang="en-US" altLang="zh-CN"/>
          </a:p>
        </p:txBody>
      </p:sp>
      <p:sp>
        <p:nvSpPr>
          <p:cNvPr id="41" name="文本框 40"/>
          <p:cNvSpPr txBox="1"/>
          <p:nvPr/>
        </p:nvSpPr>
        <p:spPr>
          <a:xfrm>
            <a:off x="8754745" y="4714875"/>
            <a:ext cx="1217295" cy="368300"/>
          </a:xfrm>
          <a:prstGeom prst="rect">
            <a:avLst/>
          </a:prstGeom>
          <a:noFill/>
        </p:spPr>
        <p:txBody>
          <a:bodyPr wrap="square" rtlCol="0">
            <a:spAutoFit/>
          </a:bodyPr>
          <a:p>
            <a:r>
              <a:rPr lang="en-US" altLang="zh-CN"/>
              <a:t>sharding</a:t>
            </a:r>
            <a:endParaRPr lang="en-US" altLang="zh-CN"/>
          </a:p>
        </p:txBody>
      </p:sp>
      <p:sp>
        <p:nvSpPr>
          <p:cNvPr id="42" name="文本框 41"/>
          <p:cNvSpPr txBox="1"/>
          <p:nvPr/>
        </p:nvSpPr>
        <p:spPr>
          <a:xfrm>
            <a:off x="8754745" y="6152515"/>
            <a:ext cx="1217295" cy="368300"/>
          </a:xfrm>
          <a:prstGeom prst="rect">
            <a:avLst/>
          </a:prstGeom>
          <a:noFill/>
        </p:spPr>
        <p:txBody>
          <a:bodyPr wrap="square" rtlCol="0">
            <a:spAutoFit/>
          </a:bodyPr>
          <a:p>
            <a:r>
              <a:rPr lang="en-US" altLang="zh-CN"/>
              <a:t>sharding</a:t>
            </a:r>
            <a:endParaRPr lang="en-US" altLang="zh-CN"/>
          </a:p>
        </p:txBody>
      </p:sp>
      <p:sp>
        <p:nvSpPr>
          <p:cNvPr id="43" name="文本框 42"/>
          <p:cNvSpPr txBox="1"/>
          <p:nvPr/>
        </p:nvSpPr>
        <p:spPr>
          <a:xfrm>
            <a:off x="8697595" y="847090"/>
            <a:ext cx="1662430" cy="368300"/>
          </a:xfrm>
          <a:prstGeom prst="rect">
            <a:avLst/>
          </a:prstGeom>
          <a:noFill/>
        </p:spPr>
        <p:txBody>
          <a:bodyPr wrap="square" rtlCol="0">
            <a:spAutoFit/>
          </a:bodyPr>
          <a:p>
            <a:r>
              <a:rPr lang="en-US" altLang="zh-CN"/>
              <a:t>key = topicID</a:t>
            </a:r>
            <a:endParaRPr lang="en-US" altLang="zh-CN"/>
          </a:p>
        </p:txBody>
      </p:sp>
      <p:sp>
        <p:nvSpPr>
          <p:cNvPr id="44" name="文本框 43"/>
          <p:cNvSpPr txBox="1"/>
          <p:nvPr/>
        </p:nvSpPr>
        <p:spPr>
          <a:xfrm>
            <a:off x="8639810" y="2327910"/>
            <a:ext cx="1662430" cy="368300"/>
          </a:xfrm>
          <a:prstGeom prst="rect">
            <a:avLst/>
          </a:prstGeom>
          <a:noFill/>
        </p:spPr>
        <p:txBody>
          <a:bodyPr wrap="square" rtlCol="0">
            <a:spAutoFit/>
          </a:bodyPr>
          <a:p>
            <a:r>
              <a:rPr lang="en-US" altLang="zh-CN"/>
              <a:t>key = topicID</a:t>
            </a:r>
            <a:endParaRPr lang="en-US" altLang="zh-CN"/>
          </a:p>
        </p:txBody>
      </p:sp>
      <p:sp>
        <p:nvSpPr>
          <p:cNvPr id="45" name="文本框 44"/>
          <p:cNvSpPr txBox="1"/>
          <p:nvPr/>
        </p:nvSpPr>
        <p:spPr>
          <a:xfrm>
            <a:off x="8798560" y="3751580"/>
            <a:ext cx="1662430" cy="368300"/>
          </a:xfrm>
          <a:prstGeom prst="rect">
            <a:avLst/>
          </a:prstGeom>
          <a:noFill/>
        </p:spPr>
        <p:txBody>
          <a:bodyPr wrap="square" rtlCol="0">
            <a:spAutoFit/>
          </a:bodyPr>
          <a:p>
            <a:r>
              <a:rPr lang="en-US" altLang="zh-CN"/>
              <a:t>key = userId</a:t>
            </a:r>
            <a:endParaRPr lang="en-US" altLang="zh-CN"/>
          </a:p>
        </p:txBody>
      </p:sp>
      <p:sp>
        <p:nvSpPr>
          <p:cNvPr id="46" name="文本框 45"/>
          <p:cNvSpPr txBox="1"/>
          <p:nvPr/>
        </p:nvSpPr>
        <p:spPr>
          <a:xfrm>
            <a:off x="8726805" y="5203190"/>
            <a:ext cx="1662430" cy="368300"/>
          </a:xfrm>
          <a:prstGeom prst="rect">
            <a:avLst/>
          </a:prstGeom>
          <a:noFill/>
        </p:spPr>
        <p:txBody>
          <a:bodyPr wrap="square" rtlCol="0">
            <a:spAutoFit/>
          </a:bodyPr>
          <a:p>
            <a:r>
              <a:rPr lang="en-US" altLang="zh-CN"/>
              <a:t>key = userId</a:t>
            </a:r>
            <a:endParaRPr lang="en-US" altLang="zh-CN"/>
          </a:p>
        </p:txBody>
      </p:sp>
      <p:sp>
        <p:nvSpPr>
          <p:cNvPr id="47" name="矩形 46"/>
          <p:cNvSpPr/>
          <p:nvPr/>
        </p:nvSpPr>
        <p:spPr>
          <a:xfrm>
            <a:off x="7014845" y="817880"/>
            <a:ext cx="4355465" cy="1496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 name="矩形 47"/>
          <p:cNvSpPr/>
          <p:nvPr/>
        </p:nvSpPr>
        <p:spPr>
          <a:xfrm>
            <a:off x="7014845" y="2385695"/>
            <a:ext cx="4355465" cy="13100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 name="矩形 48"/>
          <p:cNvSpPr/>
          <p:nvPr/>
        </p:nvSpPr>
        <p:spPr>
          <a:xfrm>
            <a:off x="7000240" y="3751580"/>
            <a:ext cx="4355465" cy="13823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0" name="矩形 49"/>
          <p:cNvSpPr/>
          <p:nvPr/>
        </p:nvSpPr>
        <p:spPr>
          <a:xfrm>
            <a:off x="7043420" y="5217795"/>
            <a:ext cx="4355465" cy="13823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 name="文本框 50"/>
          <p:cNvSpPr txBox="1"/>
          <p:nvPr/>
        </p:nvSpPr>
        <p:spPr>
          <a:xfrm>
            <a:off x="3935133" y="2313438"/>
            <a:ext cx="1646564" cy="916793"/>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cxnSp>
        <p:nvCxnSpPr>
          <p:cNvPr id="52" name="直接箭头连接符 51"/>
          <p:cNvCxnSpPr>
            <a:stCxn id="51" idx="3"/>
          </p:cNvCxnSpPr>
          <p:nvPr/>
        </p:nvCxnSpPr>
        <p:spPr>
          <a:xfrm flipV="1">
            <a:off x="5595620" y="1925955"/>
            <a:ext cx="1749425" cy="8458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stCxn id="51" idx="3"/>
          </p:cNvCxnSpPr>
          <p:nvPr/>
        </p:nvCxnSpPr>
        <p:spPr>
          <a:xfrm>
            <a:off x="5595620" y="2771775"/>
            <a:ext cx="1548130" cy="419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a:off x="5536565" y="2846070"/>
            <a:ext cx="1852295" cy="18834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5519420" y="2759710"/>
            <a:ext cx="1826260" cy="32778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2573020" y="1480185"/>
            <a:ext cx="551815" cy="3706495"/>
          </a:xfrm>
          <a:prstGeom prst="rect">
            <a:avLst/>
          </a:prstGeom>
          <a:solidFill>
            <a:schemeClr val="accent6">
              <a:lumMod val="40000"/>
              <a:lumOff val="60000"/>
            </a:schemeClr>
          </a:solidFill>
        </p:spPr>
        <p:txBody>
          <a:bodyPr vert="eaVert" wrap="square" rtlCol="0">
            <a:spAutoFit/>
          </a:bodyPr>
          <a:p>
            <a:pPr algn="ctr"/>
            <a:r>
              <a:rPr lang="en-US" altLang="zh-CN" sz="2400" b="1"/>
              <a:t>kafka cluster</a:t>
            </a:r>
            <a:endParaRPr lang="en-US" altLang="zh-CN" sz="2400" b="1"/>
          </a:p>
        </p:txBody>
      </p:sp>
      <p:cxnSp>
        <p:nvCxnSpPr>
          <p:cNvPr id="57" name="直接箭头连接符 56"/>
          <p:cNvCxnSpPr>
            <a:stCxn id="51" idx="1"/>
          </p:cNvCxnSpPr>
          <p:nvPr/>
        </p:nvCxnSpPr>
        <p:spPr>
          <a:xfrm flipH="1">
            <a:off x="3112135" y="2771775"/>
            <a:ext cx="822960" cy="165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3207385" y="2688590"/>
            <a:ext cx="726440" cy="368300"/>
          </a:xfrm>
          <a:prstGeom prst="rect">
            <a:avLst/>
          </a:prstGeom>
          <a:noFill/>
        </p:spPr>
        <p:txBody>
          <a:bodyPr wrap="square" rtlCol="0">
            <a:spAutoFit/>
          </a:bodyPr>
          <a:p>
            <a:r>
              <a:rPr lang="en-US" altLang="zh-CN"/>
              <a:t>pull </a:t>
            </a:r>
            <a:endParaRPr lang="en-US" altLang="zh-CN"/>
          </a:p>
        </p:txBody>
      </p:sp>
      <p:sp>
        <p:nvSpPr>
          <p:cNvPr id="59" name="文本框 58"/>
          <p:cNvSpPr txBox="1"/>
          <p:nvPr/>
        </p:nvSpPr>
        <p:spPr>
          <a:xfrm flipH="1">
            <a:off x="3711575" y="948690"/>
            <a:ext cx="2197735" cy="1008380"/>
          </a:xfrm>
          <a:prstGeom prst="rect">
            <a:avLst/>
          </a:prstGeom>
          <a:noFill/>
        </p:spPr>
        <p:txBody>
          <a:bodyPr wrap="square" rtlCol="0">
            <a:spAutoFit/>
          </a:bodyPr>
          <a:p>
            <a:r>
              <a:rPr lang="en-US" altLang="zh-CN"/>
              <a:t>what type message will be handled by this kafka consumer</a:t>
            </a:r>
            <a:r>
              <a:rPr lang="en-US" altLang="zh-CN" sz="2400" b="1"/>
              <a:t>?</a:t>
            </a:r>
            <a:endParaRPr lang="en-US" altLang="zh-CN" sz="2400" b="1"/>
          </a:p>
        </p:txBody>
      </p:sp>
      <p:sp>
        <p:nvSpPr>
          <p:cNvPr id="60" name="文本框 59"/>
          <p:cNvSpPr txBox="1"/>
          <p:nvPr/>
        </p:nvSpPr>
        <p:spPr>
          <a:xfrm flipH="1">
            <a:off x="3725545" y="3997325"/>
            <a:ext cx="2197735" cy="1008380"/>
          </a:xfrm>
          <a:prstGeom prst="rect">
            <a:avLst/>
          </a:prstGeom>
          <a:noFill/>
        </p:spPr>
        <p:txBody>
          <a:bodyPr wrap="square" rtlCol="0">
            <a:spAutoFit/>
          </a:bodyPr>
          <a:p>
            <a:r>
              <a:rPr lang="en-US" altLang="zh-CN"/>
              <a:t>Which key value store will be used by this kafka consumer</a:t>
            </a:r>
            <a:r>
              <a:rPr lang="en-US" altLang="zh-CN" sz="2400" b="1"/>
              <a:t>?</a:t>
            </a:r>
            <a:endParaRPr lang="en-US" altLang="zh-CN" sz="2400" b="1"/>
          </a:p>
        </p:txBody>
      </p:sp>
      <p:sp>
        <p:nvSpPr>
          <p:cNvPr id="61" name="文本框 60"/>
          <p:cNvSpPr txBox="1"/>
          <p:nvPr/>
        </p:nvSpPr>
        <p:spPr>
          <a:xfrm>
            <a:off x="6551295" y="4729480"/>
            <a:ext cx="347345" cy="521970"/>
          </a:xfrm>
          <a:prstGeom prst="rect">
            <a:avLst/>
          </a:prstGeom>
          <a:noFill/>
        </p:spPr>
        <p:txBody>
          <a:bodyPr wrap="none" rtlCol="0">
            <a:spAutoFit/>
          </a:bodyPr>
          <a:p>
            <a:r>
              <a:rPr lang="en-US" altLang="zh-CN" sz="2800" b="1"/>
              <a:t>?</a:t>
            </a:r>
            <a:endParaRPr lang="en-US" altLang="zh-CN" sz="2800" b="1"/>
          </a:p>
        </p:txBody>
      </p:sp>
      <p:sp>
        <p:nvSpPr>
          <p:cNvPr id="62" name="文本框 61"/>
          <p:cNvSpPr txBox="1"/>
          <p:nvPr/>
        </p:nvSpPr>
        <p:spPr>
          <a:xfrm>
            <a:off x="6369050" y="1724025"/>
            <a:ext cx="347345" cy="521970"/>
          </a:xfrm>
          <a:prstGeom prst="rect">
            <a:avLst/>
          </a:prstGeom>
          <a:noFill/>
        </p:spPr>
        <p:txBody>
          <a:bodyPr wrap="none" rtlCol="0">
            <a:spAutoFit/>
          </a:bodyPr>
          <a:p>
            <a:r>
              <a:rPr lang="en-US" altLang="zh-CN" sz="2800" b="1"/>
              <a:t>?</a:t>
            </a:r>
            <a:endParaRPr lang="en-US" altLang="zh-CN" sz="2800" b="1"/>
          </a:p>
        </p:txBody>
      </p:sp>
      <p:sp>
        <p:nvSpPr>
          <p:cNvPr id="63" name="文本框 62"/>
          <p:cNvSpPr txBox="1"/>
          <p:nvPr/>
        </p:nvSpPr>
        <p:spPr>
          <a:xfrm>
            <a:off x="6442075" y="2486025"/>
            <a:ext cx="347345" cy="521970"/>
          </a:xfrm>
          <a:prstGeom prst="rect">
            <a:avLst/>
          </a:prstGeom>
          <a:noFill/>
        </p:spPr>
        <p:txBody>
          <a:bodyPr wrap="none" rtlCol="0">
            <a:spAutoFit/>
          </a:bodyPr>
          <a:p>
            <a:r>
              <a:rPr lang="en-US" altLang="zh-CN" sz="2800" b="1"/>
              <a:t>?</a:t>
            </a:r>
            <a:endParaRPr lang="en-US" altLang="zh-CN" sz="2800" b="1"/>
          </a:p>
        </p:txBody>
      </p:sp>
      <p:sp>
        <p:nvSpPr>
          <p:cNvPr id="64" name="文本框 63"/>
          <p:cNvSpPr txBox="1"/>
          <p:nvPr/>
        </p:nvSpPr>
        <p:spPr>
          <a:xfrm>
            <a:off x="6468110" y="3406140"/>
            <a:ext cx="347345" cy="521970"/>
          </a:xfrm>
          <a:prstGeom prst="rect">
            <a:avLst/>
          </a:prstGeom>
          <a:noFill/>
        </p:spPr>
        <p:txBody>
          <a:bodyPr wrap="none" rtlCol="0">
            <a:spAutoFit/>
          </a:bodyPr>
          <a:p>
            <a:r>
              <a:rPr lang="en-US" altLang="zh-CN" sz="2800" b="1"/>
              <a:t>?</a:t>
            </a:r>
            <a:endParaRPr lang="en-US" altLang="zh-CN" sz="2800" b="1"/>
          </a:p>
        </p:txBody>
      </p:sp>
      <p:sp>
        <p:nvSpPr>
          <p:cNvPr id="65" name="文本框 64"/>
          <p:cNvSpPr txBox="1"/>
          <p:nvPr/>
        </p:nvSpPr>
        <p:spPr>
          <a:xfrm>
            <a:off x="297853" y="2328043"/>
            <a:ext cx="1646564" cy="916793"/>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cxnSp>
        <p:nvCxnSpPr>
          <p:cNvPr id="66" name="直接箭头连接符 65"/>
          <p:cNvCxnSpPr>
            <a:stCxn id="65" idx="3"/>
          </p:cNvCxnSpPr>
          <p:nvPr/>
        </p:nvCxnSpPr>
        <p:spPr>
          <a:xfrm>
            <a:off x="1944370" y="2786380"/>
            <a:ext cx="693420" cy="19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309245" y="3278505"/>
            <a:ext cx="1588135" cy="398780"/>
          </a:xfrm>
          <a:prstGeom prst="rect">
            <a:avLst/>
          </a:prstGeom>
          <a:noFill/>
        </p:spPr>
        <p:txBody>
          <a:bodyPr wrap="square" rtlCol="0">
            <a:spAutoFit/>
          </a:bodyPr>
          <a:p>
            <a:r>
              <a:rPr lang="en-US" altLang="zh-CN" sz="2000" b="1" i="1"/>
              <a:t>client broker</a:t>
            </a:r>
            <a:endParaRPr lang="en-US" altLang="zh-CN" sz="2000" b="1" i="1"/>
          </a:p>
        </p:txBody>
      </p:sp>
      <p:sp>
        <p:nvSpPr>
          <p:cNvPr id="68" name="文本框 67"/>
          <p:cNvSpPr txBox="1"/>
          <p:nvPr/>
        </p:nvSpPr>
        <p:spPr>
          <a:xfrm>
            <a:off x="3846195" y="3206750"/>
            <a:ext cx="1875790" cy="398780"/>
          </a:xfrm>
          <a:prstGeom prst="rect">
            <a:avLst/>
          </a:prstGeom>
          <a:noFill/>
        </p:spPr>
        <p:txBody>
          <a:bodyPr wrap="square" rtlCol="0">
            <a:spAutoFit/>
          </a:bodyPr>
          <a:p>
            <a:r>
              <a:rPr lang="en-US" altLang="zh-CN" sz="2000" b="1" i="1"/>
              <a:t>request worker </a:t>
            </a:r>
            <a:endParaRPr lang="en-US" altLang="zh-CN" sz="2000" b="1" i="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50545" y="365125"/>
            <a:ext cx="11118850" cy="1325880"/>
          </a:xfrm>
        </p:spPr>
        <p:txBody>
          <a:bodyPr>
            <a:normAutofit fontScale="90000"/>
          </a:bodyPr>
          <a:p>
            <a:pPr algn="l"/>
            <a:r>
              <a:rPr lang="en-US" altLang="zh-CN"/>
              <a:t>The client broker's load balance issue and failure tolerance</a:t>
            </a:r>
            <a:endParaRPr lang="en-US" altLang="zh-CN"/>
          </a:p>
        </p:txBody>
      </p:sp>
      <p:grpSp>
        <p:nvGrpSpPr>
          <p:cNvPr id="27" name="组合 26"/>
          <p:cNvGrpSpPr/>
          <p:nvPr/>
        </p:nvGrpSpPr>
        <p:grpSpPr>
          <a:xfrm>
            <a:off x="1384935" y="1455420"/>
            <a:ext cx="6178550" cy="3916680"/>
            <a:chOff x="1103" y="2292"/>
            <a:chExt cx="9730" cy="6168"/>
          </a:xfrm>
        </p:grpSpPr>
        <p:sp>
          <p:nvSpPr>
            <p:cNvPr id="70" name="文本框 69"/>
            <p:cNvSpPr txBox="1"/>
            <p:nvPr/>
          </p:nvSpPr>
          <p:spPr>
            <a:xfrm>
              <a:off x="6512" y="2292"/>
              <a:ext cx="2671" cy="580"/>
            </a:xfrm>
            <a:prstGeom prst="rect">
              <a:avLst/>
            </a:prstGeom>
            <a:noFill/>
          </p:spPr>
          <p:txBody>
            <a:bodyPr wrap="square" rtlCol="0">
              <a:spAutoFit/>
            </a:bodyPr>
            <a:p>
              <a:r>
                <a:rPr lang="en-US" altLang="zh-CN"/>
                <a:t>client broker</a:t>
              </a:r>
              <a:endParaRPr lang="en-US" altLang="zh-CN"/>
            </a:p>
          </p:txBody>
        </p:sp>
        <p:sp>
          <p:nvSpPr>
            <p:cNvPr id="5" name="文本框 4"/>
            <p:cNvSpPr txBox="1"/>
            <p:nvPr/>
          </p:nvSpPr>
          <p:spPr>
            <a:xfrm>
              <a:off x="5739" y="6290"/>
              <a:ext cx="2194" cy="580"/>
            </a:xfrm>
            <a:prstGeom prst="rect">
              <a:avLst/>
            </a:prstGeom>
            <a:noFill/>
          </p:spPr>
          <p:txBody>
            <a:bodyPr wrap="square" rtlCol="0">
              <a:spAutoFit/>
            </a:bodyPr>
            <a:p>
              <a:r>
                <a:rPr lang="en-US" altLang="zh-CN"/>
                <a:t>client broker</a:t>
              </a:r>
              <a:endParaRPr lang="en-US" altLang="zh-CN"/>
            </a:p>
          </p:txBody>
        </p:sp>
        <p:sp>
          <p:nvSpPr>
            <p:cNvPr id="31" name="文本框 30"/>
            <p:cNvSpPr txBox="1"/>
            <p:nvPr/>
          </p:nvSpPr>
          <p:spPr>
            <a:xfrm>
              <a:off x="6300" y="2854"/>
              <a:ext cx="2687" cy="1444"/>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7" name="文本框 6"/>
            <p:cNvSpPr txBox="1"/>
            <p:nvPr/>
          </p:nvSpPr>
          <p:spPr>
            <a:xfrm>
              <a:off x="6277" y="4778"/>
              <a:ext cx="2687" cy="1444"/>
            </a:xfrm>
            <a:prstGeom prst="rect">
              <a:avLst/>
            </a:prstGeom>
            <a:solidFill>
              <a:schemeClr val="accent1">
                <a:lumMod val="60000"/>
                <a:lumOff val="40000"/>
              </a:schemeClr>
            </a:solidFill>
          </p:spPr>
          <p:txBody>
            <a:bodyPr wrap="square" rtlCol="0">
              <a:spAutoFit/>
            </a:bodyPr>
            <a:p>
              <a:pPr algn="ctr"/>
              <a:r>
                <a:rPr lang="en-US" altLang="zh-CN"/>
                <a:t>IBM IM &amp; notification  server</a:t>
              </a:r>
              <a:endParaRPr lang="en-US" altLang="zh-CN"/>
            </a:p>
          </p:txBody>
        </p:sp>
        <p:sp>
          <p:nvSpPr>
            <p:cNvPr id="9" name="文本框 8"/>
            <p:cNvSpPr txBox="1"/>
            <p:nvPr/>
          </p:nvSpPr>
          <p:spPr>
            <a:xfrm>
              <a:off x="1103" y="4542"/>
              <a:ext cx="1475" cy="1444"/>
            </a:xfrm>
            <a:prstGeom prst="rect">
              <a:avLst/>
            </a:prstGeom>
            <a:solidFill>
              <a:schemeClr val="accent1">
                <a:lumMod val="20000"/>
                <a:lumOff val="80000"/>
              </a:schemeClr>
            </a:solidFill>
          </p:spPr>
          <p:txBody>
            <a:bodyPr wrap="square" rtlCol="0">
              <a:spAutoFit/>
            </a:bodyPr>
            <a:p>
              <a:pPr algn="ctr"/>
              <a:r>
                <a:rPr lang="en-US" altLang="zh-CN"/>
                <a:t>client</a:t>
              </a:r>
              <a:endParaRPr lang="en-US" altLang="zh-CN"/>
            </a:p>
            <a:p>
              <a:pPr algn="ctr"/>
              <a:r>
                <a:rPr lang="en-US" altLang="zh-CN"/>
                <a:t>(web, mobile)</a:t>
              </a:r>
              <a:endParaRPr lang="en-US" altLang="zh-CN"/>
            </a:p>
          </p:txBody>
        </p:sp>
        <p:sp>
          <p:nvSpPr>
            <p:cNvPr id="10" name="文本框 9"/>
            <p:cNvSpPr txBox="1"/>
            <p:nvPr/>
          </p:nvSpPr>
          <p:spPr>
            <a:xfrm>
              <a:off x="6255" y="7880"/>
              <a:ext cx="2640" cy="580"/>
            </a:xfrm>
            <a:prstGeom prst="rect">
              <a:avLst/>
            </a:prstGeom>
            <a:solidFill>
              <a:schemeClr val="accent1">
                <a:lumMod val="60000"/>
                <a:lumOff val="40000"/>
              </a:schemeClr>
            </a:solidFill>
          </p:spPr>
          <p:txBody>
            <a:bodyPr wrap="square" rtlCol="0">
              <a:spAutoFit/>
            </a:bodyPr>
            <a:p>
              <a:pPr algn="ctr"/>
              <a:r>
                <a:rPr lang="en-US" altLang="zh-CN"/>
                <a:t>portlet</a:t>
              </a:r>
              <a:endParaRPr lang="en-US" altLang="zh-CN"/>
            </a:p>
          </p:txBody>
        </p:sp>
        <p:cxnSp>
          <p:nvCxnSpPr>
            <p:cNvPr id="11" name="直接箭头连接符 10"/>
            <p:cNvCxnSpPr/>
            <p:nvPr/>
          </p:nvCxnSpPr>
          <p:spPr>
            <a:xfrm>
              <a:off x="2569" y="5999"/>
              <a:ext cx="4121" cy="19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10" idx="1"/>
              <a:endCxn id="9" idx="2"/>
            </p:cNvCxnSpPr>
            <p:nvPr/>
          </p:nvCxnSpPr>
          <p:spPr>
            <a:xfrm flipH="1" flipV="1">
              <a:off x="1841" y="5986"/>
              <a:ext cx="4414" cy="21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曲线连接符 16"/>
            <p:cNvCxnSpPr>
              <a:stCxn id="10" idx="3"/>
            </p:cNvCxnSpPr>
            <p:nvPr/>
          </p:nvCxnSpPr>
          <p:spPr>
            <a:xfrm flipV="1">
              <a:off x="8895" y="5229"/>
              <a:ext cx="1938" cy="2941"/>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曲线连接符 17"/>
            <p:cNvCxnSpPr/>
            <p:nvPr/>
          </p:nvCxnSpPr>
          <p:spPr>
            <a:xfrm rot="16200000" flipV="1">
              <a:off x="8879" y="3389"/>
              <a:ext cx="2038" cy="1869"/>
            </a:xfrm>
            <a:prstGeom prst="curvedConnector2">
              <a:avLst/>
            </a:prstGeom>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9905" y="7221"/>
              <a:ext cx="918" cy="580"/>
            </a:xfrm>
            <a:prstGeom prst="rect">
              <a:avLst/>
            </a:prstGeom>
            <a:noFill/>
          </p:spPr>
          <p:txBody>
            <a:bodyPr wrap="none" rtlCol="0">
              <a:spAutoFit/>
            </a:bodyPr>
            <a:p>
              <a:r>
                <a:rPr lang="en-US" altLang="zh-CN"/>
                <a:t>ping</a:t>
              </a:r>
              <a:endParaRPr lang="en-US" altLang="zh-CN"/>
            </a:p>
          </p:txBody>
        </p:sp>
        <p:sp>
          <p:nvSpPr>
            <p:cNvPr id="21" name="文本框 20"/>
            <p:cNvSpPr txBox="1"/>
            <p:nvPr/>
          </p:nvSpPr>
          <p:spPr>
            <a:xfrm>
              <a:off x="7844" y="6475"/>
              <a:ext cx="918" cy="580"/>
            </a:xfrm>
            <a:prstGeom prst="rect">
              <a:avLst/>
            </a:prstGeom>
            <a:noFill/>
          </p:spPr>
          <p:txBody>
            <a:bodyPr wrap="none" rtlCol="0">
              <a:spAutoFit/>
            </a:bodyPr>
            <a:p>
              <a:r>
                <a:rPr lang="en-US" altLang="zh-CN"/>
                <a:t>ping</a:t>
              </a:r>
              <a:endParaRPr lang="en-US" altLang="zh-CN"/>
            </a:p>
          </p:txBody>
        </p:sp>
        <p:sp>
          <p:nvSpPr>
            <p:cNvPr id="22" name="文本框 21"/>
            <p:cNvSpPr txBox="1"/>
            <p:nvPr/>
          </p:nvSpPr>
          <p:spPr>
            <a:xfrm rot="1680000">
              <a:off x="1369" y="6995"/>
              <a:ext cx="4660" cy="580"/>
            </a:xfrm>
            <a:prstGeom prst="rect">
              <a:avLst/>
            </a:prstGeom>
            <a:noFill/>
          </p:spPr>
          <p:txBody>
            <a:bodyPr wrap="none" rtlCol="0">
              <a:spAutoFit/>
            </a:bodyPr>
            <a:p>
              <a:r>
                <a:rPr lang="en-US" altLang="zh-CN"/>
                <a:t>available IM broker IP address</a:t>
              </a:r>
              <a:endParaRPr lang="en-US" altLang="zh-CN"/>
            </a:p>
          </p:txBody>
        </p:sp>
        <p:cxnSp>
          <p:nvCxnSpPr>
            <p:cNvPr id="23" name="直接箭头连接符 22"/>
            <p:cNvCxnSpPr/>
            <p:nvPr/>
          </p:nvCxnSpPr>
          <p:spPr>
            <a:xfrm>
              <a:off x="2592" y="5093"/>
              <a:ext cx="3781" cy="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rot="1560000">
              <a:off x="2562" y="6379"/>
              <a:ext cx="4256" cy="580"/>
            </a:xfrm>
            <a:prstGeom prst="rect">
              <a:avLst/>
            </a:prstGeom>
            <a:noFill/>
          </p:spPr>
          <p:txBody>
            <a:bodyPr wrap="none" rtlCol="0">
              <a:spAutoFit/>
            </a:bodyPr>
            <a:p>
              <a:r>
                <a:rPr lang="en-US" altLang="zh-CN"/>
                <a:t>look up available IM broker</a:t>
              </a:r>
              <a:endParaRPr lang="en-US" altLang="zh-CN"/>
            </a:p>
          </p:txBody>
        </p:sp>
        <p:sp>
          <p:nvSpPr>
            <p:cNvPr id="25" name="文本框 24"/>
            <p:cNvSpPr txBox="1"/>
            <p:nvPr/>
          </p:nvSpPr>
          <p:spPr>
            <a:xfrm>
              <a:off x="2615" y="4323"/>
              <a:ext cx="4585" cy="580"/>
            </a:xfrm>
            <a:prstGeom prst="rect">
              <a:avLst/>
            </a:prstGeom>
            <a:noFill/>
          </p:spPr>
          <p:txBody>
            <a:bodyPr wrap="none" rtlCol="0">
              <a:spAutoFit/>
            </a:bodyPr>
            <a:p>
              <a:r>
                <a:rPr lang="en-US" altLang="zh-CN"/>
                <a:t>connect IP returned by porlet</a:t>
              </a:r>
              <a:endParaRPr lang="en-US" altLang="zh-CN"/>
            </a:p>
          </p:txBody>
        </p:sp>
        <p:cxnSp>
          <p:nvCxnSpPr>
            <p:cNvPr id="26" name="直接箭头连接符 25"/>
            <p:cNvCxnSpPr/>
            <p:nvPr/>
          </p:nvCxnSpPr>
          <p:spPr>
            <a:xfrm flipV="1">
              <a:off x="7958" y="6203"/>
              <a:ext cx="22" cy="16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Integration with ECM product</a:t>
            </a:r>
            <a:endParaRPr lang="en-US" altLang="zh-CN"/>
          </a:p>
        </p:txBody>
      </p:sp>
      <p:sp>
        <p:nvSpPr>
          <p:cNvPr id="3" name="内容占位符 2"/>
          <p:cNvSpPr>
            <a:spLocks noGrp="1"/>
          </p:cNvSpPr>
          <p:nvPr>
            <p:ph idx="1"/>
          </p:nvPr>
        </p:nvSpPr>
        <p:spPr/>
        <p:txBody>
          <a:bodyPr/>
          <a:p>
            <a:r>
              <a:rPr lang="en-US" altLang="zh-CN"/>
              <a:t>Data modle includes Special fields that point to ECM objects, usually they are ecm object IDs, every subscribed object is corresponding to a topic group document in key-value store.</a:t>
            </a:r>
            <a:endParaRPr lang="en-US" altLang="zh-CN"/>
          </a:p>
          <a:p>
            <a:r>
              <a:rPr lang="en-US" altLang="zh-CN"/>
              <a:t>Server allows query messages and emails and topic group IDs by Ecm object IDs.  But such query are usually being executed during user logon punch in and already optimized by the key-value store data model desgin. After user logon, such queries are not neccessary.</a:t>
            </a:r>
            <a:endParaRPr lang="en-US" altLang="zh-CN"/>
          </a:p>
          <a:p>
            <a:r>
              <a:rPr lang="en-US" altLang="zh-CN">
                <a:sym typeface="+mn-ea"/>
              </a:rPr>
              <a:t>Furthurly the </a:t>
            </a:r>
            <a:r>
              <a:rPr lang="en-US" altLang="zh-CN"/>
              <a:t>clients and appliations mitigate the other gaps between IM&amp;notify service with ECM services. </a:t>
            </a:r>
            <a:endParaRPr lang="en-US" altLang="zh-CN"/>
          </a:p>
          <a:p>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0554970" cy="788670"/>
          </a:xfrm>
        </p:spPr>
        <p:txBody>
          <a:bodyPr>
            <a:normAutofit/>
          </a:bodyPr>
          <a:p>
            <a:r>
              <a:rPr lang="en-US" altLang="zh-CN"/>
              <a:t>A state chart for a typical scenario</a:t>
            </a:r>
            <a:endParaRPr lang="en-US" altLang="zh-CN"/>
          </a:p>
        </p:txBody>
      </p:sp>
      <p:sp>
        <p:nvSpPr>
          <p:cNvPr id="8" name="圆角矩形 7"/>
          <p:cNvSpPr/>
          <p:nvPr/>
        </p:nvSpPr>
        <p:spPr>
          <a:xfrm>
            <a:off x="1085850" y="2141855"/>
            <a:ext cx="3407410" cy="92011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i="1">
                <a:solidFill>
                  <a:schemeClr val="tx1"/>
                </a:solidFill>
                <a:sym typeface="+mn-ea"/>
              </a:rPr>
              <a:t>Now User A is able to recieve instant message from the case group online</a:t>
            </a:r>
            <a:endParaRPr lang="zh-CN" altLang="en-US" i="1"/>
          </a:p>
        </p:txBody>
      </p:sp>
      <p:sp>
        <p:nvSpPr>
          <p:cNvPr id="9" name="矩形 8"/>
          <p:cNvSpPr/>
          <p:nvPr/>
        </p:nvSpPr>
        <p:spPr>
          <a:xfrm>
            <a:off x="1085850" y="1379855"/>
            <a:ext cx="3407410" cy="661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a:solidFill>
                  <a:schemeClr val="tx1"/>
                </a:solidFill>
                <a:sym typeface="+mn-ea"/>
              </a:rPr>
              <a:t>User A subscribe a Case</a:t>
            </a:r>
            <a:endParaRPr lang="en-US" altLang="zh-CN" sz="2400" b="1">
              <a:solidFill>
                <a:schemeClr val="tx1"/>
              </a:solidFill>
              <a:sym typeface="+mn-ea"/>
            </a:endParaRPr>
          </a:p>
        </p:txBody>
      </p:sp>
      <p:sp>
        <p:nvSpPr>
          <p:cNvPr id="10" name="矩形 9"/>
          <p:cNvSpPr/>
          <p:nvPr/>
        </p:nvSpPr>
        <p:spPr>
          <a:xfrm>
            <a:off x="5857240" y="1337310"/>
            <a:ext cx="4757420" cy="661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a:solidFill>
                  <a:schemeClr val="tx1"/>
                </a:solidFill>
                <a:sym typeface="+mn-ea"/>
              </a:rPr>
              <a:t>IM server add user into Case group </a:t>
            </a:r>
            <a:endParaRPr lang="en-US" altLang="zh-CN" sz="2400" b="1">
              <a:solidFill>
                <a:schemeClr val="tx1"/>
              </a:solidFill>
              <a:sym typeface="+mn-ea"/>
            </a:endParaRPr>
          </a:p>
        </p:txBody>
      </p:sp>
      <p:sp>
        <p:nvSpPr>
          <p:cNvPr id="14" name="矩形 13"/>
          <p:cNvSpPr/>
          <p:nvPr/>
        </p:nvSpPr>
        <p:spPr>
          <a:xfrm>
            <a:off x="1085850" y="3421380"/>
            <a:ext cx="3407410" cy="661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a:solidFill>
                  <a:schemeClr val="tx1"/>
                </a:solidFill>
                <a:sym typeface="+mn-ea"/>
              </a:rPr>
              <a:t>User A log off/punch out</a:t>
            </a:r>
            <a:endParaRPr lang="en-US" altLang="zh-CN" sz="2400" b="1">
              <a:solidFill>
                <a:schemeClr val="tx1"/>
              </a:solidFill>
              <a:sym typeface="+mn-ea"/>
            </a:endParaRPr>
          </a:p>
        </p:txBody>
      </p:sp>
      <p:sp>
        <p:nvSpPr>
          <p:cNvPr id="15" name="矩形 14"/>
          <p:cNvSpPr/>
          <p:nvPr/>
        </p:nvSpPr>
        <p:spPr>
          <a:xfrm>
            <a:off x="5857240" y="2174875"/>
            <a:ext cx="4757420" cy="661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a:solidFill>
                  <a:schemeClr val="tx1"/>
                </a:solidFill>
                <a:sym typeface="+mn-ea"/>
              </a:rPr>
              <a:t>IM server recieves messges to the Case group during user A's offline </a:t>
            </a:r>
            <a:endParaRPr lang="en-US" altLang="zh-CN" sz="2400" b="1">
              <a:solidFill>
                <a:schemeClr val="tx1"/>
              </a:solidFill>
              <a:sym typeface="+mn-ea"/>
            </a:endParaRPr>
          </a:p>
        </p:txBody>
      </p:sp>
      <p:sp>
        <p:nvSpPr>
          <p:cNvPr id="16" name="矩形 15"/>
          <p:cNvSpPr/>
          <p:nvPr/>
        </p:nvSpPr>
        <p:spPr>
          <a:xfrm>
            <a:off x="1085850" y="4183380"/>
            <a:ext cx="3407410" cy="661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a:solidFill>
                  <a:schemeClr val="tx1"/>
                </a:solidFill>
                <a:sym typeface="+mn-ea"/>
              </a:rPr>
              <a:t>User A log in/punch in</a:t>
            </a:r>
            <a:endParaRPr lang="en-US" altLang="zh-CN" sz="2400" b="1">
              <a:solidFill>
                <a:schemeClr val="tx1"/>
              </a:solidFill>
              <a:sym typeface="+mn-ea"/>
            </a:endParaRPr>
          </a:p>
        </p:txBody>
      </p:sp>
      <p:sp>
        <p:nvSpPr>
          <p:cNvPr id="17" name="矩形 16"/>
          <p:cNvSpPr/>
          <p:nvPr/>
        </p:nvSpPr>
        <p:spPr>
          <a:xfrm>
            <a:off x="5843905" y="4687570"/>
            <a:ext cx="4757420" cy="17995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a:solidFill>
                  <a:schemeClr val="tx1"/>
                </a:solidFill>
                <a:sym typeface="+mn-ea"/>
              </a:rPr>
              <a:t>IM server looks up the changes occured during user A offline including topic messages as well as personal mails and new group sorting them</a:t>
            </a:r>
            <a:endParaRPr lang="en-US" altLang="zh-CN" sz="2400" b="1">
              <a:solidFill>
                <a:schemeClr val="tx1"/>
              </a:solidFill>
              <a:sym typeface="+mn-ea"/>
            </a:endParaRPr>
          </a:p>
        </p:txBody>
      </p:sp>
      <p:cxnSp>
        <p:nvCxnSpPr>
          <p:cNvPr id="18" name="直接箭头连接符 17"/>
          <p:cNvCxnSpPr>
            <a:endCxn id="10" idx="1"/>
          </p:cNvCxnSpPr>
          <p:nvPr/>
        </p:nvCxnSpPr>
        <p:spPr>
          <a:xfrm>
            <a:off x="4404995" y="1568450"/>
            <a:ext cx="1452245" cy="863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8" idx="3"/>
          </p:cNvCxnSpPr>
          <p:nvPr/>
        </p:nvCxnSpPr>
        <p:spPr>
          <a:xfrm flipH="1">
            <a:off x="4493260" y="1797685"/>
            <a:ext cx="1407795" cy="7912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8" idx="2"/>
            <a:endCxn id="14" idx="0"/>
          </p:cNvCxnSpPr>
          <p:nvPr/>
        </p:nvCxnSpPr>
        <p:spPr>
          <a:xfrm>
            <a:off x="2789555" y="3048635"/>
            <a:ext cx="0" cy="3594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6" idx="3"/>
            <a:endCxn id="17" idx="1"/>
          </p:cNvCxnSpPr>
          <p:nvPr/>
        </p:nvCxnSpPr>
        <p:spPr>
          <a:xfrm>
            <a:off x="4493260" y="4500880"/>
            <a:ext cx="1350645" cy="10731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1085850" y="4945380"/>
            <a:ext cx="3407410" cy="13220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a:solidFill>
                  <a:schemeClr val="tx1"/>
                </a:solidFill>
                <a:sym typeface="+mn-ea"/>
              </a:rPr>
              <a:t>User A decides how to handle the new groups and new messages, and new mails</a:t>
            </a:r>
            <a:endParaRPr lang="en-US" altLang="zh-CN" sz="2400" b="1">
              <a:solidFill>
                <a:schemeClr val="tx1"/>
              </a:solidFill>
              <a:sym typeface="+mn-ea"/>
            </a:endParaRPr>
          </a:p>
        </p:txBody>
      </p:sp>
      <p:cxnSp>
        <p:nvCxnSpPr>
          <p:cNvPr id="23" name="直接箭头连接符 22"/>
          <p:cNvCxnSpPr>
            <a:stCxn id="17" idx="1"/>
            <a:endCxn id="22" idx="3"/>
          </p:cNvCxnSpPr>
          <p:nvPr/>
        </p:nvCxnSpPr>
        <p:spPr>
          <a:xfrm flipH="1">
            <a:off x="4493260" y="5574030"/>
            <a:ext cx="1350645" cy="190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5857240" y="3012440"/>
            <a:ext cx="4757420" cy="661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a:solidFill>
                  <a:schemeClr val="tx1"/>
                </a:solidFill>
                <a:sym typeface="+mn-ea"/>
              </a:rPr>
              <a:t>IM server recieves a request from user B to add user A  to a group </a:t>
            </a:r>
            <a:endParaRPr lang="en-US" altLang="zh-CN" sz="2400" b="1">
              <a:solidFill>
                <a:schemeClr val="tx1"/>
              </a:solidFill>
              <a:sym typeface="+mn-ea"/>
            </a:endParaRPr>
          </a:p>
        </p:txBody>
      </p:sp>
      <p:sp>
        <p:nvSpPr>
          <p:cNvPr id="25" name="矩形 24"/>
          <p:cNvSpPr/>
          <p:nvPr/>
        </p:nvSpPr>
        <p:spPr>
          <a:xfrm>
            <a:off x="5857240" y="3850005"/>
            <a:ext cx="4757420" cy="661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b="1">
                <a:solidFill>
                  <a:schemeClr val="tx1"/>
                </a:solidFill>
                <a:sym typeface="+mn-ea"/>
              </a:rPr>
              <a:t>IM server recieves mails/notifications sent to user A </a:t>
            </a:r>
            <a:endParaRPr lang="en-US" altLang="zh-CN" sz="2400" b="1">
              <a:solidFill>
                <a:schemeClr val="tx1"/>
              </a:solidFill>
              <a:sym typeface="+mn-ea"/>
            </a:endParaRPr>
          </a:p>
        </p:txBody>
      </p:sp>
      <p:cxnSp>
        <p:nvCxnSpPr>
          <p:cNvPr id="3" name="直接箭头连接符 2"/>
          <p:cNvCxnSpPr>
            <a:stCxn id="14" idx="3"/>
            <a:endCxn id="15" idx="1"/>
          </p:cNvCxnSpPr>
          <p:nvPr/>
        </p:nvCxnSpPr>
        <p:spPr>
          <a:xfrm flipV="1">
            <a:off x="4493260" y="2492375"/>
            <a:ext cx="1363980" cy="12465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a:stCxn id="15" idx="2"/>
            <a:endCxn id="24" idx="0"/>
          </p:cNvCxnSpPr>
          <p:nvPr/>
        </p:nvCxnSpPr>
        <p:spPr>
          <a:xfrm>
            <a:off x="8235950" y="2823210"/>
            <a:ext cx="0" cy="1758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a:stCxn id="24" idx="2"/>
            <a:endCxn id="25" idx="0"/>
          </p:cNvCxnSpPr>
          <p:nvPr/>
        </p:nvCxnSpPr>
        <p:spPr>
          <a:xfrm>
            <a:off x="8235950" y="3660775"/>
            <a:ext cx="0" cy="17589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a:stCxn id="25" idx="1"/>
            <a:endCxn id="16" idx="3"/>
          </p:cNvCxnSpPr>
          <p:nvPr/>
        </p:nvCxnSpPr>
        <p:spPr>
          <a:xfrm flipH="1">
            <a:off x="4493260" y="4167505"/>
            <a:ext cx="1363980" cy="333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38200" y="365125"/>
            <a:ext cx="10515600" cy="775970"/>
          </a:xfrm>
        </p:spPr>
        <p:txBody>
          <a:bodyPr/>
          <a:p>
            <a:r>
              <a:rPr lang="en-US" altLang="zh-CN"/>
              <a:t>functinal designs for IM &amp; notification server</a:t>
            </a:r>
            <a:endParaRPr lang="en-US" altLang="zh-CN"/>
          </a:p>
        </p:txBody>
      </p:sp>
      <p:sp>
        <p:nvSpPr>
          <p:cNvPr id="3" name="内容占位符 2"/>
          <p:cNvSpPr>
            <a:spLocks noGrp="1"/>
          </p:cNvSpPr>
          <p:nvPr>
            <p:ph idx="1"/>
          </p:nvPr>
        </p:nvSpPr>
        <p:spPr>
          <a:xfrm>
            <a:off x="838200" y="1087120"/>
            <a:ext cx="10515600" cy="5384165"/>
          </a:xfrm>
        </p:spPr>
        <p:txBody>
          <a:bodyPr>
            <a:normAutofit fontScale="60000"/>
          </a:bodyPr>
          <a:p>
            <a:r>
              <a:rPr lang="en-US" altLang="zh-CN"/>
              <a:t>As soon as a user log on, the user has to subscribe a must-booked channel like “/notify/{userId}”, all client requests will be responsed through this channel. </a:t>
            </a:r>
            <a:endParaRPr lang="en-US" altLang="zh-CN"/>
          </a:p>
          <a:p>
            <a:r>
              <a:rPr lang="en-US" altLang="zh-CN"/>
              <a:t>A user won't recieve a new mssage or a notification from a topic group until  the topic group channel is subscribedby the user. The channel's name has a pattern of “/discuss/{topicGroupId}”</a:t>
            </a:r>
            <a:endParaRPr lang="en-US" altLang="zh-CN"/>
          </a:p>
          <a:p>
            <a:r>
              <a:rPr lang="en-US" altLang="zh-CN"/>
              <a:t>If a user is added into a new topic group passively, the user recieve a event message </a:t>
            </a:r>
            <a:r>
              <a:rPr lang="en-US" altLang="zh-CN">
                <a:sym typeface="+mn-ea"/>
              </a:rPr>
              <a:t>at once  </a:t>
            </a:r>
            <a:r>
              <a:rPr lang="en-US" altLang="zh-CN"/>
              <a:t>through its persoanl channel, so that the client is able to subscribe and recieve new message from this new added topic group. </a:t>
            </a:r>
            <a:endParaRPr lang="en-US" altLang="zh-CN"/>
          </a:p>
          <a:p>
            <a:r>
              <a:rPr lang="en-US" altLang="zh-CN"/>
              <a:t>A user does not need to book a inactive topic group, becuase as soon as a new message is added into a long inactive topic group, a notification event will be sent out through users' personal channels, so that users in the group wont miss a message even if the topic group is not subscribed in advance.</a:t>
            </a:r>
            <a:endParaRPr lang="en-US" altLang="zh-CN"/>
          </a:p>
          <a:p>
            <a:r>
              <a:rPr lang="en-US" altLang="zh-CN"/>
              <a:t>A  user is not allowed to subscribe a topic unless the user has been added into the topic group. </a:t>
            </a:r>
            <a:endParaRPr lang="en-US" altLang="zh-CN"/>
          </a:p>
          <a:p>
            <a:r>
              <a:rPr lang="en-US" altLang="zh-CN"/>
              <a:t>User authentication mechanism allows single connection per user,  new connection will cut off the old ones. The another failure logon attempt will be alerted to online user. </a:t>
            </a:r>
            <a:endParaRPr lang="en-US" altLang="zh-CN"/>
          </a:p>
          <a:p>
            <a:r>
              <a:rPr lang="en-US" altLang="zh-CN"/>
              <a:t>When a user logon/punch in, the user recieves  all topics sorted by last message time, client should subscribe those active topic channels with any new message within half hour.</a:t>
            </a:r>
            <a:endParaRPr lang="en-US" altLang="zh-CN"/>
          </a:p>
          <a:p>
            <a:r>
              <a:rPr lang="en-US" altLang="zh-CN"/>
              <a:t>The default sesssion time out value is half hour, if the user has not receive or send any message within half hour, the connect will be cut off.  </a:t>
            </a:r>
            <a:endParaRPr lang="en-US" altLang="zh-CN"/>
          </a:p>
          <a:p>
            <a:r>
              <a:rPr lang="en-US" altLang="zh-CN"/>
              <a:t>Application.properties file provides the entire system flexibility and scalability, and you should be very careful with the kafka cluster configuration and key-value store configration to get the best cluster effect. </a:t>
            </a:r>
            <a:endParaRPr lang="en-US" altLang="zh-CN"/>
          </a:p>
          <a:p>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Conclusion</a:t>
            </a:r>
            <a:endParaRPr lang="en-US" altLang="zh-CN"/>
          </a:p>
        </p:txBody>
      </p:sp>
      <p:sp>
        <p:nvSpPr>
          <p:cNvPr id="3" name="内容占位符 2"/>
          <p:cNvSpPr>
            <a:spLocks noGrp="1"/>
          </p:cNvSpPr>
          <p:nvPr>
            <p:ph idx="1"/>
          </p:nvPr>
        </p:nvSpPr>
        <p:spPr/>
        <p:txBody>
          <a:bodyPr/>
          <a:p>
            <a:r>
              <a:rPr lang="en-US" altLang="zh-CN"/>
              <a:t>There is no bottle neck in this system with the support of redis, kafka, key-value store. </a:t>
            </a:r>
            <a:endParaRPr lang="en-US" altLang="zh-CN"/>
          </a:p>
          <a:p>
            <a:r>
              <a:rPr lang="en-US" altLang="zh-CN"/>
              <a:t>The planing cluster deployment should base on the data models to acquire the best effects. </a:t>
            </a:r>
            <a:endParaRPr lang="en-US" altLang="zh-CN"/>
          </a:p>
          <a:p>
            <a:r>
              <a:rPr lang="en-US" altLang="zh-CN"/>
              <a:t>Every part of this system is able to tolerate </a:t>
            </a:r>
            <a:r>
              <a:rPr lang="en-US" altLang="zh-CN">
                <a:sym typeface="+mn-ea"/>
              </a:rPr>
              <a:t>server </a:t>
            </a:r>
            <a:r>
              <a:rPr lang="en-US" altLang="zh-CN"/>
              <a:t>failures without impact on the entire system.</a:t>
            </a:r>
            <a:endParaRPr lang="en-US" altLang="zh-CN"/>
          </a:p>
          <a:p>
            <a:r>
              <a:rPr lang="en-US" altLang="zh-CN"/>
              <a:t>Every part of this system is scalable.</a:t>
            </a:r>
            <a:endParaRPr lang="en-US" altLang="zh-CN"/>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lang="zh-CN" altLang="en-US"/>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8322</Words>
  <Application>WPS 演示</Application>
  <PresentationFormat>宽屏</PresentationFormat>
  <Paragraphs>585</Paragraphs>
  <Slides>16</Slides>
  <Notes>0</Notes>
  <HiddenSlides>0</HiddenSlides>
  <MMClips>0</MMClips>
  <ScaleCrop>false</ScaleCrop>
  <HeadingPairs>
    <vt:vector size="4" baseType="variant">
      <vt:variant>
        <vt:lpstr>主题</vt:lpstr>
      </vt:variant>
      <vt:variant>
        <vt:i4>1</vt:i4>
      </vt:variant>
      <vt:variant>
        <vt:lpstr>幻灯片标题</vt:lpstr>
      </vt:variant>
      <vt:variant>
        <vt:i4>16</vt:i4>
      </vt:variant>
    </vt:vector>
  </HeadingPairs>
  <TitlesOfParts>
    <vt:vector size="17" baseType="lpstr">
      <vt:lpstr>Office 主题</vt:lpstr>
      <vt:lpstr>IBM IM&amp;Notify Server Architecture</vt:lpstr>
      <vt:lpstr>Present situation &amp; Requirements &amp; Pain Points</vt:lpstr>
      <vt:lpstr>IBM IM notification broker - Single node mode</vt:lpstr>
      <vt:lpstr>IBM IM notification broker - cluster mode</vt:lpstr>
      <vt:lpstr>IBM IM notification broker - redis cluster mode</vt:lpstr>
      <vt:lpstr>Redis Cluster inroduction</vt:lpstr>
      <vt:lpstr>IBM IM notification broker - redis + kafka cluster mode</vt:lpstr>
      <vt:lpstr>Animation for request &amp; processing &amp; response flow</vt:lpstr>
      <vt:lpstr>Plan kafka cluster according to data models design so that we get the best effect of kafka.</vt:lpstr>
      <vt:lpstr>kafka would be central part in entire solution</vt:lpstr>
      <vt:lpstr>Key value store design for IM &amp; notification </vt:lpstr>
      <vt:lpstr>The client broker's load balance issue and failure tolerance</vt:lpstr>
      <vt:lpstr>Integration with ECM product</vt:lpstr>
      <vt:lpstr>A state chart for a typical scenario</vt:lpstr>
      <vt:lpstr>functinal designs for IM &amp; notification server</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realzjx</cp:lastModifiedBy>
  <cp:revision>19</cp:revision>
  <dcterms:created xsi:type="dcterms:W3CDTF">2015-05-05T08:02:00Z</dcterms:created>
  <dcterms:modified xsi:type="dcterms:W3CDTF">2016-03-27T13:54:42Z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2052-10.1.0.5559</vt:lpwstr>
  </property>
</Properties>
</file>